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Qplus is a Windows desktop client that combines the everyday functions of SQL Server Management Studio and Oracle SQL Developer into one lightweight tool.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whole feature set on one slide. The rest of the deck walks through each area in turn.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headline is portability: one executable that talks to both engines natively, with nothing to install on the target machine.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Portable by design. The only thing left behind on a machine is the small SQLite catalog in the user profile.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Because encryption is tied to the Windows account, passwords must be re-entered if the catalog is moved to another machine or profile.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Highlighting colours adapt to the active theme so keywords stay readable in both dark and light modes.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object list is fetched once per connection in the background, so the first suggestion may take a moment after connecting.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batch that only prints progress messages will show them in the Messages pane rather than producing an empty grid.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Double-click any table or view in the Object Explorer to open this. Refresh all re-reads every pane.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restriction is deliberate: without a key, an UPDATE generated from the grid could match more rows than intended.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Qplus never alters schema or user accounts silently — every change is a script you can read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themes are fully styled, including menus, toolbars, grids and the editor.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Sync is a single round trip. Downloads are driven by a server-assigned revision counter so no change can be missed.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End-to-end by design: the server never receives key material, so it cannot decrypt even in principle. Tested by scanning the server database for plaintext.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F5 and Ctrl+F5 mirror SQL Server Management Studio, so the muscle memory carries over.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Point people at the User Guide for day-to-day use and the Technical Documentation for architecture and maintenance.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B1D22"/>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48640" y="1965960"/>
            <a:ext cx="1737360" cy="1737360"/>
          </a:xfrm>
          <a:prstGeom prst="rect">
            <a:avLst/>
          </a:prstGeom>
        </p:spPr>
      </p:pic>
      <p:sp>
        <p:nvSpPr>
          <p:cNvPr id="3" name="Text 0"/>
          <p:cNvSpPr/>
          <p:nvPr/>
        </p:nvSpPr>
        <p:spPr>
          <a:xfrm>
            <a:off x="2651760" y="2011680"/>
            <a:ext cx="8229600" cy="1005840"/>
          </a:xfrm>
          <a:prstGeom prst="rect">
            <a:avLst/>
          </a:prstGeom>
          <a:noFill/>
          <a:ln/>
        </p:spPr>
        <p:txBody>
          <a:bodyPr wrap="square" lIns="0" tIns="0" rIns="0" bIns="0" rtlCol="0" anchor="ctr"/>
          <a:lstStyle/>
          <a:p>
            <a:pPr indent="0" marL="0">
              <a:buNone/>
            </a:pPr>
            <a:r>
              <a:rPr lang="en-US" sz="6600" b="1" dirty="0">
                <a:solidFill>
                  <a:srgbClr val="FFFFFF"/>
                </a:solidFill>
                <a:latin typeface="Calibri" pitchFamily="34" charset="0"/>
                <a:ea typeface="Calibri" pitchFamily="34" charset="-122"/>
                <a:cs typeface="Calibri" pitchFamily="34" charset="-120"/>
              </a:rPr>
              <a:t>Qplus</a:t>
            </a:r>
            <a:endParaRPr lang="en-US" sz="6600" dirty="0"/>
          </a:p>
        </p:txBody>
      </p:sp>
      <p:sp>
        <p:nvSpPr>
          <p:cNvPr id="4" name="Text 1"/>
          <p:cNvSpPr/>
          <p:nvPr/>
        </p:nvSpPr>
        <p:spPr>
          <a:xfrm>
            <a:off x="2697480" y="3035808"/>
            <a:ext cx="8686800" cy="457200"/>
          </a:xfrm>
          <a:prstGeom prst="rect">
            <a:avLst/>
          </a:prstGeom>
          <a:noFill/>
          <a:ln/>
        </p:spPr>
        <p:txBody>
          <a:bodyPr wrap="square" lIns="0" tIns="0" rIns="0" bIns="0" rtlCol="0" anchor="ctr"/>
          <a:lstStyle/>
          <a:p>
            <a:pPr indent="0" marL="0">
              <a:buNone/>
            </a:pPr>
            <a:r>
              <a:rPr lang="en-US" sz="2100" dirty="0">
                <a:solidFill>
                  <a:srgbClr val="4FD6E6"/>
                </a:solidFill>
                <a:latin typeface="Calibri" pitchFamily="34" charset="0"/>
                <a:ea typeface="Calibri" pitchFamily="34" charset="-122"/>
                <a:cs typeface="Calibri" pitchFamily="34" charset="-120"/>
              </a:rPr>
              <a:t>One client for SQL Server and Oracle</a:t>
            </a:r>
            <a:endParaRPr lang="en-US" sz="2100" dirty="0"/>
          </a:p>
        </p:txBody>
      </p:sp>
      <p:sp>
        <p:nvSpPr>
          <p:cNvPr id="5" name="Text 2"/>
          <p:cNvSpPr/>
          <p:nvPr/>
        </p:nvSpPr>
        <p:spPr>
          <a:xfrm>
            <a:off x="2697480" y="3584448"/>
            <a:ext cx="8412480" cy="457200"/>
          </a:xfrm>
          <a:prstGeom prst="rect">
            <a:avLst/>
          </a:prstGeom>
          <a:noFill/>
          <a:ln/>
        </p:spPr>
        <p:txBody>
          <a:bodyPr wrap="square" lIns="0" tIns="0" rIns="0" bIns="0" rtlCol="0" anchor="ctr"/>
          <a:lstStyle/>
          <a:p>
            <a:pPr indent="0" marL="0">
              <a:buNone/>
            </a:pPr>
            <a:r>
              <a:rPr lang="en-US" sz="1350" dirty="0">
                <a:solidFill>
                  <a:srgbClr val="9AA3AE"/>
                </a:solidFill>
                <a:latin typeface="Calibri" pitchFamily="34" charset="0"/>
                <a:ea typeface="Calibri" pitchFamily="34" charset="-122"/>
                <a:cs typeface="Calibri" pitchFamily="34" charset="-120"/>
              </a:rPr>
              <a:t>Browse, query, edit and administer both databases from a single portable application.</a:t>
            </a:r>
            <a:endParaRPr lang="en-US" sz="1350" dirty="0"/>
          </a:p>
        </p:txBody>
      </p:sp>
      <p:sp>
        <p:nvSpPr>
          <p:cNvPr id="6" name="Text 3"/>
          <p:cNvSpPr/>
          <p:nvPr/>
        </p:nvSpPr>
        <p:spPr>
          <a:xfrm>
            <a:off x="548640" y="5943600"/>
            <a:ext cx="7315200" cy="320040"/>
          </a:xfrm>
          <a:prstGeom prst="rect">
            <a:avLst/>
          </a:prstGeom>
          <a:noFill/>
          <a:ln/>
        </p:spPr>
        <p:txBody>
          <a:bodyPr wrap="square" lIns="0" tIns="0" rIns="0" bIns="0" rtlCol="0" anchor="ctr"/>
          <a:lstStyle/>
          <a:p>
            <a:pPr indent="0" marL="0">
              <a:buNone/>
            </a:pPr>
            <a:r>
              <a:rPr lang="en-US" sz="1200" dirty="0">
                <a:solidFill>
                  <a:srgbClr val="9AA3AE"/>
                </a:solidFill>
                <a:latin typeface="Calibri" pitchFamily="34" charset="0"/>
                <a:ea typeface="Calibri" pitchFamily="34" charset="-122"/>
                <a:cs typeface="Calibri" pitchFamily="34" charset="-120"/>
              </a:rPr>
              <a:t>Version 0.3.0  ·  Feature Overview</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7315200" cy="256032"/>
          </a:xfrm>
          <a:prstGeom prst="rect">
            <a:avLst/>
          </a:prstGeom>
          <a:noFill/>
          <a:ln/>
        </p:spPr>
        <p:txBody>
          <a:bodyPr wrap="square" lIns="0" tIns="0" rIns="0" bIns="0" rtlCol="0" anchor="ctr"/>
          <a:lstStyle/>
          <a:p>
            <a:pPr indent="0" marL="0">
              <a:buNone/>
            </a:pPr>
            <a:r>
              <a:rPr lang="en-US" sz="1100" b="1" spc="200" kern="0" dirty="0">
                <a:solidFill>
                  <a:srgbClr val="2D8CFF"/>
                </a:solidFill>
                <a:latin typeface="Calibri" pitchFamily="34" charset="0"/>
                <a:ea typeface="Calibri" pitchFamily="34" charset="-122"/>
                <a:cs typeface="Calibri" pitchFamily="34" charset="-120"/>
              </a:rPr>
              <a:t>FEATURE OVERVIEW</a:t>
            </a:r>
            <a:endParaRPr lang="en-US" sz="1100" dirty="0"/>
          </a:p>
        </p:txBody>
      </p:sp>
      <p:sp>
        <p:nvSpPr>
          <p:cNvPr id="3" name="Text 1"/>
          <p:cNvSpPr/>
          <p:nvPr/>
        </p:nvSpPr>
        <p:spPr>
          <a:xfrm>
            <a:off x="548640" y="713232"/>
            <a:ext cx="11064240" cy="685800"/>
          </a:xfrm>
          <a:prstGeom prst="rect">
            <a:avLst/>
          </a:prstGeom>
          <a:noFill/>
          <a:ln/>
        </p:spPr>
        <p:txBody>
          <a:bodyPr wrap="square" lIns="0" tIns="0" rIns="0" bIns="0" rtlCol="0" anchor="ctr"/>
          <a:lstStyle/>
          <a:p>
            <a:pPr indent="0" marL="0">
              <a:buNone/>
            </a:pPr>
            <a:r>
              <a:rPr lang="en-US" sz="3400" b="1" dirty="0">
                <a:solidFill>
                  <a:srgbClr val="1B1D22"/>
                </a:solidFill>
                <a:latin typeface="Calibri" pitchFamily="34" charset="0"/>
                <a:ea typeface="Calibri" pitchFamily="34" charset="-122"/>
                <a:cs typeface="Calibri" pitchFamily="34" charset="-120"/>
              </a:rPr>
              <a:t>Everything Qplus does</a:t>
            </a:r>
            <a:endParaRPr lang="en-US" sz="3400" dirty="0"/>
          </a:p>
        </p:txBody>
      </p:sp>
      <p:sp>
        <p:nvSpPr>
          <p:cNvPr id="4" name="Shape 2"/>
          <p:cNvSpPr/>
          <p:nvPr/>
        </p:nvSpPr>
        <p:spPr>
          <a:xfrm>
            <a:off x="548640" y="1572768"/>
            <a:ext cx="2560320" cy="1371600"/>
          </a:xfrm>
          <a:prstGeom prst="roundRect">
            <a:avLst>
              <a:gd name="adj" fmla="val 4000"/>
            </a:avLst>
          </a:prstGeom>
          <a:solidFill>
            <a:srgbClr val="F4F6F8"/>
          </a:solidFill>
          <a:ln w="9525">
            <a:solidFill>
              <a:srgbClr val="DCE2EA"/>
            </a:solidFill>
            <a:prstDash val="solid"/>
          </a:ln>
        </p:spPr>
      </p:sp>
      <p:sp>
        <p:nvSpPr>
          <p:cNvPr id="5" name="Shape 3"/>
          <p:cNvSpPr/>
          <p:nvPr/>
        </p:nvSpPr>
        <p:spPr>
          <a:xfrm>
            <a:off x="749808" y="1773936"/>
            <a:ext cx="155448" cy="155448"/>
          </a:xfrm>
          <a:prstGeom prst="roundRect">
            <a:avLst>
              <a:gd name="adj" fmla="val 23529"/>
            </a:avLst>
          </a:prstGeom>
          <a:solidFill>
            <a:srgbClr val="2D8CFF"/>
          </a:solidFill>
          <a:ln w="12700">
            <a:solidFill>
              <a:srgbClr val="2D8CFF"/>
            </a:solidFill>
            <a:prstDash val="solid"/>
          </a:ln>
        </p:spPr>
      </p:sp>
      <p:sp>
        <p:nvSpPr>
          <p:cNvPr id="6" name="Text 4"/>
          <p:cNvSpPr/>
          <p:nvPr/>
        </p:nvSpPr>
        <p:spPr>
          <a:xfrm>
            <a:off x="1005840" y="1700784"/>
            <a:ext cx="1920240" cy="292608"/>
          </a:xfrm>
          <a:prstGeom prst="rect">
            <a:avLst/>
          </a:prstGeom>
          <a:noFill/>
          <a:ln/>
        </p:spPr>
        <p:txBody>
          <a:bodyPr wrap="square" lIns="0" tIns="0" rIns="0" bIns="0" rtlCol="0" anchor="ctr"/>
          <a:lstStyle/>
          <a:p>
            <a:pPr indent="0" marL="0">
              <a:buNone/>
            </a:pPr>
            <a:r>
              <a:rPr lang="en-US" sz="1300" b="1" dirty="0">
                <a:solidFill>
                  <a:srgbClr val="1B1D22"/>
                </a:solidFill>
                <a:latin typeface="Calibri" pitchFamily="34" charset="0"/>
                <a:ea typeface="Calibri" pitchFamily="34" charset="-122"/>
                <a:cs typeface="Calibri" pitchFamily="34" charset="-120"/>
              </a:rPr>
              <a:t>Connections</a:t>
            </a:r>
            <a:endParaRPr lang="en-US" sz="1300" dirty="0"/>
          </a:p>
        </p:txBody>
      </p:sp>
      <p:sp>
        <p:nvSpPr>
          <p:cNvPr id="7" name="Text 5"/>
          <p:cNvSpPr/>
          <p:nvPr/>
        </p:nvSpPr>
        <p:spPr>
          <a:xfrm>
            <a:off x="749808" y="2048256"/>
            <a:ext cx="2157984" cy="768096"/>
          </a:xfrm>
          <a:prstGeom prst="rect">
            <a:avLst/>
          </a:prstGeom>
          <a:noFill/>
          <a:ln/>
        </p:spPr>
        <p:txBody>
          <a:bodyPr wrap="square" lIns="0" tIns="0" rIns="0" bIns="0" rtlCol="0" anchor="t"/>
          <a:lstStyle/>
          <a:p>
            <a:pPr indent="0" marL="0">
              <a:lnSpc>
                <a:spcPct val="105000"/>
              </a:lnSpc>
              <a:buNone/>
            </a:pPr>
            <a:r>
              <a:rPr lang="en-US" sz="1050" dirty="0">
                <a:solidFill>
                  <a:srgbClr val="5A6472"/>
                </a:solidFill>
                <a:latin typeface="Calibri" pitchFamily="34" charset="0"/>
                <a:ea typeface="Calibri" pitchFamily="34" charset="-122"/>
                <a:cs typeface="Calibri" pitchFamily="34" charset="-120"/>
              </a:rPr>
              <a:t>Save, test and manage SQL Server and Oracle connections. Passwords encrypted.</a:t>
            </a:r>
            <a:endParaRPr lang="en-US" sz="1050" dirty="0"/>
          </a:p>
        </p:txBody>
      </p:sp>
      <p:sp>
        <p:nvSpPr>
          <p:cNvPr id="8" name="Shape 6"/>
          <p:cNvSpPr/>
          <p:nvPr/>
        </p:nvSpPr>
        <p:spPr>
          <a:xfrm>
            <a:off x="3383280" y="1572768"/>
            <a:ext cx="2560320" cy="1371600"/>
          </a:xfrm>
          <a:prstGeom prst="roundRect">
            <a:avLst>
              <a:gd name="adj" fmla="val 4000"/>
            </a:avLst>
          </a:prstGeom>
          <a:solidFill>
            <a:srgbClr val="F4F6F8"/>
          </a:solidFill>
          <a:ln w="9525">
            <a:solidFill>
              <a:srgbClr val="DCE2EA"/>
            </a:solidFill>
            <a:prstDash val="solid"/>
          </a:ln>
        </p:spPr>
      </p:sp>
      <p:sp>
        <p:nvSpPr>
          <p:cNvPr id="9" name="Shape 7"/>
          <p:cNvSpPr/>
          <p:nvPr/>
        </p:nvSpPr>
        <p:spPr>
          <a:xfrm>
            <a:off x="3584448" y="1773936"/>
            <a:ext cx="155448" cy="155448"/>
          </a:xfrm>
          <a:prstGeom prst="roundRect">
            <a:avLst>
              <a:gd name="adj" fmla="val 23529"/>
            </a:avLst>
          </a:prstGeom>
          <a:solidFill>
            <a:srgbClr val="2D8CFF"/>
          </a:solidFill>
          <a:ln w="12700">
            <a:solidFill>
              <a:srgbClr val="2D8CFF"/>
            </a:solidFill>
            <a:prstDash val="solid"/>
          </a:ln>
        </p:spPr>
      </p:sp>
      <p:sp>
        <p:nvSpPr>
          <p:cNvPr id="10" name="Text 8"/>
          <p:cNvSpPr/>
          <p:nvPr/>
        </p:nvSpPr>
        <p:spPr>
          <a:xfrm>
            <a:off x="3840480" y="1700784"/>
            <a:ext cx="1920240" cy="292608"/>
          </a:xfrm>
          <a:prstGeom prst="rect">
            <a:avLst/>
          </a:prstGeom>
          <a:noFill/>
          <a:ln/>
        </p:spPr>
        <p:txBody>
          <a:bodyPr wrap="square" lIns="0" tIns="0" rIns="0" bIns="0" rtlCol="0" anchor="ctr"/>
          <a:lstStyle/>
          <a:p>
            <a:pPr indent="0" marL="0">
              <a:buNone/>
            </a:pPr>
            <a:r>
              <a:rPr lang="en-US" sz="1300" b="1" dirty="0">
                <a:solidFill>
                  <a:srgbClr val="1B1D22"/>
                </a:solidFill>
                <a:latin typeface="Calibri" pitchFamily="34" charset="0"/>
                <a:ea typeface="Calibri" pitchFamily="34" charset="-122"/>
                <a:cs typeface="Calibri" pitchFamily="34" charset="-120"/>
              </a:rPr>
              <a:t>Object Explorer</a:t>
            </a:r>
            <a:endParaRPr lang="en-US" sz="1300" dirty="0"/>
          </a:p>
        </p:txBody>
      </p:sp>
      <p:sp>
        <p:nvSpPr>
          <p:cNvPr id="11" name="Text 9"/>
          <p:cNvSpPr/>
          <p:nvPr/>
        </p:nvSpPr>
        <p:spPr>
          <a:xfrm>
            <a:off x="3584448" y="2048256"/>
            <a:ext cx="2157984" cy="768096"/>
          </a:xfrm>
          <a:prstGeom prst="rect">
            <a:avLst/>
          </a:prstGeom>
          <a:noFill/>
          <a:ln/>
        </p:spPr>
        <p:txBody>
          <a:bodyPr wrap="square" lIns="0" tIns="0" rIns="0" bIns="0" rtlCol="0" anchor="t"/>
          <a:lstStyle/>
          <a:p>
            <a:pPr indent="0" marL="0">
              <a:lnSpc>
                <a:spcPct val="105000"/>
              </a:lnSpc>
              <a:buNone/>
            </a:pPr>
            <a:r>
              <a:rPr lang="en-US" sz="1050" dirty="0">
                <a:solidFill>
                  <a:srgbClr val="5A6472"/>
                </a:solidFill>
                <a:latin typeface="Calibri" pitchFamily="34" charset="0"/>
                <a:ea typeface="Calibri" pitchFamily="34" charset="-122"/>
                <a:cs typeface="Calibri" pitchFamily="34" charset="-120"/>
              </a:rPr>
              <a:t>Browse schemas, tables, views and columns in a lazy-loading tree.</a:t>
            </a:r>
            <a:endParaRPr lang="en-US" sz="1050" dirty="0"/>
          </a:p>
        </p:txBody>
      </p:sp>
      <p:sp>
        <p:nvSpPr>
          <p:cNvPr id="12" name="Shape 10"/>
          <p:cNvSpPr/>
          <p:nvPr/>
        </p:nvSpPr>
        <p:spPr>
          <a:xfrm>
            <a:off x="6217920" y="1572768"/>
            <a:ext cx="2560320" cy="1371600"/>
          </a:xfrm>
          <a:prstGeom prst="roundRect">
            <a:avLst>
              <a:gd name="adj" fmla="val 4000"/>
            </a:avLst>
          </a:prstGeom>
          <a:solidFill>
            <a:srgbClr val="F4F6F8"/>
          </a:solidFill>
          <a:ln w="9525">
            <a:solidFill>
              <a:srgbClr val="DCE2EA"/>
            </a:solidFill>
            <a:prstDash val="solid"/>
          </a:ln>
        </p:spPr>
      </p:sp>
      <p:sp>
        <p:nvSpPr>
          <p:cNvPr id="13" name="Shape 11"/>
          <p:cNvSpPr/>
          <p:nvPr/>
        </p:nvSpPr>
        <p:spPr>
          <a:xfrm>
            <a:off x="6419088" y="1773936"/>
            <a:ext cx="155448" cy="155448"/>
          </a:xfrm>
          <a:prstGeom prst="roundRect">
            <a:avLst>
              <a:gd name="adj" fmla="val 23529"/>
            </a:avLst>
          </a:prstGeom>
          <a:solidFill>
            <a:srgbClr val="2D8CFF"/>
          </a:solidFill>
          <a:ln w="12700">
            <a:solidFill>
              <a:srgbClr val="2D8CFF"/>
            </a:solidFill>
            <a:prstDash val="solid"/>
          </a:ln>
        </p:spPr>
      </p:sp>
      <p:sp>
        <p:nvSpPr>
          <p:cNvPr id="14" name="Text 12"/>
          <p:cNvSpPr/>
          <p:nvPr/>
        </p:nvSpPr>
        <p:spPr>
          <a:xfrm>
            <a:off x="6675120" y="1700784"/>
            <a:ext cx="1920240" cy="292608"/>
          </a:xfrm>
          <a:prstGeom prst="rect">
            <a:avLst/>
          </a:prstGeom>
          <a:noFill/>
          <a:ln/>
        </p:spPr>
        <p:txBody>
          <a:bodyPr wrap="square" lIns="0" tIns="0" rIns="0" bIns="0" rtlCol="0" anchor="ctr"/>
          <a:lstStyle/>
          <a:p>
            <a:pPr indent="0" marL="0">
              <a:buNone/>
            </a:pPr>
            <a:r>
              <a:rPr lang="en-US" sz="1300" b="1" dirty="0">
                <a:solidFill>
                  <a:srgbClr val="1B1D22"/>
                </a:solidFill>
                <a:latin typeface="Calibri" pitchFamily="34" charset="0"/>
                <a:ea typeface="Calibri" pitchFamily="34" charset="-122"/>
                <a:cs typeface="Calibri" pitchFamily="34" charset="-120"/>
              </a:rPr>
              <a:t>Query editor</a:t>
            </a:r>
            <a:endParaRPr lang="en-US" sz="1300" dirty="0"/>
          </a:p>
        </p:txBody>
      </p:sp>
      <p:sp>
        <p:nvSpPr>
          <p:cNvPr id="15" name="Text 13"/>
          <p:cNvSpPr/>
          <p:nvPr/>
        </p:nvSpPr>
        <p:spPr>
          <a:xfrm>
            <a:off x="6419088" y="2048256"/>
            <a:ext cx="2157984" cy="768096"/>
          </a:xfrm>
          <a:prstGeom prst="rect">
            <a:avLst/>
          </a:prstGeom>
          <a:noFill/>
          <a:ln/>
        </p:spPr>
        <p:txBody>
          <a:bodyPr wrap="square" lIns="0" tIns="0" rIns="0" bIns="0" rtlCol="0" anchor="t"/>
          <a:lstStyle/>
          <a:p>
            <a:pPr indent="0" marL="0">
              <a:lnSpc>
                <a:spcPct val="105000"/>
              </a:lnSpc>
              <a:buNone/>
            </a:pPr>
            <a:r>
              <a:rPr lang="en-US" sz="1050" dirty="0">
                <a:solidFill>
                  <a:srgbClr val="5A6472"/>
                </a:solidFill>
                <a:latin typeface="Calibri" pitchFamily="34" charset="0"/>
                <a:ea typeface="Calibri" pitchFamily="34" charset="-122"/>
                <a:cs typeface="Calibri" pitchFamily="34" charset="-120"/>
              </a:rPr>
              <a:t>Multiple tabs, syntax highlighting, a separate connection per tab.</a:t>
            </a:r>
            <a:endParaRPr lang="en-US" sz="1050" dirty="0"/>
          </a:p>
        </p:txBody>
      </p:sp>
      <p:sp>
        <p:nvSpPr>
          <p:cNvPr id="16" name="Shape 14"/>
          <p:cNvSpPr/>
          <p:nvPr/>
        </p:nvSpPr>
        <p:spPr>
          <a:xfrm>
            <a:off x="9052560" y="1572768"/>
            <a:ext cx="2560320" cy="1371600"/>
          </a:xfrm>
          <a:prstGeom prst="roundRect">
            <a:avLst>
              <a:gd name="adj" fmla="val 4000"/>
            </a:avLst>
          </a:prstGeom>
          <a:solidFill>
            <a:srgbClr val="F4F6F8"/>
          </a:solidFill>
          <a:ln w="9525">
            <a:solidFill>
              <a:srgbClr val="DCE2EA"/>
            </a:solidFill>
            <a:prstDash val="solid"/>
          </a:ln>
        </p:spPr>
      </p:sp>
      <p:sp>
        <p:nvSpPr>
          <p:cNvPr id="17" name="Shape 15"/>
          <p:cNvSpPr/>
          <p:nvPr/>
        </p:nvSpPr>
        <p:spPr>
          <a:xfrm>
            <a:off x="9253728" y="1773936"/>
            <a:ext cx="155448" cy="155448"/>
          </a:xfrm>
          <a:prstGeom prst="roundRect">
            <a:avLst>
              <a:gd name="adj" fmla="val 23529"/>
            </a:avLst>
          </a:prstGeom>
          <a:solidFill>
            <a:srgbClr val="4FD6E6"/>
          </a:solidFill>
          <a:ln w="12700">
            <a:solidFill>
              <a:srgbClr val="4FD6E6"/>
            </a:solidFill>
            <a:prstDash val="solid"/>
          </a:ln>
        </p:spPr>
      </p:sp>
      <p:sp>
        <p:nvSpPr>
          <p:cNvPr id="18" name="Text 16"/>
          <p:cNvSpPr/>
          <p:nvPr/>
        </p:nvSpPr>
        <p:spPr>
          <a:xfrm>
            <a:off x="9509760" y="1700784"/>
            <a:ext cx="1920240" cy="292608"/>
          </a:xfrm>
          <a:prstGeom prst="rect">
            <a:avLst/>
          </a:prstGeom>
          <a:noFill/>
          <a:ln/>
        </p:spPr>
        <p:txBody>
          <a:bodyPr wrap="square" lIns="0" tIns="0" rIns="0" bIns="0" rtlCol="0" anchor="ctr"/>
          <a:lstStyle/>
          <a:p>
            <a:pPr indent="0" marL="0">
              <a:buNone/>
            </a:pPr>
            <a:r>
              <a:rPr lang="en-US" sz="1300" b="1" dirty="0">
                <a:solidFill>
                  <a:srgbClr val="1B1D22"/>
                </a:solidFill>
                <a:latin typeface="Calibri" pitchFamily="34" charset="0"/>
                <a:ea typeface="Calibri" pitchFamily="34" charset="-122"/>
                <a:cs typeface="Calibri" pitchFamily="34" charset="-120"/>
              </a:rPr>
              <a:t>Auto-completion</a:t>
            </a:r>
            <a:endParaRPr lang="en-US" sz="1300" dirty="0"/>
          </a:p>
        </p:txBody>
      </p:sp>
      <p:sp>
        <p:nvSpPr>
          <p:cNvPr id="19" name="Text 17"/>
          <p:cNvSpPr/>
          <p:nvPr/>
        </p:nvSpPr>
        <p:spPr>
          <a:xfrm>
            <a:off x="9253728" y="2048256"/>
            <a:ext cx="2157984" cy="768096"/>
          </a:xfrm>
          <a:prstGeom prst="rect">
            <a:avLst/>
          </a:prstGeom>
          <a:noFill/>
          <a:ln/>
        </p:spPr>
        <p:txBody>
          <a:bodyPr wrap="square" lIns="0" tIns="0" rIns="0" bIns="0" rtlCol="0" anchor="t"/>
          <a:lstStyle/>
          <a:p>
            <a:pPr indent="0" marL="0">
              <a:lnSpc>
                <a:spcPct val="105000"/>
              </a:lnSpc>
              <a:buNone/>
            </a:pPr>
            <a:r>
              <a:rPr lang="en-US" sz="1050" dirty="0">
                <a:solidFill>
                  <a:srgbClr val="5A6472"/>
                </a:solidFill>
                <a:latin typeface="Calibri" pitchFamily="34" charset="0"/>
                <a:ea typeface="Calibri" pitchFamily="34" charset="-122"/>
                <a:cs typeface="Calibri" pitchFamily="34" charset="-120"/>
              </a:rPr>
              <a:t>Table names after FROM; column names after WHERE, scoped to your query.</a:t>
            </a:r>
            <a:endParaRPr lang="en-US" sz="1050" dirty="0"/>
          </a:p>
        </p:txBody>
      </p:sp>
      <p:sp>
        <p:nvSpPr>
          <p:cNvPr id="20" name="Shape 18"/>
          <p:cNvSpPr/>
          <p:nvPr/>
        </p:nvSpPr>
        <p:spPr>
          <a:xfrm>
            <a:off x="548640" y="3200400"/>
            <a:ext cx="2560320" cy="1371600"/>
          </a:xfrm>
          <a:prstGeom prst="roundRect">
            <a:avLst>
              <a:gd name="adj" fmla="val 4000"/>
            </a:avLst>
          </a:prstGeom>
          <a:solidFill>
            <a:srgbClr val="F4F6F8"/>
          </a:solidFill>
          <a:ln w="9525">
            <a:solidFill>
              <a:srgbClr val="DCE2EA"/>
            </a:solidFill>
            <a:prstDash val="solid"/>
          </a:ln>
        </p:spPr>
      </p:sp>
      <p:sp>
        <p:nvSpPr>
          <p:cNvPr id="21" name="Shape 19"/>
          <p:cNvSpPr/>
          <p:nvPr/>
        </p:nvSpPr>
        <p:spPr>
          <a:xfrm>
            <a:off x="749808" y="3401568"/>
            <a:ext cx="155448" cy="155448"/>
          </a:xfrm>
          <a:prstGeom prst="roundRect">
            <a:avLst>
              <a:gd name="adj" fmla="val 23529"/>
            </a:avLst>
          </a:prstGeom>
          <a:solidFill>
            <a:srgbClr val="4FD6E6"/>
          </a:solidFill>
          <a:ln w="12700">
            <a:solidFill>
              <a:srgbClr val="4FD6E6"/>
            </a:solidFill>
            <a:prstDash val="solid"/>
          </a:ln>
        </p:spPr>
      </p:sp>
      <p:sp>
        <p:nvSpPr>
          <p:cNvPr id="22" name="Text 20"/>
          <p:cNvSpPr/>
          <p:nvPr/>
        </p:nvSpPr>
        <p:spPr>
          <a:xfrm>
            <a:off x="1005840" y="3328416"/>
            <a:ext cx="1920240" cy="292608"/>
          </a:xfrm>
          <a:prstGeom prst="rect">
            <a:avLst/>
          </a:prstGeom>
          <a:noFill/>
          <a:ln/>
        </p:spPr>
        <p:txBody>
          <a:bodyPr wrap="square" lIns="0" tIns="0" rIns="0" bIns="0" rtlCol="0" anchor="ctr"/>
          <a:lstStyle/>
          <a:p>
            <a:pPr indent="0" marL="0">
              <a:buNone/>
            </a:pPr>
            <a:r>
              <a:rPr lang="en-US" sz="1300" b="1" dirty="0">
                <a:solidFill>
                  <a:srgbClr val="1B1D22"/>
                </a:solidFill>
                <a:latin typeface="Calibri" pitchFamily="34" charset="0"/>
                <a:ea typeface="Calibri" pitchFamily="34" charset="-122"/>
                <a:cs typeface="Calibri" pitchFamily="34" charset="-120"/>
              </a:rPr>
              <a:t>Results</a:t>
            </a:r>
            <a:endParaRPr lang="en-US" sz="1300" dirty="0"/>
          </a:p>
        </p:txBody>
      </p:sp>
      <p:sp>
        <p:nvSpPr>
          <p:cNvPr id="23" name="Text 21"/>
          <p:cNvSpPr/>
          <p:nvPr/>
        </p:nvSpPr>
        <p:spPr>
          <a:xfrm>
            <a:off x="749808" y="3675888"/>
            <a:ext cx="2157984" cy="768096"/>
          </a:xfrm>
          <a:prstGeom prst="rect">
            <a:avLst/>
          </a:prstGeom>
          <a:noFill/>
          <a:ln/>
        </p:spPr>
        <p:txBody>
          <a:bodyPr wrap="square" lIns="0" tIns="0" rIns="0" bIns="0" rtlCol="0" anchor="t"/>
          <a:lstStyle/>
          <a:p>
            <a:pPr indent="0" marL="0">
              <a:lnSpc>
                <a:spcPct val="105000"/>
              </a:lnSpc>
              <a:buNone/>
            </a:pPr>
            <a:r>
              <a:rPr lang="en-US" sz="1050" dirty="0">
                <a:solidFill>
                  <a:srgbClr val="5A6472"/>
                </a:solidFill>
                <a:latin typeface="Calibri" pitchFamily="34" charset="0"/>
                <a:ea typeface="Calibri" pitchFamily="34" charset="-122"/>
                <a:cs typeface="Calibri" pitchFamily="34" charset="-120"/>
              </a:rPr>
              <a:t>Grid or text output, multiple result sets, and a Messages pane.</a:t>
            </a:r>
            <a:endParaRPr lang="en-US" sz="1050" dirty="0"/>
          </a:p>
        </p:txBody>
      </p:sp>
      <p:sp>
        <p:nvSpPr>
          <p:cNvPr id="24" name="Shape 22"/>
          <p:cNvSpPr/>
          <p:nvPr/>
        </p:nvSpPr>
        <p:spPr>
          <a:xfrm>
            <a:off x="3383280" y="3200400"/>
            <a:ext cx="2560320" cy="1371600"/>
          </a:xfrm>
          <a:prstGeom prst="roundRect">
            <a:avLst>
              <a:gd name="adj" fmla="val 4000"/>
            </a:avLst>
          </a:prstGeom>
          <a:solidFill>
            <a:srgbClr val="F4F6F8"/>
          </a:solidFill>
          <a:ln w="9525">
            <a:solidFill>
              <a:srgbClr val="DCE2EA"/>
            </a:solidFill>
            <a:prstDash val="solid"/>
          </a:ln>
        </p:spPr>
      </p:sp>
      <p:sp>
        <p:nvSpPr>
          <p:cNvPr id="25" name="Shape 23"/>
          <p:cNvSpPr/>
          <p:nvPr/>
        </p:nvSpPr>
        <p:spPr>
          <a:xfrm>
            <a:off x="3584448" y="3401568"/>
            <a:ext cx="155448" cy="155448"/>
          </a:xfrm>
          <a:prstGeom prst="roundRect">
            <a:avLst>
              <a:gd name="adj" fmla="val 23529"/>
            </a:avLst>
          </a:prstGeom>
          <a:solidFill>
            <a:srgbClr val="4FD6E6"/>
          </a:solidFill>
          <a:ln w="12700">
            <a:solidFill>
              <a:srgbClr val="4FD6E6"/>
            </a:solidFill>
            <a:prstDash val="solid"/>
          </a:ln>
        </p:spPr>
      </p:sp>
      <p:sp>
        <p:nvSpPr>
          <p:cNvPr id="26" name="Text 24"/>
          <p:cNvSpPr/>
          <p:nvPr/>
        </p:nvSpPr>
        <p:spPr>
          <a:xfrm>
            <a:off x="3840480" y="3328416"/>
            <a:ext cx="1920240" cy="292608"/>
          </a:xfrm>
          <a:prstGeom prst="rect">
            <a:avLst/>
          </a:prstGeom>
          <a:noFill/>
          <a:ln/>
        </p:spPr>
        <p:txBody>
          <a:bodyPr wrap="square" lIns="0" tIns="0" rIns="0" bIns="0" rtlCol="0" anchor="ctr"/>
          <a:lstStyle/>
          <a:p>
            <a:pPr indent="0" marL="0">
              <a:buNone/>
            </a:pPr>
            <a:r>
              <a:rPr lang="en-US" sz="1300" b="1" dirty="0">
                <a:solidFill>
                  <a:srgbClr val="1B1D22"/>
                </a:solidFill>
                <a:latin typeface="Calibri" pitchFamily="34" charset="0"/>
                <a:ea typeface="Calibri" pitchFamily="34" charset="-122"/>
                <a:cs typeface="Calibri" pitchFamily="34" charset="-120"/>
              </a:rPr>
              <a:t>CSV export</a:t>
            </a:r>
            <a:endParaRPr lang="en-US" sz="1300" dirty="0"/>
          </a:p>
        </p:txBody>
      </p:sp>
      <p:sp>
        <p:nvSpPr>
          <p:cNvPr id="27" name="Text 25"/>
          <p:cNvSpPr/>
          <p:nvPr/>
        </p:nvSpPr>
        <p:spPr>
          <a:xfrm>
            <a:off x="3584448" y="3675888"/>
            <a:ext cx="2157984" cy="768096"/>
          </a:xfrm>
          <a:prstGeom prst="rect">
            <a:avLst/>
          </a:prstGeom>
          <a:noFill/>
          <a:ln/>
        </p:spPr>
        <p:txBody>
          <a:bodyPr wrap="square" lIns="0" tIns="0" rIns="0" bIns="0" rtlCol="0" anchor="t"/>
          <a:lstStyle/>
          <a:p>
            <a:pPr indent="0" marL="0">
              <a:lnSpc>
                <a:spcPct val="105000"/>
              </a:lnSpc>
              <a:buNone/>
            </a:pPr>
            <a:r>
              <a:rPr lang="en-US" sz="1050" dirty="0">
                <a:solidFill>
                  <a:srgbClr val="5A6472"/>
                </a:solidFill>
                <a:latin typeface="Calibri" pitchFamily="34" charset="0"/>
                <a:ea typeface="Calibri" pitchFamily="34" charset="-122"/>
                <a:cs typeface="Calibri" pitchFamily="34" charset="-120"/>
              </a:rPr>
              <a:t>Send any result grid straight to a correctly quoted CSV file.</a:t>
            </a:r>
            <a:endParaRPr lang="en-US" sz="1050" dirty="0"/>
          </a:p>
        </p:txBody>
      </p:sp>
      <p:sp>
        <p:nvSpPr>
          <p:cNvPr id="28" name="Shape 26"/>
          <p:cNvSpPr/>
          <p:nvPr/>
        </p:nvSpPr>
        <p:spPr>
          <a:xfrm>
            <a:off x="6217920" y="3200400"/>
            <a:ext cx="2560320" cy="1371600"/>
          </a:xfrm>
          <a:prstGeom prst="roundRect">
            <a:avLst>
              <a:gd name="adj" fmla="val 4000"/>
            </a:avLst>
          </a:prstGeom>
          <a:solidFill>
            <a:srgbClr val="F4F6F8"/>
          </a:solidFill>
          <a:ln w="9525">
            <a:solidFill>
              <a:srgbClr val="DCE2EA"/>
            </a:solidFill>
            <a:prstDash val="solid"/>
          </a:ln>
        </p:spPr>
      </p:sp>
      <p:sp>
        <p:nvSpPr>
          <p:cNvPr id="29" name="Shape 27"/>
          <p:cNvSpPr/>
          <p:nvPr/>
        </p:nvSpPr>
        <p:spPr>
          <a:xfrm>
            <a:off x="6419088" y="3401568"/>
            <a:ext cx="155448" cy="155448"/>
          </a:xfrm>
          <a:prstGeom prst="roundRect">
            <a:avLst>
              <a:gd name="adj" fmla="val 23529"/>
            </a:avLst>
          </a:prstGeom>
          <a:solidFill>
            <a:srgbClr val="2D8CFF"/>
          </a:solidFill>
          <a:ln w="12700">
            <a:solidFill>
              <a:srgbClr val="2D8CFF"/>
            </a:solidFill>
            <a:prstDash val="solid"/>
          </a:ln>
        </p:spPr>
      </p:sp>
      <p:sp>
        <p:nvSpPr>
          <p:cNvPr id="30" name="Text 28"/>
          <p:cNvSpPr/>
          <p:nvPr/>
        </p:nvSpPr>
        <p:spPr>
          <a:xfrm>
            <a:off x="6675120" y="3328416"/>
            <a:ext cx="1920240" cy="292608"/>
          </a:xfrm>
          <a:prstGeom prst="rect">
            <a:avLst/>
          </a:prstGeom>
          <a:noFill/>
          <a:ln/>
        </p:spPr>
        <p:txBody>
          <a:bodyPr wrap="square" lIns="0" tIns="0" rIns="0" bIns="0" rtlCol="0" anchor="ctr"/>
          <a:lstStyle/>
          <a:p>
            <a:pPr indent="0" marL="0">
              <a:buNone/>
            </a:pPr>
            <a:r>
              <a:rPr lang="en-US" sz="1300" b="1" dirty="0">
                <a:solidFill>
                  <a:srgbClr val="1B1D22"/>
                </a:solidFill>
                <a:latin typeface="Calibri" pitchFamily="34" charset="0"/>
                <a:ea typeface="Calibri" pitchFamily="34" charset="-122"/>
                <a:cs typeface="Calibri" pitchFamily="34" charset="-120"/>
              </a:rPr>
              <a:t>Table details</a:t>
            </a:r>
            <a:endParaRPr lang="en-US" sz="1300" dirty="0"/>
          </a:p>
        </p:txBody>
      </p:sp>
      <p:sp>
        <p:nvSpPr>
          <p:cNvPr id="31" name="Text 29"/>
          <p:cNvSpPr/>
          <p:nvPr/>
        </p:nvSpPr>
        <p:spPr>
          <a:xfrm>
            <a:off x="6419088" y="3675888"/>
            <a:ext cx="2157984" cy="768096"/>
          </a:xfrm>
          <a:prstGeom prst="rect">
            <a:avLst/>
          </a:prstGeom>
          <a:noFill/>
          <a:ln/>
        </p:spPr>
        <p:txBody>
          <a:bodyPr wrap="square" lIns="0" tIns="0" rIns="0" bIns="0" rtlCol="0" anchor="t"/>
          <a:lstStyle/>
          <a:p>
            <a:pPr indent="0" marL="0">
              <a:lnSpc>
                <a:spcPct val="105000"/>
              </a:lnSpc>
              <a:buNone/>
            </a:pPr>
            <a:r>
              <a:rPr lang="en-US" sz="1050" dirty="0">
                <a:solidFill>
                  <a:srgbClr val="5A6472"/>
                </a:solidFill>
                <a:latin typeface="Calibri" pitchFamily="34" charset="0"/>
                <a:ea typeface="Calibri" pitchFamily="34" charset="-122"/>
                <a:cs typeface="Calibri" pitchFamily="34" charset="-120"/>
              </a:rPr>
              <a:t>Columns, Constraints, Indexes, Triggers, Grants, Statistics and DDL.</a:t>
            </a:r>
            <a:endParaRPr lang="en-US" sz="1050" dirty="0"/>
          </a:p>
        </p:txBody>
      </p:sp>
      <p:sp>
        <p:nvSpPr>
          <p:cNvPr id="32" name="Shape 30"/>
          <p:cNvSpPr/>
          <p:nvPr/>
        </p:nvSpPr>
        <p:spPr>
          <a:xfrm>
            <a:off x="9052560" y="3200400"/>
            <a:ext cx="2560320" cy="1371600"/>
          </a:xfrm>
          <a:prstGeom prst="roundRect">
            <a:avLst>
              <a:gd name="adj" fmla="val 4000"/>
            </a:avLst>
          </a:prstGeom>
          <a:solidFill>
            <a:srgbClr val="F4F6F8"/>
          </a:solidFill>
          <a:ln w="9525">
            <a:solidFill>
              <a:srgbClr val="DCE2EA"/>
            </a:solidFill>
            <a:prstDash val="solid"/>
          </a:ln>
        </p:spPr>
      </p:sp>
      <p:sp>
        <p:nvSpPr>
          <p:cNvPr id="33" name="Shape 31"/>
          <p:cNvSpPr/>
          <p:nvPr/>
        </p:nvSpPr>
        <p:spPr>
          <a:xfrm>
            <a:off x="9253728" y="3401568"/>
            <a:ext cx="155448" cy="155448"/>
          </a:xfrm>
          <a:prstGeom prst="roundRect">
            <a:avLst>
              <a:gd name="adj" fmla="val 23529"/>
            </a:avLst>
          </a:prstGeom>
          <a:solidFill>
            <a:srgbClr val="2D8CFF"/>
          </a:solidFill>
          <a:ln w="12700">
            <a:solidFill>
              <a:srgbClr val="2D8CFF"/>
            </a:solidFill>
            <a:prstDash val="solid"/>
          </a:ln>
        </p:spPr>
      </p:sp>
      <p:sp>
        <p:nvSpPr>
          <p:cNvPr id="34" name="Text 32"/>
          <p:cNvSpPr/>
          <p:nvPr/>
        </p:nvSpPr>
        <p:spPr>
          <a:xfrm>
            <a:off x="9509760" y="3328416"/>
            <a:ext cx="1920240" cy="292608"/>
          </a:xfrm>
          <a:prstGeom prst="rect">
            <a:avLst/>
          </a:prstGeom>
          <a:noFill/>
          <a:ln/>
        </p:spPr>
        <p:txBody>
          <a:bodyPr wrap="square" lIns="0" tIns="0" rIns="0" bIns="0" rtlCol="0" anchor="ctr"/>
          <a:lstStyle/>
          <a:p>
            <a:pPr indent="0" marL="0">
              <a:buNone/>
            </a:pPr>
            <a:r>
              <a:rPr lang="en-US" sz="1300" b="1" dirty="0">
                <a:solidFill>
                  <a:srgbClr val="1B1D22"/>
                </a:solidFill>
                <a:latin typeface="Calibri" pitchFamily="34" charset="0"/>
                <a:ea typeface="Calibri" pitchFamily="34" charset="-122"/>
                <a:cs typeface="Calibri" pitchFamily="34" charset="-120"/>
              </a:rPr>
              <a:t>Data editing</a:t>
            </a:r>
            <a:endParaRPr lang="en-US" sz="1300" dirty="0"/>
          </a:p>
        </p:txBody>
      </p:sp>
      <p:sp>
        <p:nvSpPr>
          <p:cNvPr id="35" name="Text 33"/>
          <p:cNvSpPr/>
          <p:nvPr/>
        </p:nvSpPr>
        <p:spPr>
          <a:xfrm>
            <a:off x="9253728" y="3675888"/>
            <a:ext cx="2157984" cy="768096"/>
          </a:xfrm>
          <a:prstGeom prst="rect">
            <a:avLst/>
          </a:prstGeom>
          <a:noFill/>
          <a:ln/>
        </p:spPr>
        <p:txBody>
          <a:bodyPr wrap="square" lIns="0" tIns="0" rIns="0" bIns="0" rtlCol="0" anchor="t"/>
          <a:lstStyle/>
          <a:p>
            <a:pPr indent="0" marL="0">
              <a:lnSpc>
                <a:spcPct val="105000"/>
              </a:lnSpc>
              <a:buNone/>
            </a:pPr>
            <a:r>
              <a:rPr lang="en-US" sz="1050" dirty="0">
                <a:solidFill>
                  <a:srgbClr val="5A6472"/>
                </a:solidFill>
                <a:latin typeface="Calibri" pitchFamily="34" charset="0"/>
                <a:ea typeface="Calibri" pitchFamily="34" charset="-122"/>
                <a:cs typeface="Calibri" pitchFamily="34" charset="-120"/>
              </a:rPr>
              <a:t>Edit, insert and delete rows in the grid, with confirmation before writing.</a:t>
            </a:r>
            <a:endParaRPr lang="en-US" sz="1050" dirty="0"/>
          </a:p>
        </p:txBody>
      </p:sp>
      <p:sp>
        <p:nvSpPr>
          <p:cNvPr id="36" name="Shape 34"/>
          <p:cNvSpPr/>
          <p:nvPr/>
        </p:nvSpPr>
        <p:spPr>
          <a:xfrm>
            <a:off x="548640" y="4828032"/>
            <a:ext cx="2560320" cy="1371600"/>
          </a:xfrm>
          <a:prstGeom prst="roundRect">
            <a:avLst>
              <a:gd name="adj" fmla="val 4000"/>
            </a:avLst>
          </a:prstGeom>
          <a:solidFill>
            <a:srgbClr val="F4F6F8"/>
          </a:solidFill>
          <a:ln w="9525">
            <a:solidFill>
              <a:srgbClr val="DCE2EA"/>
            </a:solidFill>
            <a:prstDash val="solid"/>
          </a:ln>
        </p:spPr>
      </p:sp>
      <p:sp>
        <p:nvSpPr>
          <p:cNvPr id="37" name="Shape 35"/>
          <p:cNvSpPr/>
          <p:nvPr/>
        </p:nvSpPr>
        <p:spPr>
          <a:xfrm>
            <a:off x="749808" y="5029200"/>
            <a:ext cx="155448" cy="155448"/>
          </a:xfrm>
          <a:prstGeom prst="roundRect">
            <a:avLst>
              <a:gd name="adj" fmla="val 23529"/>
            </a:avLst>
          </a:prstGeom>
          <a:solidFill>
            <a:srgbClr val="2D8CFF"/>
          </a:solidFill>
          <a:ln w="12700">
            <a:solidFill>
              <a:srgbClr val="2D8CFF"/>
            </a:solidFill>
            <a:prstDash val="solid"/>
          </a:ln>
        </p:spPr>
      </p:sp>
      <p:sp>
        <p:nvSpPr>
          <p:cNvPr id="38" name="Text 36"/>
          <p:cNvSpPr/>
          <p:nvPr/>
        </p:nvSpPr>
        <p:spPr>
          <a:xfrm>
            <a:off x="1005840" y="4956048"/>
            <a:ext cx="1920240" cy="292608"/>
          </a:xfrm>
          <a:prstGeom prst="rect">
            <a:avLst/>
          </a:prstGeom>
          <a:noFill/>
          <a:ln/>
        </p:spPr>
        <p:txBody>
          <a:bodyPr wrap="square" lIns="0" tIns="0" rIns="0" bIns="0" rtlCol="0" anchor="ctr"/>
          <a:lstStyle/>
          <a:p>
            <a:pPr indent="0" marL="0">
              <a:buNone/>
            </a:pPr>
            <a:r>
              <a:rPr lang="en-US" sz="1300" b="1" dirty="0">
                <a:solidFill>
                  <a:srgbClr val="1B1D22"/>
                </a:solidFill>
                <a:latin typeface="Calibri" pitchFamily="34" charset="0"/>
                <a:ea typeface="Calibri" pitchFamily="34" charset="-122"/>
                <a:cs typeface="Calibri" pitchFamily="34" charset="-120"/>
              </a:rPr>
              <a:t>Designer &amp; clone</a:t>
            </a:r>
            <a:endParaRPr lang="en-US" sz="1300" dirty="0"/>
          </a:p>
        </p:txBody>
      </p:sp>
      <p:sp>
        <p:nvSpPr>
          <p:cNvPr id="39" name="Text 37"/>
          <p:cNvSpPr/>
          <p:nvPr/>
        </p:nvSpPr>
        <p:spPr>
          <a:xfrm>
            <a:off x="749808" y="5303520"/>
            <a:ext cx="2157984" cy="768096"/>
          </a:xfrm>
          <a:prstGeom prst="rect">
            <a:avLst/>
          </a:prstGeom>
          <a:noFill/>
          <a:ln/>
        </p:spPr>
        <p:txBody>
          <a:bodyPr wrap="square" lIns="0" tIns="0" rIns="0" bIns="0" rtlCol="0" anchor="t"/>
          <a:lstStyle/>
          <a:p>
            <a:pPr indent="0" marL="0">
              <a:lnSpc>
                <a:spcPct val="105000"/>
              </a:lnSpc>
              <a:buNone/>
            </a:pPr>
            <a:r>
              <a:rPr lang="en-US" sz="1050" dirty="0">
                <a:solidFill>
                  <a:srgbClr val="5A6472"/>
                </a:solidFill>
                <a:latin typeface="Calibri" pitchFamily="34" charset="0"/>
                <a:ea typeface="Calibri" pitchFamily="34" charset="-122"/>
                <a:cs typeface="Calibri" pitchFamily="34" charset="-120"/>
              </a:rPr>
              <a:t>Build CREATE TABLE scripts, or copy a table with its data.</a:t>
            </a:r>
            <a:endParaRPr lang="en-US" sz="1050" dirty="0"/>
          </a:p>
        </p:txBody>
      </p:sp>
      <p:sp>
        <p:nvSpPr>
          <p:cNvPr id="40" name="Shape 38"/>
          <p:cNvSpPr/>
          <p:nvPr/>
        </p:nvSpPr>
        <p:spPr>
          <a:xfrm>
            <a:off x="3383280" y="4828032"/>
            <a:ext cx="2560320" cy="1371600"/>
          </a:xfrm>
          <a:prstGeom prst="roundRect">
            <a:avLst>
              <a:gd name="adj" fmla="val 4000"/>
            </a:avLst>
          </a:prstGeom>
          <a:solidFill>
            <a:srgbClr val="F4F6F8"/>
          </a:solidFill>
          <a:ln w="9525">
            <a:solidFill>
              <a:srgbClr val="DCE2EA"/>
            </a:solidFill>
            <a:prstDash val="solid"/>
          </a:ln>
        </p:spPr>
      </p:sp>
      <p:sp>
        <p:nvSpPr>
          <p:cNvPr id="41" name="Shape 39"/>
          <p:cNvSpPr/>
          <p:nvPr/>
        </p:nvSpPr>
        <p:spPr>
          <a:xfrm>
            <a:off x="3584448" y="5029200"/>
            <a:ext cx="155448" cy="155448"/>
          </a:xfrm>
          <a:prstGeom prst="roundRect">
            <a:avLst>
              <a:gd name="adj" fmla="val 23529"/>
            </a:avLst>
          </a:prstGeom>
          <a:solidFill>
            <a:srgbClr val="4FD6E6"/>
          </a:solidFill>
          <a:ln w="12700">
            <a:solidFill>
              <a:srgbClr val="4FD6E6"/>
            </a:solidFill>
            <a:prstDash val="solid"/>
          </a:ln>
        </p:spPr>
      </p:sp>
      <p:sp>
        <p:nvSpPr>
          <p:cNvPr id="42" name="Text 40"/>
          <p:cNvSpPr/>
          <p:nvPr/>
        </p:nvSpPr>
        <p:spPr>
          <a:xfrm>
            <a:off x="3840480" y="4956048"/>
            <a:ext cx="1920240" cy="292608"/>
          </a:xfrm>
          <a:prstGeom prst="rect">
            <a:avLst/>
          </a:prstGeom>
          <a:noFill/>
          <a:ln/>
        </p:spPr>
        <p:txBody>
          <a:bodyPr wrap="square" lIns="0" tIns="0" rIns="0" bIns="0" rtlCol="0" anchor="ctr"/>
          <a:lstStyle/>
          <a:p>
            <a:pPr indent="0" marL="0">
              <a:buNone/>
            </a:pPr>
            <a:r>
              <a:rPr lang="en-US" sz="1300" b="1" dirty="0">
                <a:solidFill>
                  <a:srgbClr val="1B1D22"/>
                </a:solidFill>
                <a:latin typeface="Calibri" pitchFamily="34" charset="0"/>
                <a:ea typeface="Calibri" pitchFamily="34" charset="-122"/>
                <a:cs typeface="Calibri" pitchFamily="34" charset="-120"/>
              </a:rPr>
              <a:t>User management</a:t>
            </a:r>
            <a:endParaRPr lang="en-US" sz="1300" dirty="0"/>
          </a:p>
        </p:txBody>
      </p:sp>
      <p:sp>
        <p:nvSpPr>
          <p:cNvPr id="43" name="Text 41"/>
          <p:cNvSpPr/>
          <p:nvPr/>
        </p:nvSpPr>
        <p:spPr>
          <a:xfrm>
            <a:off x="3584448" y="5303520"/>
            <a:ext cx="2157984" cy="768096"/>
          </a:xfrm>
          <a:prstGeom prst="rect">
            <a:avLst/>
          </a:prstGeom>
          <a:noFill/>
          <a:ln/>
        </p:spPr>
        <p:txBody>
          <a:bodyPr wrap="square" lIns="0" tIns="0" rIns="0" bIns="0" rtlCol="0" anchor="t"/>
          <a:lstStyle/>
          <a:p>
            <a:pPr indent="0" marL="0">
              <a:lnSpc>
                <a:spcPct val="105000"/>
              </a:lnSpc>
              <a:buNone/>
            </a:pPr>
            <a:r>
              <a:rPr lang="en-US" sz="1050" dirty="0">
                <a:solidFill>
                  <a:srgbClr val="5A6472"/>
                </a:solidFill>
                <a:latin typeface="Calibri" pitchFamily="34" charset="0"/>
                <a:ea typeface="Calibri" pitchFamily="34" charset="-122"/>
                <a:cs typeface="Calibri" pitchFamily="34" charset="-120"/>
              </a:rPr>
              <a:t>Full editor for roles, system privileges, quotas and account settings.</a:t>
            </a:r>
            <a:endParaRPr lang="en-US" sz="1050" dirty="0"/>
          </a:p>
        </p:txBody>
      </p:sp>
      <p:sp>
        <p:nvSpPr>
          <p:cNvPr id="44" name="Shape 42"/>
          <p:cNvSpPr/>
          <p:nvPr/>
        </p:nvSpPr>
        <p:spPr>
          <a:xfrm>
            <a:off x="6217920" y="4828032"/>
            <a:ext cx="2560320" cy="1371600"/>
          </a:xfrm>
          <a:prstGeom prst="roundRect">
            <a:avLst>
              <a:gd name="adj" fmla="val 4000"/>
            </a:avLst>
          </a:prstGeom>
          <a:solidFill>
            <a:srgbClr val="F4F6F8"/>
          </a:solidFill>
          <a:ln w="9525">
            <a:solidFill>
              <a:srgbClr val="DCE2EA"/>
            </a:solidFill>
            <a:prstDash val="solid"/>
          </a:ln>
        </p:spPr>
      </p:sp>
      <p:sp>
        <p:nvSpPr>
          <p:cNvPr id="45" name="Shape 43"/>
          <p:cNvSpPr/>
          <p:nvPr/>
        </p:nvSpPr>
        <p:spPr>
          <a:xfrm>
            <a:off x="6419088" y="5029200"/>
            <a:ext cx="155448" cy="155448"/>
          </a:xfrm>
          <a:prstGeom prst="roundRect">
            <a:avLst>
              <a:gd name="adj" fmla="val 23529"/>
            </a:avLst>
          </a:prstGeom>
          <a:solidFill>
            <a:srgbClr val="4FD6E6"/>
          </a:solidFill>
          <a:ln w="12700">
            <a:solidFill>
              <a:srgbClr val="4FD6E6"/>
            </a:solidFill>
            <a:prstDash val="solid"/>
          </a:ln>
        </p:spPr>
      </p:sp>
      <p:sp>
        <p:nvSpPr>
          <p:cNvPr id="46" name="Text 44"/>
          <p:cNvSpPr/>
          <p:nvPr/>
        </p:nvSpPr>
        <p:spPr>
          <a:xfrm>
            <a:off x="6675120" y="4956048"/>
            <a:ext cx="1920240" cy="292608"/>
          </a:xfrm>
          <a:prstGeom prst="rect">
            <a:avLst/>
          </a:prstGeom>
          <a:noFill/>
          <a:ln/>
        </p:spPr>
        <p:txBody>
          <a:bodyPr wrap="square" lIns="0" tIns="0" rIns="0" bIns="0" rtlCol="0" anchor="ctr"/>
          <a:lstStyle/>
          <a:p>
            <a:pPr indent="0" marL="0">
              <a:buNone/>
            </a:pPr>
            <a:r>
              <a:rPr lang="en-US" sz="1300" b="1" dirty="0">
                <a:solidFill>
                  <a:srgbClr val="1B1D22"/>
                </a:solidFill>
                <a:latin typeface="Calibri" pitchFamily="34" charset="0"/>
                <a:ea typeface="Calibri" pitchFamily="34" charset="-122"/>
                <a:cs typeface="Calibri" pitchFamily="34" charset="-120"/>
              </a:rPr>
              <a:t>Query sync</a:t>
            </a:r>
            <a:endParaRPr lang="en-US" sz="1300" dirty="0"/>
          </a:p>
        </p:txBody>
      </p:sp>
      <p:sp>
        <p:nvSpPr>
          <p:cNvPr id="47" name="Text 45"/>
          <p:cNvSpPr/>
          <p:nvPr/>
        </p:nvSpPr>
        <p:spPr>
          <a:xfrm>
            <a:off x="6419088" y="5303520"/>
            <a:ext cx="2157984" cy="768096"/>
          </a:xfrm>
          <a:prstGeom prst="rect">
            <a:avLst/>
          </a:prstGeom>
          <a:noFill/>
          <a:ln/>
        </p:spPr>
        <p:txBody>
          <a:bodyPr wrap="square" lIns="0" tIns="0" rIns="0" bIns="0" rtlCol="0" anchor="t"/>
          <a:lstStyle/>
          <a:p>
            <a:pPr indent="0" marL="0">
              <a:lnSpc>
                <a:spcPct val="105000"/>
              </a:lnSpc>
              <a:buNone/>
            </a:pPr>
            <a:r>
              <a:rPr lang="en-US" sz="1050" dirty="0">
                <a:solidFill>
                  <a:srgbClr val="5A6472"/>
                </a:solidFill>
                <a:latin typeface="Calibri" pitchFamily="34" charset="0"/>
                <a:ea typeface="Calibri" pitchFamily="34" charset="-122"/>
                <a:cs typeface="Calibri" pitchFamily="34" charset="-120"/>
              </a:rPr>
              <a:t>Share your saved-query library with the team through a central server.</a:t>
            </a:r>
            <a:endParaRPr lang="en-US" sz="1050" dirty="0"/>
          </a:p>
        </p:txBody>
      </p:sp>
      <p:sp>
        <p:nvSpPr>
          <p:cNvPr id="48" name="Shape 46"/>
          <p:cNvSpPr/>
          <p:nvPr/>
        </p:nvSpPr>
        <p:spPr>
          <a:xfrm>
            <a:off x="9052560" y="4828032"/>
            <a:ext cx="2560320" cy="1371600"/>
          </a:xfrm>
          <a:prstGeom prst="roundRect">
            <a:avLst>
              <a:gd name="adj" fmla="val 4000"/>
            </a:avLst>
          </a:prstGeom>
          <a:solidFill>
            <a:srgbClr val="F4F6F8"/>
          </a:solidFill>
          <a:ln w="9525">
            <a:solidFill>
              <a:srgbClr val="DCE2EA"/>
            </a:solidFill>
            <a:prstDash val="solid"/>
          </a:ln>
        </p:spPr>
      </p:sp>
      <p:sp>
        <p:nvSpPr>
          <p:cNvPr id="49" name="Shape 47"/>
          <p:cNvSpPr/>
          <p:nvPr/>
        </p:nvSpPr>
        <p:spPr>
          <a:xfrm>
            <a:off x="9253728" y="5029200"/>
            <a:ext cx="155448" cy="155448"/>
          </a:xfrm>
          <a:prstGeom prst="roundRect">
            <a:avLst>
              <a:gd name="adj" fmla="val 23529"/>
            </a:avLst>
          </a:prstGeom>
          <a:solidFill>
            <a:srgbClr val="4FD6E6"/>
          </a:solidFill>
          <a:ln w="12700">
            <a:solidFill>
              <a:srgbClr val="4FD6E6"/>
            </a:solidFill>
            <a:prstDash val="solid"/>
          </a:ln>
        </p:spPr>
      </p:sp>
      <p:sp>
        <p:nvSpPr>
          <p:cNvPr id="50" name="Text 48"/>
          <p:cNvSpPr/>
          <p:nvPr/>
        </p:nvSpPr>
        <p:spPr>
          <a:xfrm>
            <a:off x="9509760" y="4956048"/>
            <a:ext cx="1920240" cy="292608"/>
          </a:xfrm>
          <a:prstGeom prst="rect">
            <a:avLst/>
          </a:prstGeom>
          <a:noFill/>
          <a:ln/>
        </p:spPr>
        <p:txBody>
          <a:bodyPr wrap="square" lIns="0" tIns="0" rIns="0" bIns="0" rtlCol="0" anchor="ctr"/>
          <a:lstStyle/>
          <a:p>
            <a:pPr indent="0" marL="0">
              <a:buNone/>
            </a:pPr>
            <a:r>
              <a:rPr lang="en-US" sz="1300" b="1" dirty="0">
                <a:solidFill>
                  <a:srgbClr val="1B1D22"/>
                </a:solidFill>
                <a:latin typeface="Calibri" pitchFamily="34" charset="0"/>
                <a:ea typeface="Calibri" pitchFamily="34" charset="-122"/>
                <a:cs typeface="Calibri" pitchFamily="34" charset="-120"/>
              </a:rPr>
              <a:t>Query encryption</a:t>
            </a:r>
            <a:endParaRPr lang="en-US" sz="1300" dirty="0"/>
          </a:p>
        </p:txBody>
      </p:sp>
      <p:sp>
        <p:nvSpPr>
          <p:cNvPr id="51" name="Text 49"/>
          <p:cNvSpPr/>
          <p:nvPr/>
        </p:nvSpPr>
        <p:spPr>
          <a:xfrm>
            <a:off x="9253728" y="5303520"/>
            <a:ext cx="2157984" cy="768096"/>
          </a:xfrm>
          <a:prstGeom prst="rect">
            <a:avLst/>
          </a:prstGeom>
          <a:noFill/>
          <a:ln/>
        </p:spPr>
        <p:txBody>
          <a:bodyPr wrap="square" lIns="0" tIns="0" rIns="0" bIns="0" rtlCol="0" anchor="t"/>
          <a:lstStyle/>
          <a:p>
            <a:pPr indent="0" marL="0">
              <a:lnSpc>
                <a:spcPct val="105000"/>
              </a:lnSpc>
              <a:buNone/>
            </a:pPr>
            <a:r>
              <a:rPr lang="en-US" sz="1050" dirty="0">
                <a:solidFill>
                  <a:srgbClr val="5A6472"/>
                </a:solidFill>
                <a:latin typeface="Calibri" pitchFamily="34" charset="0"/>
                <a:ea typeface="Calibri" pitchFamily="34" charset="-122"/>
                <a:cs typeface="Calibri" pitchFamily="34" charset="-120"/>
              </a:rPr>
              <a:t>AES-256 so neither database exposes your SQL to anyone else.</a:t>
            </a:r>
            <a:endParaRPr lang="en-US" sz="10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7315200" cy="256032"/>
          </a:xfrm>
          <a:prstGeom prst="rect">
            <a:avLst/>
          </a:prstGeom>
          <a:noFill/>
          <a:ln/>
        </p:spPr>
        <p:txBody>
          <a:bodyPr wrap="square" lIns="0" tIns="0" rIns="0" bIns="0" rtlCol="0" anchor="ctr"/>
          <a:lstStyle/>
          <a:p>
            <a:pPr indent="0" marL="0">
              <a:buNone/>
            </a:pPr>
            <a:r>
              <a:rPr lang="en-US" sz="1100" b="1" spc="200" kern="0" dirty="0">
                <a:solidFill>
                  <a:srgbClr val="2D8CFF"/>
                </a:solidFill>
                <a:latin typeface="Calibri" pitchFamily="34" charset="0"/>
                <a:ea typeface="Calibri" pitchFamily="34" charset="-122"/>
                <a:cs typeface="Calibri" pitchFamily="34" charset="-120"/>
              </a:rPr>
              <a:t>AT A GLANCE</a:t>
            </a:r>
            <a:endParaRPr lang="en-US" sz="1100" dirty="0"/>
          </a:p>
        </p:txBody>
      </p:sp>
      <p:sp>
        <p:nvSpPr>
          <p:cNvPr id="3" name="Text 1"/>
          <p:cNvSpPr/>
          <p:nvPr/>
        </p:nvSpPr>
        <p:spPr>
          <a:xfrm>
            <a:off x="548640" y="713232"/>
            <a:ext cx="11064240" cy="685800"/>
          </a:xfrm>
          <a:prstGeom prst="rect">
            <a:avLst/>
          </a:prstGeom>
          <a:noFill/>
          <a:ln/>
        </p:spPr>
        <p:txBody>
          <a:bodyPr wrap="square" lIns="0" tIns="0" rIns="0" bIns="0" rtlCol="0" anchor="ctr"/>
          <a:lstStyle/>
          <a:p>
            <a:pPr indent="0" marL="0">
              <a:buNone/>
            </a:pPr>
            <a:r>
              <a:rPr lang="en-US" sz="3400" b="1" dirty="0">
                <a:solidFill>
                  <a:srgbClr val="1B1D22"/>
                </a:solidFill>
                <a:latin typeface="Calibri" pitchFamily="34" charset="0"/>
                <a:ea typeface="Calibri" pitchFamily="34" charset="-122"/>
                <a:cs typeface="Calibri" pitchFamily="34" charset="-120"/>
              </a:rPr>
              <a:t>Two databases, one tool, no install</a:t>
            </a:r>
            <a:endParaRPr lang="en-US" sz="3400" dirty="0"/>
          </a:p>
        </p:txBody>
      </p:sp>
      <p:sp>
        <p:nvSpPr>
          <p:cNvPr id="4" name="Text 2"/>
          <p:cNvSpPr/>
          <p:nvPr/>
        </p:nvSpPr>
        <p:spPr>
          <a:xfrm>
            <a:off x="548640" y="1737360"/>
            <a:ext cx="3291840" cy="914400"/>
          </a:xfrm>
          <a:prstGeom prst="rect">
            <a:avLst/>
          </a:prstGeom>
          <a:noFill/>
          <a:ln/>
        </p:spPr>
        <p:txBody>
          <a:bodyPr wrap="square" lIns="0" tIns="0" rIns="0" bIns="0" rtlCol="0" anchor="ctr"/>
          <a:lstStyle/>
          <a:p>
            <a:pPr algn="l" indent="0" marL="0">
              <a:buNone/>
            </a:pPr>
            <a:r>
              <a:rPr lang="en-US" sz="6000" b="1" dirty="0">
                <a:solidFill>
                  <a:srgbClr val="2D8CFF"/>
                </a:solidFill>
                <a:latin typeface="Calibri" pitchFamily="34" charset="0"/>
                <a:ea typeface="Calibri" pitchFamily="34" charset="-122"/>
                <a:cs typeface="Calibri" pitchFamily="34" charset="-120"/>
              </a:rPr>
              <a:t>2</a:t>
            </a:r>
            <a:endParaRPr lang="en-US" sz="6000" dirty="0"/>
          </a:p>
        </p:txBody>
      </p:sp>
      <p:sp>
        <p:nvSpPr>
          <p:cNvPr id="5" name="Text 3"/>
          <p:cNvSpPr/>
          <p:nvPr/>
        </p:nvSpPr>
        <p:spPr>
          <a:xfrm>
            <a:off x="548640" y="2651760"/>
            <a:ext cx="3291840" cy="548640"/>
          </a:xfrm>
          <a:prstGeom prst="rect">
            <a:avLst/>
          </a:prstGeom>
          <a:noFill/>
          <a:ln/>
        </p:spPr>
        <p:txBody>
          <a:bodyPr wrap="square" lIns="0" tIns="0" rIns="0" bIns="0" rtlCol="0" anchor="ctr"/>
          <a:lstStyle/>
          <a:p>
            <a:pPr algn="l" indent="0" marL="0">
              <a:buNone/>
            </a:pPr>
            <a:r>
              <a:rPr lang="en-US" sz="1300" dirty="0">
                <a:solidFill>
                  <a:srgbClr val="5A6472"/>
                </a:solidFill>
                <a:latin typeface="Calibri" pitchFamily="34" charset="0"/>
                <a:ea typeface="Calibri" pitchFamily="34" charset="-122"/>
                <a:cs typeface="Calibri" pitchFamily="34" charset="-120"/>
              </a:rPr>
              <a:t>Database engines — SQL Server and Oracle, both native</a:t>
            </a:r>
            <a:endParaRPr lang="en-US" sz="1300" dirty="0"/>
          </a:p>
        </p:txBody>
      </p:sp>
      <p:sp>
        <p:nvSpPr>
          <p:cNvPr id="6" name="Text 4"/>
          <p:cNvSpPr/>
          <p:nvPr/>
        </p:nvSpPr>
        <p:spPr>
          <a:xfrm>
            <a:off x="4206240" y="1737360"/>
            <a:ext cx="3291840" cy="914400"/>
          </a:xfrm>
          <a:prstGeom prst="rect">
            <a:avLst/>
          </a:prstGeom>
          <a:noFill/>
          <a:ln/>
        </p:spPr>
        <p:txBody>
          <a:bodyPr wrap="square" lIns="0" tIns="0" rIns="0" bIns="0" rtlCol="0" anchor="ctr"/>
          <a:lstStyle/>
          <a:p>
            <a:pPr algn="l" indent="0" marL="0">
              <a:buNone/>
            </a:pPr>
            <a:r>
              <a:rPr lang="en-US" sz="6000" b="1" dirty="0">
                <a:solidFill>
                  <a:srgbClr val="4FD6E6"/>
                </a:solidFill>
                <a:latin typeface="Calibri" pitchFamily="34" charset="0"/>
                <a:ea typeface="Calibri" pitchFamily="34" charset="-122"/>
                <a:cs typeface="Calibri" pitchFamily="34" charset="-120"/>
              </a:rPr>
              <a:t>0</a:t>
            </a:r>
            <a:endParaRPr lang="en-US" sz="6000" dirty="0"/>
          </a:p>
        </p:txBody>
      </p:sp>
      <p:sp>
        <p:nvSpPr>
          <p:cNvPr id="7" name="Text 5"/>
          <p:cNvSpPr/>
          <p:nvPr/>
        </p:nvSpPr>
        <p:spPr>
          <a:xfrm>
            <a:off x="4206240" y="2651760"/>
            <a:ext cx="3291840" cy="548640"/>
          </a:xfrm>
          <a:prstGeom prst="rect">
            <a:avLst/>
          </a:prstGeom>
          <a:noFill/>
          <a:ln/>
        </p:spPr>
        <p:txBody>
          <a:bodyPr wrap="square" lIns="0" tIns="0" rIns="0" bIns="0" rtlCol="0" anchor="ctr"/>
          <a:lstStyle/>
          <a:p>
            <a:pPr algn="l" indent="0" marL="0">
              <a:buNone/>
            </a:pPr>
            <a:r>
              <a:rPr lang="en-US" sz="1300" dirty="0">
                <a:solidFill>
                  <a:srgbClr val="5A6472"/>
                </a:solidFill>
                <a:latin typeface="Calibri" pitchFamily="34" charset="0"/>
                <a:ea typeface="Calibri" pitchFamily="34" charset="-122"/>
                <a:cs typeface="Calibri" pitchFamily="34" charset="-120"/>
              </a:rPr>
              <a:t>Installers, ODBC DSNs or database clients required</a:t>
            </a:r>
            <a:endParaRPr lang="en-US" sz="1300" dirty="0"/>
          </a:p>
        </p:txBody>
      </p:sp>
      <p:sp>
        <p:nvSpPr>
          <p:cNvPr id="8" name="Text 6"/>
          <p:cNvSpPr/>
          <p:nvPr/>
        </p:nvSpPr>
        <p:spPr>
          <a:xfrm>
            <a:off x="7863840" y="1737360"/>
            <a:ext cx="3291840" cy="914400"/>
          </a:xfrm>
          <a:prstGeom prst="rect">
            <a:avLst/>
          </a:prstGeom>
          <a:noFill/>
          <a:ln/>
        </p:spPr>
        <p:txBody>
          <a:bodyPr wrap="square" lIns="0" tIns="0" rIns="0" bIns="0" rtlCol="0" anchor="ctr"/>
          <a:lstStyle/>
          <a:p>
            <a:pPr algn="l" indent="0" marL="0">
              <a:buNone/>
            </a:pPr>
            <a:r>
              <a:rPr lang="en-US" sz="6000" b="1" dirty="0">
                <a:solidFill>
                  <a:srgbClr val="2D8CFF"/>
                </a:solidFill>
                <a:latin typeface="Calibri" pitchFamily="34" charset="0"/>
                <a:ea typeface="Calibri" pitchFamily="34" charset="-122"/>
                <a:cs typeface="Calibri" pitchFamily="34" charset="-120"/>
              </a:rPr>
              <a:t>1</a:t>
            </a:r>
            <a:endParaRPr lang="en-US" sz="6000" dirty="0"/>
          </a:p>
        </p:txBody>
      </p:sp>
      <p:sp>
        <p:nvSpPr>
          <p:cNvPr id="9" name="Text 7"/>
          <p:cNvSpPr/>
          <p:nvPr/>
        </p:nvSpPr>
        <p:spPr>
          <a:xfrm>
            <a:off x="7863840" y="2651760"/>
            <a:ext cx="3291840" cy="548640"/>
          </a:xfrm>
          <a:prstGeom prst="rect">
            <a:avLst/>
          </a:prstGeom>
          <a:noFill/>
          <a:ln/>
        </p:spPr>
        <p:txBody>
          <a:bodyPr wrap="square" lIns="0" tIns="0" rIns="0" bIns="0" rtlCol="0" anchor="ctr"/>
          <a:lstStyle/>
          <a:p>
            <a:pPr algn="l" indent="0" marL="0">
              <a:buNone/>
            </a:pPr>
            <a:r>
              <a:rPr lang="en-US" sz="1300" dirty="0">
                <a:solidFill>
                  <a:srgbClr val="5A6472"/>
                </a:solidFill>
                <a:latin typeface="Calibri" pitchFamily="34" charset="0"/>
                <a:ea typeface="Calibri" pitchFamily="34" charset="-122"/>
                <a:cs typeface="Calibri" pitchFamily="34" charset="-120"/>
              </a:rPr>
              <a:t>Single portable .exe — copy it and run it</a:t>
            </a:r>
            <a:endParaRPr lang="en-US" sz="1300" dirty="0"/>
          </a:p>
        </p:txBody>
      </p:sp>
      <p:sp>
        <p:nvSpPr>
          <p:cNvPr id="10" name="Shape 8"/>
          <p:cNvSpPr/>
          <p:nvPr/>
        </p:nvSpPr>
        <p:spPr>
          <a:xfrm>
            <a:off x="548640" y="3977640"/>
            <a:ext cx="11064240" cy="2148840"/>
          </a:xfrm>
          <a:prstGeom prst="roundRect">
            <a:avLst>
              <a:gd name="adj" fmla="val 2553"/>
            </a:avLst>
          </a:prstGeom>
          <a:solidFill>
            <a:srgbClr val="F4F6F8"/>
          </a:solidFill>
          <a:ln w="9525">
            <a:solidFill>
              <a:srgbClr val="DCE2EA"/>
            </a:solidFill>
            <a:prstDash val="solid"/>
          </a:ln>
        </p:spPr>
      </p:sp>
      <p:sp>
        <p:nvSpPr>
          <p:cNvPr id="11" name="Text 9"/>
          <p:cNvSpPr/>
          <p:nvPr/>
        </p:nvSpPr>
        <p:spPr>
          <a:xfrm>
            <a:off x="868680" y="4160520"/>
            <a:ext cx="5486400" cy="320040"/>
          </a:xfrm>
          <a:prstGeom prst="rect">
            <a:avLst/>
          </a:prstGeom>
          <a:noFill/>
          <a:ln/>
        </p:spPr>
        <p:txBody>
          <a:bodyPr wrap="square" lIns="0" tIns="0" rIns="0" bIns="0" rtlCol="0" anchor="ctr"/>
          <a:lstStyle/>
          <a:p>
            <a:pPr indent="0" marL="0">
              <a:buNone/>
            </a:pPr>
            <a:r>
              <a:rPr lang="en-US" sz="1500" b="1" dirty="0">
                <a:solidFill>
                  <a:srgbClr val="1B1D22"/>
                </a:solidFill>
                <a:latin typeface="Calibri" pitchFamily="34" charset="0"/>
                <a:ea typeface="Calibri" pitchFamily="34" charset="-122"/>
                <a:cs typeface="Calibri" pitchFamily="34" charset="-120"/>
              </a:rPr>
              <a:t>What that means in practice</a:t>
            </a:r>
            <a:endParaRPr lang="en-US" sz="1500" dirty="0"/>
          </a:p>
        </p:txBody>
      </p:sp>
      <p:sp>
        <p:nvSpPr>
          <p:cNvPr id="12" name="Text 10"/>
          <p:cNvSpPr/>
          <p:nvPr/>
        </p:nvSpPr>
        <p:spPr>
          <a:xfrm>
            <a:off x="868680" y="4572000"/>
            <a:ext cx="5120640" cy="137160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5A6472"/>
                </a:solidFill>
                <a:latin typeface="Calibri" pitchFamily="34" charset="0"/>
                <a:ea typeface="Calibri" pitchFamily="34" charset="-122"/>
                <a:cs typeface="Calibri" pitchFamily="34" charset="-120"/>
              </a:rPr>
              <a:t>No Oracle client and no tnsnames.ora to configure</a:t>
            </a:r>
            <a:endParaRPr lang="en-US" sz="1300" dirty="0"/>
          </a:p>
          <a:p>
            <a:pPr marL="342900" indent="-342900">
              <a:spcAft>
                <a:spcPts val="800"/>
              </a:spcAft>
              <a:buSzPct val="100000"/>
              <a:buChar char="•"/>
            </a:pPr>
            <a:r>
              <a:rPr lang="en-US" sz="1300" dirty="0">
                <a:solidFill>
                  <a:srgbClr val="5A6472"/>
                </a:solidFill>
                <a:latin typeface="Calibri" pitchFamily="34" charset="0"/>
                <a:ea typeface="Calibri" pitchFamily="34" charset="-122"/>
                <a:cs typeface="Calibri" pitchFamily="34" charset="-120"/>
              </a:rPr>
              <a:t>No SQL Server client tools to install</a:t>
            </a:r>
            <a:endParaRPr lang="en-US" sz="1300" dirty="0"/>
          </a:p>
          <a:p>
            <a:pPr marL="342900" indent="-342900">
              <a:spcAft>
                <a:spcPts val="800"/>
              </a:spcAft>
              <a:buSzPct val="100000"/>
              <a:buChar char="•"/>
            </a:pPr>
            <a:r>
              <a:rPr lang="en-US" sz="1300" dirty="0">
                <a:solidFill>
                  <a:srgbClr val="5A6472"/>
                </a:solidFill>
                <a:latin typeface="Calibri" pitchFamily="34" charset="0"/>
                <a:ea typeface="Calibri" pitchFamily="34" charset="-122"/>
                <a:cs typeface="Calibri" pitchFamily="34" charset="-120"/>
              </a:rPr>
              <a:t>No .NET runtime needed on the target machine</a:t>
            </a:r>
            <a:endParaRPr lang="en-US" sz="1300" dirty="0"/>
          </a:p>
        </p:txBody>
      </p:sp>
      <p:sp>
        <p:nvSpPr>
          <p:cNvPr id="13" name="Text 11"/>
          <p:cNvSpPr/>
          <p:nvPr/>
        </p:nvSpPr>
        <p:spPr>
          <a:xfrm>
            <a:off x="6400800" y="4572000"/>
            <a:ext cx="5120640" cy="137160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5A6472"/>
                </a:solidFill>
                <a:latin typeface="Calibri" pitchFamily="34" charset="0"/>
                <a:ea typeface="Calibri" pitchFamily="34" charset="-122"/>
                <a:cs typeface="Calibri" pitchFamily="34" charset="-120"/>
              </a:rPr>
              <a:t>Runs from a network share or a USB stick</a:t>
            </a:r>
            <a:endParaRPr lang="en-US" sz="1300" dirty="0"/>
          </a:p>
          <a:p>
            <a:pPr marL="342900" indent="-342900">
              <a:spcAft>
                <a:spcPts val="800"/>
              </a:spcAft>
              <a:buSzPct val="100000"/>
              <a:buChar char="•"/>
            </a:pPr>
            <a:r>
              <a:rPr lang="en-US" sz="1300" dirty="0">
                <a:solidFill>
                  <a:srgbClr val="5A6472"/>
                </a:solidFill>
                <a:latin typeface="Calibri" pitchFamily="34" charset="0"/>
                <a:ea typeface="Calibri" pitchFamily="34" charset="-122"/>
                <a:cs typeface="Calibri" pitchFamily="34" charset="-120"/>
              </a:rPr>
              <a:t>Share your query library across the team</a:t>
            </a:r>
            <a:endParaRPr lang="en-US" sz="1300" dirty="0"/>
          </a:p>
          <a:p>
            <a:pPr marL="342900" indent="-342900">
              <a:spcAft>
                <a:spcPts val="800"/>
              </a:spcAft>
              <a:buSzPct val="100000"/>
              <a:buChar char="•"/>
            </a:pPr>
            <a:r>
              <a:rPr lang="en-US" sz="1300" dirty="0">
                <a:solidFill>
                  <a:srgbClr val="5A6472"/>
                </a:solidFill>
                <a:latin typeface="Calibri" pitchFamily="34" charset="0"/>
                <a:ea typeface="Calibri" pitchFamily="34" charset="-122"/>
                <a:cs typeface="Calibri" pitchFamily="34" charset="-120"/>
              </a:rPr>
              <a:t>Encrypt queries so only your team can read them</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7315200" cy="256032"/>
          </a:xfrm>
          <a:prstGeom prst="rect">
            <a:avLst/>
          </a:prstGeom>
          <a:noFill/>
          <a:ln/>
        </p:spPr>
        <p:txBody>
          <a:bodyPr wrap="square" lIns="0" tIns="0" rIns="0" bIns="0" rtlCol="0" anchor="ctr"/>
          <a:lstStyle/>
          <a:p>
            <a:pPr indent="0" marL="0">
              <a:buNone/>
            </a:pPr>
            <a:r>
              <a:rPr lang="en-US" sz="1100" b="1" spc="200" kern="0" dirty="0">
                <a:solidFill>
                  <a:srgbClr val="2D8CFF"/>
                </a:solidFill>
                <a:latin typeface="Calibri" pitchFamily="34" charset="0"/>
                <a:ea typeface="Calibri" pitchFamily="34" charset="-122"/>
                <a:cs typeface="Calibri" pitchFamily="34" charset="-120"/>
              </a:rPr>
              <a:t>GETTING STARTED</a:t>
            </a:r>
            <a:endParaRPr lang="en-US" sz="1100" dirty="0"/>
          </a:p>
        </p:txBody>
      </p:sp>
      <p:sp>
        <p:nvSpPr>
          <p:cNvPr id="3" name="Text 1"/>
          <p:cNvSpPr/>
          <p:nvPr/>
        </p:nvSpPr>
        <p:spPr>
          <a:xfrm>
            <a:off x="548640" y="713232"/>
            <a:ext cx="11064240" cy="685800"/>
          </a:xfrm>
          <a:prstGeom prst="rect">
            <a:avLst/>
          </a:prstGeom>
          <a:noFill/>
          <a:ln/>
        </p:spPr>
        <p:txBody>
          <a:bodyPr wrap="square" lIns="0" tIns="0" rIns="0" bIns="0" rtlCol="0" anchor="ctr"/>
          <a:lstStyle/>
          <a:p>
            <a:pPr indent="0" marL="0">
              <a:buNone/>
            </a:pPr>
            <a:r>
              <a:rPr lang="en-US" sz="3400" b="1" dirty="0">
                <a:solidFill>
                  <a:srgbClr val="1B1D22"/>
                </a:solidFill>
                <a:latin typeface="Calibri" pitchFamily="34" charset="0"/>
                <a:ea typeface="Calibri" pitchFamily="34" charset="-122"/>
                <a:cs typeface="Calibri" pitchFamily="34" charset="-120"/>
              </a:rPr>
              <a:t>Copy one file and run it</a:t>
            </a:r>
            <a:endParaRPr lang="en-US" sz="3400" dirty="0"/>
          </a:p>
        </p:txBody>
      </p:sp>
      <p:sp>
        <p:nvSpPr>
          <p:cNvPr id="4" name="Text 2"/>
          <p:cNvSpPr/>
          <p:nvPr/>
        </p:nvSpPr>
        <p:spPr>
          <a:xfrm>
            <a:off x="548640" y="1691640"/>
            <a:ext cx="5669280" cy="237744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rgbClr val="5A6472"/>
                </a:solidFill>
                <a:latin typeface="Calibri" pitchFamily="34" charset="0"/>
                <a:ea typeface="Calibri" pitchFamily="34" charset="-122"/>
                <a:cs typeface="Calibri" pitchFamily="34" charset="-120"/>
              </a:rPr>
              <a:t>Copy Qplus.exe anywhere you have access to</a:t>
            </a:r>
            <a:endParaRPr lang="en-US" sz="1500" dirty="0"/>
          </a:p>
          <a:p>
            <a:pPr marL="342900" indent="-342900">
              <a:spcAft>
                <a:spcPts val="800"/>
              </a:spcAft>
              <a:buSzPct val="100000"/>
              <a:buChar char="•"/>
            </a:pPr>
            <a:r>
              <a:rPr lang="en-US" sz="1500" dirty="0">
                <a:solidFill>
                  <a:srgbClr val="5A6472"/>
                </a:solidFill>
                <a:latin typeface="Calibri" pitchFamily="34" charset="0"/>
                <a:ea typeface="Calibri" pitchFamily="34" charset="-122"/>
                <a:cs typeface="Calibri" pitchFamily="34" charset="-120"/>
              </a:rPr>
              <a:t>Double-click it — there is no installer</a:t>
            </a:r>
            <a:endParaRPr lang="en-US" sz="1500" dirty="0"/>
          </a:p>
          <a:p>
            <a:pPr marL="342900" indent="-342900">
              <a:spcAft>
                <a:spcPts val="800"/>
              </a:spcAft>
              <a:buSzPct val="100000"/>
              <a:buChar char="•"/>
            </a:pPr>
            <a:r>
              <a:rPr lang="en-US" sz="1500" dirty="0">
                <a:solidFill>
                  <a:srgbClr val="5A6472"/>
                </a:solidFill>
                <a:latin typeface="Calibri" pitchFamily="34" charset="0"/>
                <a:ea typeface="Calibri" pitchFamily="34" charset="-122"/>
                <a:cs typeface="Calibri" pitchFamily="34" charset="-120"/>
              </a:rPr>
              <a:t>Add a connection, and start working</a:t>
            </a:r>
            <a:endParaRPr lang="en-US" sz="1500" dirty="0"/>
          </a:p>
        </p:txBody>
      </p:sp>
      <p:sp>
        <p:nvSpPr>
          <p:cNvPr id="5" name="Text 3"/>
          <p:cNvSpPr/>
          <p:nvPr/>
        </p:nvSpPr>
        <p:spPr>
          <a:xfrm>
            <a:off x="548640" y="3977640"/>
            <a:ext cx="5486400" cy="320040"/>
          </a:xfrm>
          <a:prstGeom prst="rect">
            <a:avLst/>
          </a:prstGeom>
          <a:noFill/>
          <a:ln/>
        </p:spPr>
        <p:txBody>
          <a:bodyPr wrap="square" lIns="0" tIns="0" rIns="0" bIns="0" rtlCol="0" anchor="ctr"/>
          <a:lstStyle/>
          <a:p>
            <a:pPr indent="0" marL="0">
              <a:buNone/>
            </a:pPr>
            <a:r>
              <a:rPr lang="en-US" sz="1500" b="1" dirty="0">
                <a:solidFill>
                  <a:srgbClr val="1B1D22"/>
                </a:solidFill>
                <a:latin typeface="Calibri" pitchFamily="34" charset="0"/>
                <a:ea typeface="Calibri" pitchFamily="34" charset="-122"/>
                <a:cs typeface="Calibri" pitchFamily="34" charset="-120"/>
              </a:rPr>
              <a:t>Requirements</a:t>
            </a:r>
            <a:endParaRPr lang="en-US" sz="1500" dirty="0"/>
          </a:p>
        </p:txBody>
      </p:sp>
      <p:sp>
        <p:nvSpPr>
          <p:cNvPr id="6" name="Text 4"/>
          <p:cNvSpPr/>
          <p:nvPr/>
        </p:nvSpPr>
        <p:spPr>
          <a:xfrm>
            <a:off x="548640" y="4343400"/>
            <a:ext cx="5669280" cy="164592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5A6472"/>
                </a:solidFill>
                <a:latin typeface="Calibri" pitchFamily="34" charset="0"/>
                <a:ea typeface="Calibri" pitchFamily="34" charset="-122"/>
                <a:cs typeface="Calibri" pitchFamily="34" charset="-120"/>
              </a:rPr>
              <a:t>64-bit Windows 10 (1607) or later</a:t>
            </a:r>
            <a:endParaRPr lang="en-US" sz="1300" dirty="0"/>
          </a:p>
          <a:p>
            <a:pPr marL="342900" indent="-342900">
              <a:spcAft>
                <a:spcPts val="800"/>
              </a:spcAft>
              <a:buSzPct val="100000"/>
              <a:buChar char="•"/>
            </a:pPr>
            <a:r>
              <a:rPr lang="en-US" sz="1300" dirty="0">
                <a:solidFill>
                  <a:srgbClr val="5A6472"/>
                </a:solidFill>
                <a:latin typeface="Calibri" pitchFamily="34" charset="0"/>
                <a:ea typeface="Calibri" pitchFamily="34" charset="-122"/>
                <a:cs typeface="Calibri" pitchFamily="34" charset="-120"/>
              </a:rPr>
              <a:t>No .NET runtime — it is built into the executable</a:t>
            </a:r>
            <a:endParaRPr lang="en-US" sz="1300" dirty="0"/>
          </a:p>
          <a:p>
            <a:pPr marL="342900" indent="-342900">
              <a:spcAft>
                <a:spcPts val="800"/>
              </a:spcAft>
              <a:buSzPct val="100000"/>
              <a:buChar char="•"/>
            </a:pPr>
            <a:r>
              <a:rPr lang="en-US" sz="1300" dirty="0">
                <a:solidFill>
                  <a:srgbClr val="5A6472"/>
                </a:solidFill>
                <a:latin typeface="Calibri" pitchFamily="34" charset="0"/>
                <a:ea typeface="Calibri" pitchFamily="34" charset="-122"/>
                <a:cs typeface="Calibri" pitchFamily="34" charset="-120"/>
              </a:rPr>
              <a:t>No database client software of any kind</a:t>
            </a:r>
            <a:endParaRPr lang="en-US" sz="1300" dirty="0"/>
          </a:p>
        </p:txBody>
      </p:sp>
      <p:sp>
        <p:nvSpPr>
          <p:cNvPr id="7" name="Shape 5"/>
          <p:cNvSpPr/>
          <p:nvPr/>
        </p:nvSpPr>
        <p:spPr>
          <a:xfrm>
            <a:off x="6492240" y="1691640"/>
            <a:ext cx="5120640" cy="2011680"/>
          </a:xfrm>
          <a:prstGeom prst="roundRect">
            <a:avLst>
              <a:gd name="adj" fmla="val 2273"/>
            </a:avLst>
          </a:prstGeom>
          <a:solidFill>
            <a:srgbClr val="11161C"/>
          </a:solidFill>
          <a:ln w="9525">
            <a:solidFill>
              <a:srgbClr val="11161C"/>
            </a:solidFill>
            <a:prstDash val="solid"/>
          </a:ln>
        </p:spPr>
      </p:sp>
      <p:sp>
        <p:nvSpPr>
          <p:cNvPr id="8" name="Text 6"/>
          <p:cNvSpPr/>
          <p:nvPr/>
        </p:nvSpPr>
        <p:spPr>
          <a:xfrm>
            <a:off x="6675120" y="1837944"/>
            <a:ext cx="4754880" cy="1719072"/>
          </a:xfrm>
          <a:prstGeom prst="rect">
            <a:avLst/>
          </a:prstGeom>
          <a:noFill/>
          <a:ln/>
        </p:spPr>
        <p:txBody>
          <a:bodyPr wrap="square" lIns="0" tIns="0" rIns="0" bIns="0" rtlCol="0" anchor="t"/>
          <a:lstStyle/>
          <a:p>
            <a:pPr indent="0" marL="0">
              <a:lnSpc>
                <a:spcPct val="115000"/>
              </a:lnSpc>
              <a:buNone/>
            </a:pPr>
            <a:r>
              <a:rPr lang="en-US" sz="1150" dirty="0">
                <a:solidFill>
                  <a:srgbClr val="4FD6E6"/>
                </a:solidFill>
                <a:latin typeface="Courier New" pitchFamily="34" charset="0"/>
                <a:ea typeface="Courier New" pitchFamily="34" charset="-122"/>
                <a:cs typeface="Courier New" pitchFamily="34" charset="-120"/>
              </a:rPr>
              <a:t>  Qplus.exe</a:t>
            </a:r>
            <a:endParaRPr lang="en-US" sz="1150" dirty="0"/>
          </a:p>
          <a:p>
            <a:pPr indent="0" marL="0">
              <a:lnSpc>
                <a:spcPct val="115000"/>
              </a:lnSpc>
              <a:buNone/>
            </a:pPr>
            <a:r>
              <a:rPr lang="en-US" sz="1150" dirty="0">
                <a:solidFill>
                  <a:srgbClr val="8A93A0"/>
                </a:solidFill>
                <a:latin typeface="Courier New" pitchFamily="34" charset="0"/>
                <a:ea typeface="Courier New" pitchFamily="34" charset="-122"/>
                <a:cs typeface="Courier New" pitchFamily="34" charset="-120"/>
              </a:rPr>
              <a:t>  ~75 MB  ·  self-contained</a:t>
            </a:r>
            <a:endParaRPr lang="en-US" sz="1150" dirty="0"/>
          </a:p>
          <a:p>
            <a:pPr indent="0" marL="0">
              <a:lnSpc>
                <a:spcPct val="115000"/>
              </a:lnSpc>
              <a:buNone/>
            </a:pPr>
            <a:endParaRPr lang="en-US" sz="1150" dirty="0"/>
          </a:p>
          <a:p>
            <a:pPr indent="0" marL="0">
              <a:lnSpc>
                <a:spcPct val="115000"/>
              </a:lnSpc>
              <a:buNone/>
            </a:pPr>
            <a:r>
              <a:rPr lang="en-US" sz="1150" dirty="0">
                <a:solidFill>
                  <a:srgbClr val="D6DCE4"/>
                </a:solidFill>
                <a:latin typeface="Courier New" pitchFamily="34" charset="0"/>
                <a:ea typeface="Courier New" pitchFamily="34" charset="-122"/>
                <a:cs typeface="Courier New" pitchFamily="34" charset="-120"/>
              </a:rPr>
              <a:t>  %AppData%\Qplus\qplus.db</a:t>
            </a:r>
            <a:endParaRPr lang="en-US" sz="1150" dirty="0"/>
          </a:p>
          <a:p>
            <a:pPr indent="0" marL="0">
              <a:lnSpc>
                <a:spcPct val="115000"/>
              </a:lnSpc>
              <a:buNone/>
            </a:pPr>
            <a:r>
              <a:rPr lang="en-US" sz="1150" dirty="0">
                <a:solidFill>
                  <a:srgbClr val="8A93A0"/>
                </a:solidFill>
                <a:latin typeface="Courier New" pitchFamily="34" charset="0"/>
                <a:ea typeface="Courier New" pitchFamily="34" charset="-122"/>
                <a:cs typeface="Courier New" pitchFamily="34" charset="-120"/>
              </a:rPr>
              <a:t>  connections · saved queries · settings</a:t>
            </a:r>
            <a:endParaRPr lang="en-US" sz="1150" dirty="0"/>
          </a:p>
        </p:txBody>
      </p:sp>
      <p:sp>
        <p:nvSpPr>
          <p:cNvPr id="9" name="Text 7"/>
          <p:cNvSpPr/>
          <p:nvPr/>
        </p:nvSpPr>
        <p:spPr>
          <a:xfrm>
            <a:off x="6492240" y="3977640"/>
            <a:ext cx="5120640" cy="1097280"/>
          </a:xfrm>
          <a:prstGeom prst="rect">
            <a:avLst/>
          </a:prstGeom>
          <a:noFill/>
          <a:ln/>
        </p:spPr>
        <p:txBody>
          <a:bodyPr wrap="square" lIns="0" tIns="0" rIns="0" bIns="0" rtlCol="0" anchor="ctr"/>
          <a:lstStyle/>
          <a:p>
            <a:pPr indent="0" marL="0">
              <a:buNone/>
            </a:pPr>
            <a:r>
              <a:rPr lang="en-US" sz="1250" dirty="0">
                <a:solidFill>
                  <a:srgbClr val="5A6472"/>
                </a:solidFill>
                <a:latin typeface="Calibri" pitchFamily="34" charset="0"/>
                <a:ea typeface="Calibri" pitchFamily="34" charset="-122"/>
                <a:cs typeface="Calibri" pitchFamily="34" charset="-120"/>
              </a:rPr>
              <a:t>Everything Qplus remembers lives in that single catalog file — back it up and your whole setup travels with you.</a:t>
            </a:r>
            <a:endParaRPr lang="en-US" sz="12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7315200" cy="256032"/>
          </a:xfrm>
          <a:prstGeom prst="rect">
            <a:avLst/>
          </a:prstGeom>
          <a:noFill/>
          <a:ln/>
        </p:spPr>
        <p:txBody>
          <a:bodyPr wrap="square" lIns="0" tIns="0" rIns="0" bIns="0" rtlCol="0" anchor="ctr"/>
          <a:lstStyle/>
          <a:p>
            <a:pPr indent="0" marL="0">
              <a:buNone/>
            </a:pPr>
            <a:r>
              <a:rPr lang="en-US" sz="1100" b="1" spc="200" kern="0" dirty="0">
                <a:solidFill>
                  <a:srgbClr val="2D8CFF"/>
                </a:solidFill>
                <a:latin typeface="Calibri" pitchFamily="34" charset="0"/>
                <a:ea typeface="Calibri" pitchFamily="34" charset="-122"/>
                <a:cs typeface="Calibri" pitchFamily="34" charset="-120"/>
              </a:rPr>
              <a:t>CONNECTIONS</a:t>
            </a:r>
            <a:endParaRPr lang="en-US" sz="1100" dirty="0"/>
          </a:p>
        </p:txBody>
      </p:sp>
      <p:sp>
        <p:nvSpPr>
          <p:cNvPr id="3" name="Text 1"/>
          <p:cNvSpPr/>
          <p:nvPr/>
        </p:nvSpPr>
        <p:spPr>
          <a:xfrm>
            <a:off x="548640" y="713232"/>
            <a:ext cx="11064240" cy="685800"/>
          </a:xfrm>
          <a:prstGeom prst="rect">
            <a:avLst/>
          </a:prstGeom>
          <a:noFill/>
          <a:ln/>
        </p:spPr>
        <p:txBody>
          <a:bodyPr wrap="square" lIns="0" tIns="0" rIns="0" bIns="0" rtlCol="0" anchor="ctr"/>
          <a:lstStyle/>
          <a:p>
            <a:pPr indent="0" marL="0">
              <a:buNone/>
            </a:pPr>
            <a:r>
              <a:rPr lang="en-US" sz="3400" b="1" dirty="0">
                <a:solidFill>
                  <a:srgbClr val="1B1D22"/>
                </a:solidFill>
                <a:latin typeface="Calibri" pitchFamily="34" charset="0"/>
                <a:ea typeface="Calibri" pitchFamily="34" charset="-122"/>
                <a:cs typeface="Calibri" pitchFamily="34" charset="-120"/>
              </a:rPr>
              <a:t>Connect to either engine</a:t>
            </a:r>
            <a:endParaRPr lang="en-US" sz="3400" dirty="0"/>
          </a:p>
        </p:txBody>
      </p:sp>
      <p:sp>
        <p:nvSpPr>
          <p:cNvPr id="4" name="Shape 2"/>
          <p:cNvSpPr/>
          <p:nvPr/>
        </p:nvSpPr>
        <p:spPr>
          <a:xfrm>
            <a:off x="548640" y="1645920"/>
            <a:ext cx="5394960" cy="1920240"/>
          </a:xfrm>
          <a:prstGeom prst="roundRect">
            <a:avLst>
              <a:gd name="adj" fmla="val 2857"/>
            </a:avLst>
          </a:prstGeom>
          <a:solidFill>
            <a:srgbClr val="F4F6F8"/>
          </a:solidFill>
          <a:ln w="9525">
            <a:solidFill>
              <a:srgbClr val="DCE2EA"/>
            </a:solidFill>
            <a:prstDash val="solid"/>
          </a:ln>
        </p:spPr>
      </p:sp>
      <p:sp>
        <p:nvSpPr>
          <p:cNvPr id="5" name="Shape 3"/>
          <p:cNvSpPr/>
          <p:nvPr/>
        </p:nvSpPr>
        <p:spPr>
          <a:xfrm>
            <a:off x="749808" y="1847088"/>
            <a:ext cx="155448" cy="155448"/>
          </a:xfrm>
          <a:prstGeom prst="roundRect">
            <a:avLst>
              <a:gd name="adj" fmla="val 23529"/>
            </a:avLst>
          </a:prstGeom>
          <a:solidFill>
            <a:srgbClr val="2D8CFF"/>
          </a:solidFill>
          <a:ln w="12700">
            <a:solidFill>
              <a:srgbClr val="2D8CFF"/>
            </a:solidFill>
            <a:prstDash val="solid"/>
          </a:ln>
        </p:spPr>
      </p:sp>
      <p:sp>
        <p:nvSpPr>
          <p:cNvPr id="6" name="Text 4"/>
          <p:cNvSpPr/>
          <p:nvPr/>
        </p:nvSpPr>
        <p:spPr>
          <a:xfrm>
            <a:off x="1005840" y="1773936"/>
            <a:ext cx="4754880" cy="292608"/>
          </a:xfrm>
          <a:prstGeom prst="rect">
            <a:avLst/>
          </a:prstGeom>
          <a:noFill/>
          <a:ln/>
        </p:spPr>
        <p:txBody>
          <a:bodyPr wrap="square" lIns="0" tIns="0" rIns="0" bIns="0" rtlCol="0" anchor="ctr"/>
          <a:lstStyle/>
          <a:p>
            <a:pPr indent="0" marL="0">
              <a:buNone/>
            </a:pPr>
            <a:r>
              <a:rPr lang="en-US" sz="1300" b="1" dirty="0">
                <a:solidFill>
                  <a:srgbClr val="1B1D22"/>
                </a:solidFill>
                <a:latin typeface="Calibri" pitchFamily="34" charset="0"/>
                <a:ea typeface="Calibri" pitchFamily="34" charset="-122"/>
                <a:cs typeface="Calibri" pitchFamily="34" charset="-120"/>
              </a:rPr>
              <a:t>Microsoft SQL Server</a:t>
            </a:r>
            <a:endParaRPr lang="en-US" sz="1300" dirty="0"/>
          </a:p>
        </p:txBody>
      </p:sp>
      <p:sp>
        <p:nvSpPr>
          <p:cNvPr id="7" name="Text 5"/>
          <p:cNvSpPr/>
          <p:nvPr/>
        </p:nvSpPr>
        <p:spPr>
          <a:xfrm>
            <a:off x="749808" y="2121408"/>
            <a:ext cx="4992624" cy="1316736"/>
          </a:xfrm>
          <a:prstGeom prst="rect">
            <a:avLst/>
          </a:prstGeom>
          <a:noFill/>
          <a:ln/>
        </p:spPr>
        <p:txBody>
          <a:bodyPr wrap="square" lIns="0" tIns="0" rIns="0" bIns="0" rtlCol="0" anchor="t"/>
          <a:lstStyle/>
          <a:p>
            <a:pPr indent="0" marL="0">
              <a:lnSpc>
                <a:spcPct val="105000"/>
              </a:lnSpc>
              <a:buNone/>
            </a:pPr>
            <a:r>
              <a:rPr lang="en-US" sz="1050" dirty="0">
                <a:solidFill>
                  <a:srgbClr val="5A6472"/>
                </a:solidFill>
                <a:latin typeface="Calibri" pitchFamily="34" charset="0"/>
                <a:ea typeface="Calibri" pitchFamily="34" charset="-122"/>
                <a:cs typeface="Calibri" pitchFamily="34" charset="-120"/>
              </a:rPr>
              <a:t>Server and instance, optional port, initial catalog. Choose Windows integrated authentication or a SQL login. Trust-server-certificate option for self-signed certificates.</a:t>
            </a:r>
            <a:endParaRPr lang="en-US" sz="1050" dirty="0"/>
          </a:p>
        </p:txBody>
      </p:sp>
      <p:sp>
        <p:nvSpPr>
          <p:cNvPr id="8" name="Shape 6"/>
          <p:cNvSpPr/>
          <p:nvPr/>
        </p:nvSpPr>
        <p:spPr>
          <a:xfrm>
            <a:off x="6217920" y="1645920"/>
            <a:ext cx="5394960" cy="1920240"/>
          </a:xfrm>
          <a:prstGeom prst="roundRect">
            <a:avLst>
              <a:gd name="adj" fmla="val 2857"/>
            </a:avLst>
          </a:prstGeom>
          <a:solidFill>
            <a:srgbClr val="F4F6F8"/>
          </a:solidFill>
          <a:ln w="9525">
            <a:solidFill>
              <a:srgbClr val="DCE2EA"/>
            </a:solidFill>
            <a:prstDash val="solid"/>
          </a:ln>
        </p:spPr>
      </p:sp>
      <p:sp>
        <p:nvSpPr>
          <p:cNvPr id="9" name="Shape 7"/>
          <p:cNvSpPr/>
          <p:nvPr/>
        </p:nvSpPr>
        <p:spPr>
          <a:xfrm>
            <a:off x="6419088" y="1847088"/>
            <a:ext cx="155448" cy="155448"/>
          </a:xfrm>
          <a:prstGeom prst="roundRect">
            <a:avLst>
              <a:gd name="adj" fmla="val 23529"/>
            </a:avLst>
          </a:prstGeom>
          <a:solidFill>
            <a:srgbClr val="4FD6E6"/>
          </a:solidFill>
          <a:ln w="12700">
            <a:solidFill>
              <a:srgbClr val="4FD6E6"/>
            </a:solidFill>
            <a:prstDash val="solid"/>
          </a:ln>
        </p:spPr>
      </p:sp>
      <p:sp>
        <p:nvSpPr>
          <p:cNvPr id="10" name="Text 8"/>
          <p:cNvSpPr/>
          <p:nvPr/>
        </p:nvSpPr>
        <p:spPr>
          <a:xfrm>
            <a:off x="6675120" y="1773936"/>
            <a:ext cx="4754880" cy="292608"/>
          </a:xfrm>
          <a:prstGeom prst="rect">
            <a:avLst/>
          </a:prstGeom>
          <a:noFill/>
          <a:ln/>
        </p:spPr>
        <p:txBody>
          <a:bodyPr wrap="square" lIns="0" tIns="0" rIns="0" bIns="0" rtlCol="0" anchor="ctr"/>
          <a:lstStyle/>
          <a:p>
            <a:pPr indent="0" marL="0">
              <a:buNone/>
            </a:pPr>
            <a:r>
              <a:rPr lang="en-US" sz="1300" b="1" dirty="0">
                <a:solidFill>
                  <a:srgbClr val="1B1D22"/>
                </a:solidFill>
                <a:latin typeface="Calibri" pitchFamily="34" charset="0"/>
                <a:ea typeface="Calibri" pitchFamily="34" charset="-122"/>
                <a:cs typeface="Calibri" pitchFamily="34" charset="-120"/>
              </a:rPr>
              <a:t>Oracle</a:t>
            </a:r>
            <a:endParaRPr lang="en-US" sz="1300" dirty="0"/>
          </a:p>
        </p:txBody>
      </p:sp>
      <p:sp>
        <p:nvSpPr>
          <p:cNvPr id="11" name="Text 9"/>
          <p:cNvSpPr/>
          <p:nvPr/>
        </p:nvSpPr>
        <p:spPr>
          <a:xfrm>
            <a:off x="6419088" y="2121408"/>
            <a:ext cx="4992624" cy="1316736"/>
          </a:xfrm>
          <a:prstGeom prst="rect">
            <a:avLst/>
          </a:prstGeom>
          <a:noFill/>
          <a:ln/>
        </p:spPr>
        <p:txBody>
          <a:bodyPr wrap="square" lIns="0" tIns="0" rIns="0" bIns="0" rtlCol="0" anchor="t"/>
          <a:lstStyle/>
          <a:p>
            <a:pPr indent="0" marL="0">
              <a:lnSpc>
                <a:spcPct val="105000"/>
              </a:lnSpc>
              <a:buNone/>
            </a:pPr>
            <a:r>
              <a:rPr lang="en-US" sz="1050" dirty="0">
                <a:solidFill>
                  <a:srgbClr val="5A6472"/>
                </a:solidFill>
                <a:latin typeface="Calibri" pitchFamily="34" charset="0"/>
                <a:ea typeface="Calibri" pitchFamily="34" charset="-122"/>
                <a:cs typeface="Calibri" pitchFamily="34" charset="-120"/>
              </a:rPr>
              <a:t>Host, port and service name — or tick Treat as SID. Connects with a native EZCONNECT descriptor, so no Oracle client and no tnsnames.ora are required.</a:t>
            </a:r>
            <a:endParaRPr lang="en-US" sz="1050" dirty="0"/>
          </a:p>
        </p:txBody>
      </p:sp>
      <p:sp>
        <p:nvSpPr>
          <p:cNvPr id="12" name="Shape 10"/>
          <p:cNvSpPr/>
          <p:nvPr/>
        </p:nvSpPr>
        <p:spPr>
          <a:xfrm>
            <a:off x="548640" y="3886200"/>
            <a:ext cx="11064240" cy="1737360"/>
          </a:xfrm>
          <a:prstGeom prst="roundRect">
            <a:avLst>
              <a:gd name="adj" fmla="val 3158"/>
            </a:avLst>
          </a:prstGeom>
          <a:solidFill>
            <a:srgbClr val="F4F6F8"/>
          </a:solidFill>
          <a:ln w="9525">
            <a:solidFill>
              <a:srgbClr val="DCE2EA"/>
            </a:solidFill>
            <a:prstDash val="solid"/>
          </a:ln>
        </p:spPr>
      </p:sp>
      <p:sp>
        <p:nvSpPr>
          <p:cNvPr id="13" name="Text 11"/>
          <p:cNvSpPr/>
          <p:nvPr/>
        </p:nvSpPr>
        <p:spPr>
          <a:xfrm>
            <a:off x="868680" y="4069080"/>
            <a:ext cx="7315200" cy="320040"/>
          </a:xfrm>
          <a:prstGeom prst="rect">
            <a:avLst/>
          </a:prstGeom>
          <a:noFill/>
          <a:ln/>
        </p:spPr>
        <p:txBody>
          <a:bodyPr wrap="square" lIns="0" tIns="0" rIns="0" bIns="0" rtlCol="0" anchor="ctr"/>
          <a:lstStyle/>
          <a:p>
            <a:pPr indent="0" marL="0">
              <a:buNone/>
            </a:pPr>
            <a:r>
              <a:rPr lang="en-US" sz="1500" b="1" dirty="0">
                <a:solidFill>
                  <a:srgbClr val="1B1D22"/>
                </a:solidFill>
                <a:latin typeface="Calibri" pitchFamily="34" charset="0"/>
                <a:ea typeface="Calibri" pitchFamily="34" charset="-122"/>
                <a:cs typeface="Calibri" pitchFamily="34" charset="-120"/>
              </a:rPr>
              <a:t>Passwords are encrypted, never stored as text</a:t>
            </a:r>
            <a:endParaRPr lang="en-US" sz="1500" dirty="0"/>
          </a:p>
        </p:txBody>
      </p:sp>
      <p:sp>
        <p:nvSpPr>
          <p:cNvPr id="14" name="Text 12"/>
          <p:cNvSpPr/>
          <p:nvPr/>
        </p:nvSpPr>
        <p:spPr>
          <a:xfrm>
            <a:off x="868680" y="4480560"/>
            <a:ext cx="10424160" cy="1005840"/>
          </a:xfrm>
          <a:prstGeom prst="rect">
            <a:avLst/>
          </a:prstGeom>
          <a:noFill/>
          <a:ln/>
        </p:spPr>
        <p:txBody>
          <a:bodyPr wrap="square" lIns="0" tIns="0" rIns="0" bIns="0" rtlCol="0" anchor="t"/>
          <a:lstStyle/>
          <a:p>
            <a:pPr indent="0" marL="0">
              <a:buNone/>
            </a:pPr>
            <a:r>
              <a:rPr lang="en-US" sz="1300" dirty="0">
                <a:solidFill>
                  <a:srgbClr val="5A6472"/>
                </a:solidFill>
                <a:latin typeface="Calibri" pitchFamily="34" charset="0"/>
                <a:ea typeface="Calibri" pitchFamily="34" charset="-122"/>
                <a:cs typeface="Calibri" pitchFamily="34" charset="-120"/>
              </a:rPr>
              <a:t>Qplus protects every stored password with Windows Data Protection, tied to your Windows account. The encrypted value is meaningless to any other user or on any other machine. Use Test before saving to confirm the details are right.</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7315200" cy="256032"/>
          </a:xfrm>
          <a:prstGeom prst="rect">
            <a:avLst/>
          </a:prstGeom>
          <a:noFill/>
          <a:ln/>
        </p:spPr>
        <p:txBody>
          <a:bodyPr wrap="square" lIns="0" tIns="0" rIns="0" bIns="0" rtlCol="0" anchor="ctr"/>
          <a:lstStyle/>
          <a:p>
            <a:pPr indent="0" marL="0">
              <a:buNone/>
            </a:pPr>
            <a:r>
              <a:rPr lang="en-US" sz="1100" b="1" spc="200" kern="0" dirty="0">
                <a:solidFill>
                  <a:srgbClr val="2D8CFF"/>
                </a:solidFill>
                <a:latin typeface="Calibri" pitchFamily="34" charset="0"/>
                <a:ea typeface="Calibri" pitchFamily="34" charset="-122"/>
                <a:cs typeface="Calibri" pitchFamily="34" charset="-120"/>
              </a:rPr>
              <a:t>EXPLORER AND EDITOR</a:t>
            </a:r>
            <a:endParaRPr lang="en-US" sz="1100" dirty="0"/>
          </a:p>
        </p:txBody>
      </p:sp>
      <p:sp>
        <p:nvSpPr>
          <p:cNvPr id="3" name="Text 1"/>
          <p:cNvSpPr/>
          <p:nvPr/>
        </p:nvSpPr>
        <p:spPr>
          <a:xfrm>
            <a:off x="548640" y="713232"/>
            <a:ext cx="11064240" cy="685800"/>
          </a:xfrm>
          <a:prstGeom prst="rect">
            <a:avLst/>
          </a:prstGeom>
          <a:noFill/>
          <a:ln/>
        </p:spPr>
        <p:txBody>
          <a:bodyPr wrap="square" lIns="0" tIns="0" rIns="0" bIns="0" rtlCol="0" anchor="ctr"/>
          <a:lstStyle/>
          <a:p>
            <a:pPr indent="0" marL="0">
              <a:buNone/>
            </a:pPr>
            <a:r>
              <a:rPr lang="en-US" sz="3400" b="1" dirty="0">
                <a:solidFill>
                  <a:srgbClr val="1B1D22"/>
                </a:solidFill>
                <a:latin typeface="Calibri" pitchFamily="34" charset="0"/>
                <a:ea typeface="Calibri" pitchFamily="34" charset="-122"/>
                <a:cs typeface="Calibri" pitchFamily="34" charset="-120"/>
              </a:rPr>
              <a:t>Browse on the left, work on the right</a:t>
            </a:r>
            <a:endParaRPr lang="en-US" sz="3400" dirty="0"/>
          </a:p>
        </p:txBody>
      </p:sp>
      <p:sp>
        <p:nvSpPr>
          <p:cNvPr id="4" name="Text 2"/>
          <p:cNvSpPr/>
          <p:nvPr/>
        </p:nvSpPr>
        <p:spPr>
          <a:xfrm>
            <a:off x="548640" y="1691640"/>
            <a:ext cx="5394960" cy="219456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rgbClr val="5A6472"/>
                </a:solidFill>
                <a:latin typeface="Calibri" pitchFamily="34" charset="0"/>
                <a:ea typeface="Calibri" pitchFamily="34" charset="-122"/>
                <a:cs typeface="Calibri" pitchFamily="34" charset="-120"/>
              </a:rPr>
              <a:t>Expand a connection to reach schemas, tables, views and columns</a:t>
            </a:r>
            <a:endParaRPr lang="en-US" sz="1400" dirty="0"/>
          </a:p>
          <a:p>
            <a:pPr marL="342900" indent="-342900">
              <a:spcAft>
                <a:spcPts val="800"/>
              </a:spcAft>
              <a:buSzPct val="100000"/>
              <a:buChar char="•"/>
            </a:pPr>
            <a:r>
              <a:rPr lang="en-US" sz="1400" dirty="0">
                <a:solidFill>
                  <a:srgbClr val="5A6472"/>
                </a:solidFill>
                <a:latin typeface="Calibri" pitchFamily="34" charset="0"/>
                <a:ea typeface="Calibri" pitchFamily="34" charset="-122"/>
                <a:cs typeface="Calibri" pitchFamily="34" charset="-120"/>
              </a:rPr>
              <a:t>Everything loads on demand — large databases stay responsive</a:t>
            </a:r>
            <a:endParaRPr lang="en-US" sz="1400" dirty="0"/>
          </a:p>
          <a:p>
            <a:pPr marL="342900" indent="-342900">
              <a:spcAft>
                <a:spcPts val="800"/>
              </a:spcAft>
              <a:buSzPct val="100000"/>
              <a:buChar char="•"/>
            </a:pPr>
            <a:r>
              <a:rPr lang="en-US" sz="1400" dirty="0">
                <a:solidFill>
                  <a:srgbClr val="5A6472"/>
                </a:solidFill>
                <a:latin typeface="Calibri" pitchFamily="34" charset="0"/>
                <a:ea typeface="Calibri" pitchFamily="34" charset="-122"/>
                <a:cs typeface="Calibri" pitchFamily="34" charset="-120"/>
              </a:rPr>
              <a:t>Double-click a table to open its details tab</a:t>
            </a:r>
            <a:endParaRPr lang="en-US" sz="1400" dirty="0"/>
          </a:p>
        </p:txBody>
      </p:sp>
      <p:sp>
        <p:nvSpPr>
          <p:cNvPr id="5" name="Text 3"/>
          <p:cNvSpPr/>
          <p:nvPr/>
        </p:nvSpPr>
        <p:spPr>
          <a:xfrm>
            <a:off x="548640" y="4069080"/>
            <a:ext cx="5486400" cy="320040"/>
          </a:xfrm>
          <a:prstGeom prst="rect">
            <a:avLst/>
          </a:prstGeom>
          <a:noFill/>
          <a:ln/>
        </p:spPr>
        <p:txBody>
          <a:bodyPr wrap="square" lIns="0" tIns="0" rIns="0" bIns="0" rtlCol="0" anchor="ctr"/>
          <a:lstStyle/>
          <a:p>
            <a:pPr indent="0" marL="0">
              <a:buNone/>
            </a:pPr>
            <a:r>
              <a:rPr lang="en-US" sz="1500" b="1" dirty="0">
                <a:solidFill>
                  <a:srgbClr val="1B1D22"/>
                </a:solidFill>
                <a:latin typeface="Calibri" pitchFamily="34" charset="0"/>
                <a:ea typeface="Calibri" pitchFamily="34" charset="-122"/>
                <a:cs typeface="Calibri" pitchFamily="34" charset="-120"/>
              </a:rPr>
              <a:t>Every query tab is independent</a:t>
            </a:r>
            <a:endParaRPr lang="en-US" sz="1500" dirty="0"/>
          </a:p>
        </p:txBody>
      </p:sp>
      <p:sp>
        <p:nvSpPr>
          <p:cNvPr id="6" name="Text 4"/>
          <p:cNvSpPr/>
          <p:nvPr/>
        </p:nvSpPr>
        <p:spPr>
          <a:xfrm>
            <a:off x="548640" y="4434840"/>
            <a:ext cx="5394960" cy="1188720"/>
          </a:xfrm>
          <a:prstGeom prst="rect">
            <a:avLst/>
          </a:prstGeom>
          <a:noFill/>
          <a:ln/>
        </p:spPr>
        <p:txBody>
          <a:bodyPr wrap="square" lIns="0" tIns="0" rIns="0" bIns="0" rtlCol="0" anchor="t"/>
          <a:lstStyle/>
          <a:p>
            <a:pPr indent="0" marL="0">
              <a:buNone/>
            </a:pPr>
            <a:r>
              <a:rPr lang="en-US" sz="1300" dirty="0">
                <a:solidFill>
                  <a:srgbClr val="5A6472"/>
                </a:solidFill>
                <a:latin typeface="Calibri" pitchFamily="34" charset="0"/>
                <a:ea typeface="Calibri" pitchFamily="34" charset="-122"/>
                <a:cs typeface="Calibri" pitchFamily="34" charset="-120"/>
              </a:rPr>
              <a:t>Each tab keeps its own SQL, its own connection and its own results — so you can point two tabs at two databases and compare them side by side.</a:t>
            </a:r>
            <a:endParaRPr lang="en-US" sz="1300" dirty="0"/>
          </a:p>
        </p:txBody>
      </p:sp>
      <p:sp>
        <p:nvSpPr>
          <p:cNvPr id="7" name="Shape 5"/>
          <p:cNvSpPr/>
          <p:nvPr/>
        </p:nvSpPr>
        <p:spPr>
          <a:xfrm>
            <a:off x="6309360" y="1691640"/>
            <a:ext cx="5303520" cy="3931920"/>
          </a:xfrm>
          <a:prstGeom prst="roundRect">
            <a:avLst>
              <a:gd name="adj" fmla="val 1163"/>
            </a:avLst>
          </a:prstGeom>
          <a:solidFill>
            <a:srgbClr val="11161C"/>
          </a:solidFill>
          <a:ln w="9525">
            <a:solidFill>
              <a:srgbClr val="11161C"/>
            </a:solidFill>
            <a:prstDash val="solid"/>
          </a:ln>
        </p:spPr>
      </p:sp>
      <p:sp>
        <p:nvSpPr>
          <p:cNvPr id="8" name="Text 6"/>
          <p:cNvSpPr/>
          <p:nvPr/>
        </p:nvSpPr>
        <p:spPr>
          <a:xfrm>
            <a:off x="6492240" y="1837944"/>
            <a:ext cx="4937760" cy="3639312"/>
          </a:xfrm>
          <a:prstGeom prst="rect">
            <a:avLst/>
          </a:prstGeom>
          <a:noFill/>
          <a:ln/>
        </p:spPr>
        <p:txBody>
          <a:bodyPr wrap="square" lIns="0" tIns="0" rIns="0" bIns="0" rtlCol="0" anchor="t"/>
          <a:lstStyle/>
          <a:p>
            <a:pPr indent="0" marL="0">
              <a:lnSpc>
                <a:spcPct val="115000"/>
              </a:lnSpc>
              <a:buNone/>
            </a:pPr>
            <a:r>
              <a:rPr lang="en-US" sz="1150" dirty="0">
                <a:solidFill>
                  <a:srgbClr val="4FD6E6"/>
                </a:solidFill>
                <a:latin typeface="Courier New" pitchFamily="34" charset="0"/>
                <a:ea typeface="Courier New" pitchFamily="34" charset="-122"/>
                <a:cs typeface="Courier New" pitchFamily="34" charset="-120"/>
              </a:rPr>
              <a:t>SELECT</a:t>
            </a:r>
            <a:endParaRPr lang="en-US" sz="1150" dirty="0"/>
          </a:p>
          <a:p>
            <a:pPr indent="0" marL="0">
              <a:lnSpc>
                <a:spcPct val="115000"/>
              </a:lnSpc>
              <a:buNone/>
            </a:pPr>
            <a:r>
              <a:rPr lang="en-US" sz="1150" dirty="0">
                <a:solidFill>
                  <a:srgbClr val="D6DCE4"/>
                </a:solidFill>
                <a:latin typeface="Courier New" pitchFamily="34" charset="0"/>
                <a:ea typeface="Courier New" pitchFamily="34" charset="-122"/>
                <a:cs typeface="Courier New" pitchFamily="34" charset="-120"/>
              </a:rPr>
              <a:t>   c.customer_id,</a:t>
            </a:r>
            <a:endParaRPr lang="en-US" sz="1150" dirty="0"/>
          </a:p>
          <a:p>
            <a:pPr indent="0" marL="0">
              <a:lnSpc>
                <a:spcPct val="115000"/>
              </a:lnSpc>
              <a:buNone/>
            </a:pPr>
            <a:r>
              <a:rPr lang="en-US" sz="1150" dirty="0">
                <a:solidFill>
                  <a:srgbClr val="D6DCE4"/>
                </a:solidFill>
                <a:latin typeface="Courier New" pitchFamily="34" charset="0"/>
                <a:ea typeface="Courier New" pitchFamily="34" charset="-122"/>
                <a:cs typeface="Courier New" pitchFamily="34" charset="-120"/>
              </a:rPr>
              <a:t>   c.name,</a:t>
            </a:r>
            <a:endParaRPr lang="en-US" sz="1150" dirty="0"/>
          </a:p>
          <a:p>
            <a:pPr indent="0" marL="0">
              <a:lnSpc>
                <a:spcPct val="115000"/>
              </a:lnSpc>
              <a:buNone/>
            </a:pPr>
            <a:r>
              <a:rPr lang="en-US" sz="1150" dirty="0">
                <a:solidFill>
                  <a:srgbClr val="D6DCE4"/>
                </a:solidFill>
                <a:latin typeface="Courier New" pitchFamily="34" charset="0"/>
                <a:ea typeface="Courier New" pitchFamily="34" charset="-122"/>
                <a:cs typeface="Courier New" pitchFamily="34" charset="-120"/>
              </a:rPr>
              <a:t>   o.order_date</a:t>
            </a:r>
            <a:endParaRPr lang="en-US" sz="1150" dirty="0"/>
          </a:p>
          <a:p>
            <a:pPr indent="0" marL="0">
              <a:lnSpc>
                <a:spcPct val="115000"/>
              </a:lnSpc>
              <a:buNone/>
            </a:pPr>
            <a:r>
              <a:rPr lang="en-US" sz="1150" dirty="0">
                <a:solidFill>
                  <a:srgbClr val="4FD6E6"/>
                </a:solidFill>
                <a:latin typeface="Courier New" pitchFamily="34" charset="0"/>
                <a:ea typeface="Courier New" pitchFamily="34" charset="-122"/>
                <a:cs typeface="Courier New" pitchFamily="34" charset="-120"/>
              </a:rPr>
              <a:t>FROM   customer c</a:t>
            </a:r>
            <a:endParaRPr lang="en-US" sz="1150" dirty="0"/>
          </a:p>
          <a:p>
            <a:pPr indent="0" marL="0">
              <a:lnSpc>
                <a:spcPct val="115000"/>
              </a:lnSpc>
              <a:buNone/>
            </a:pPr>
            <a:r>
              <a:rPr lang="en-US" sz="1150" dirty="0">
                <a:solidFill>
                  <a:srgbClr val="4FD6E6"/>
                </a:solidFill>
                <a:latin typeface="Courier New" pitchFamily="34" charset="0"/>
                <a:ea typeface="Courier New" pitchFamily="34" charset="-122"/>
                <a:cs typeface="Courier New" pitchFamily="34" charset="-120"/>
              </a:rPr>
              <a:t>JOIN   orders   o</a:t>
            </a:r>
            <a:endParaRPr lang="en-US" sz="1150" dirty="0"/>
          </a:p>
          <a:p>
            <a:pPr indent="0" marL="0">
              <a:lnSpc>
                <a:spcPct val="115000"/>
              </a:lnSpc>
              <a:buNone/>
            </a:pPr>
            <a:r>
              <a:rPr lang="en-US" sz="1150" dirty="0">
                <a:solidFill>
                  <a:srgbClr val="D6DCE4"/>
                </a:solidFill>
                <a:latin typeface="Courier New" pitchFamily="34" charset="0"/>
                <a:ea typeface="Courier New" pitchFamily="34" charset="-122"/>
                <a:cs typeface="Courier New" pitchFamily="34" charset="-120"/>
              </a:rPr>
              <a:t>  ON   o.customer_id = c.customer_id</a:t>
            </a:r>
            <a:endParaRPr lang="en-US" sz="1150" dirty="0"/>
          </a:p>
          <a:p>
            <a:pPr indent="0" marL="0">
              <a:lnSpc>
                <a:spcPct val="115000"/>
              </a:lnSpc>
              <a:buNone/>
            </a:pPr>
            <a:r>
              <a:rPr lang="en-US" sz="1150" dirty="0">
                <a:solidFill>
                  <a:srgbClr val="4FD6E6"/>
                </a:solidFill>
                <a:latin typeface="Courier New" pitchFamily="34" charset="0"/>
                <a:ea typeface="Courier New" pitchFamily="34" charset="-122"/>
                <a:cs typeface="Courier New" pitchFamily="34" charset="-120"/>
              </a:rPr>
              <a:t>WHERE  o.order_date &gt; :since</a:t>
            </a:r>
            <a:endParaRPr lang="en-US" sz="1150" dirty="0"/>
          </a:p>
          <a:p>
            <a:pPr indent="0" marL="0">
              <a:lnSpc>
                <a:spcPct val="115000"/>
              </a:lnSpc>
              <a:buNone/>
            </a:pPr>
            <a:r>
              <a:rPr lang="en-US" sz="1150" dirty="0">
                <a:solidFill>
                  <a:srgbClr val="4FD6E6"/>
                </a:solidFill>
                <a:latin typeface="Courier New" pitchFamily="34" charset="0"/>
                <a:ea typeface="Courier New" pitchFamily="34" charset="-122"/>
                <a:cs typeface="Courier New" pitchFamily="34" charset="-120"/>
              </a:rPr>
              <a:t>ORDER  BY o.order_date DESC;</a:t>
            </a:r>
            <a:endParaRPr lang="en-US" sz="1150" dirty="0"/>
          </a:p>
          <a:p>
            <a:pPr indent="0" marL="0">
              <a:lnSpc>
                <a:spcPct val="115000"/>
              </a:lnSpc>
              <a:buNone/>
            </a:pPr>
            <a:endParaRPr lang="en-US" sz="1150" dirty="0"/>
          </a:p>
          <a:p>
            <a:pPr indent="0" marL="0">
              <a:lnSpc>
                <a:spcPct val="115000"/>
              </a:lnSpc>
              <a:buNone/>
            </a:pPr>
            <a:r>
              <a:rPr lang="en-US" sz="1150" dirty="0">
                <a:solidFill>
                  <a:srgbClr val="6FA96F"/>
                </a:solidFill>
                <a:latin typeface="Courier New" pitchFamily="34" charset="0"/>
                <a:ea typeface="Courier New" pitchFamily="34" charset="-122"/>
                <a:cs typeface="Courier New" pitchFamily="34" charset="-120"/>
              </a:rPr>
              <a:t>-- F5 runs the tab</a:t>
            </a:r>
            <a:endParaRPr lang="en-US" sz="1150" dirty="0"/>
          </a:p>
          <a:p>
            <a:pPr indent="0" marL="0">
              <a:lnSpc>
                <a:spcPct val="115000"/>
              </a:lnSpc>
              <a:buNone/>
            </a:pPr>
            <a:r>
              <a:rPr lang="en-US" sz="1150" dirty="0">
                <a:solidFill>
                  <a:srgbClr val="6FA96F"/>
                </a:solidFill>
                <a:latin typeface="Courier New" pitchFamily="34" charset="0"/>
                <a:ea typeface="Courier New" pitchFamily="34" charset="-122"/>
                <a:cs typeface="Courier New" pitchFamily="34" charset="-120"/>
              </a:rPr>
              <a:t>-- Ctrl+F5 runs the selection</a:t>
            </a:r>
            <a:endParaRPr lang="en-US" sz="11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7315200" cy="256032"/>
          </a:xfrm>
          <a:prstGeom prst="rect">
            <a:avLst/>
          </a:prstGeom>
          <a:noFill/>
          <a:ln/>
        </p:spPr>
        <p:txBody>
          <a:bodyPr wrap="square" lIns="0" tIns="0" rIns="0" bIns="0" rtlCol="0" anchor="ctr"/>
          <a:lstStyle/>
          <a:p>
            <a:pPr indent="0" marL="0">
              <a:buNone/>
            </a:pPr>
            <a:r>
              <a:rPr lang="en-US" sz="1100" b="1" spc="200" kern="0" dirty="0">
                <a:solidFill>
                  <a:srgbClr val="2D8CFF"/>
                </a:solidFill>
                <a:latin typeface="Calibri" pitchFamily="34" charset="0"/>
                <a:ea typeface="Calibri" pitchFamily="34" charset="-122"/>
                <a:cs typeface="Calibri" pitchFamily="34" charset="-120"/>
              </a:rPr>
              <a:t>AUTO-COMPLETION</a:t>
            </a:r>
            <a:endParaRPr lang="en-US" sz="1100" dirty="0"/>
          </a:p>
        </p:txBody>
      </p:sp>
      <p:sp>
        <p:nvSpPr>
          <p:cNvPr id="3" name="Text 1"/>
          <p:cNvSpPr/>
          <p:nvPr/>
        </p:nvSpPr>
        <p:spPr>
          <a:xfrm>
            <a:off x="548640" y="713232"/>
            <a:ext cx="11064240" cy="685800"/>
          </a:xfrm>
          <a:prstGeom prst="rect">
            <a:avLst/>
          </a:prstGeom>
          <a:noFill/>
          <a:ln/>
        </p:spPr>
        <p:txBody>
          <a:bodyPr wrap="square" lIns="0" tIns="0" rIns="0" bIns="0" rtlCol="0" anchor="ctr"/>
          <a:lstStyle/>
          <a:p>
            <a:pPr indent="0" marL="0">
              <a:buNone/>
            </a:pPr>
            <a:r>
              <a:rPr lang="en-US" sz="3400" b="1" dirty="0">
                <a:solidFill>
                  <a:srgbClr val="1B1D22"/>
                </a:solidFill>
                <a:latin typeface="Calibri" pitchFamily="34" charset="0"/>
                <a:ea typeface="Calibri" pitchFamily="34" charset="-122"/>
                <a:cs typeface="Calibri" pitchFamily="34" charset="-120"/>
              </a:rPr>
              <a:t>Suggestions that understand your query</a:t>
            </a:r>
            <a:endParaRPr lang="en-US" sz="3400" dirty="0"/>
          </a:p>
        </p:txBody>
      </p:sp>
      <p:sp>
        <p:nvSpPr>
          <p:cNvPr id="4" name="Shape 2"/>
          <p:cNvSpPr/>
          <p:nvPr/>
        </p:nvSpPr>
        <p:spPr>
          <a:xfrm>
            <a:off x="548640" y="1645920"/>
            <a:ext cx="3520440" cy="1691640"/>
          </a:xfrm>
          <a:prstGeom prst="roundRect">
            <a:avLst>
              <a:gd name="adj" fmla="val 3243"/>
            </a:avLst>
          </a:prstGeom>
          <a:solidFill>
            <a:srgbClr val="F4F6F8"/>
          </a:solidFill>
          <a:ln w="9525">
            <a:solidFill>
              <a:srgbClr val="DCE2EA"/>
            </a:solidFill>
            <a:prstDash val="solid"/>
          </a:ln>
        </p:spPr>
      </p:sp>
      <p:sp>
        <p:nvSpPr>
          <p:cNvPr id="5" name="Shape 3"/>
          <p:cNvSpPr/>
          <p:nvPr/>
        </p:nvSpPr>
        <p:spPr>
          <a:xfrm>
            <a:off x="749808" y="1847088"/>
            <a:ext cx="155448" cy="155448"/>
          </a:xfrm>
          <a:prstGeom prst="roundRect">
            <a:avLst>
              <a:gd name="adj" fmla="val 23529"/>
            </a:avLst>
          </a:prstGeom>
          <a:solidFill>
            <a:srgbClr val="2D8CFF"/>
          </a:solidFill>
          <a:ln w="12700">
            <a:solidFill>
              <a:srgbClr val="2D8CFF"/>
            </a:solidFill>
            <a:prstDash val="solid"/>
          </a:ln>
        </p:spPr>
      </p:sp>
      <p:sp>
        <p:nvSpPr>
          <p:cNvPr id="6" name="Text 4"/>
          <p:cNvSpPr/>
          <p:nvPr/>
        </p:nvSpPr>
        <p:spPr>
          <a:xfrm>
            <a:off x="1005840" y="1773936"/>
            <a:ext cx="2880360" cy="292608"/>
          </a:xfrm>
          <a:prstGeom prst="rect">
            <a:avLst/>
          </a:prstGeom>
          <a:noFill/>
          <a:ln/>
        </p:spPr>
        <p:txBody>
          <a:bodyPr wrap="square" lIns="0" tIns="0" rIns="0" bIns="0" rtlCol="0" anchor="ctr"/>
          <a:lstStyle/>
          <a:p>
            <a:pPr indent="0" marL="0">
              <a:buNone/>
            </a:pPr>
            <a:r>
              <a:rPr lang="en-US" sz="1300" b="1" dirty="0">
                <a:solidFill>
                  <a:srgbClr val="1B1D22"/>
                </a:solidFill>
                <a:latin typeface="Calibri" pitchFamily="34" charset="0"/>
                <a:ea typeface="Calibri" pitchFamily="34" charset="-122"/>
                <a:cs typeface="Calibri" pitchFamily="34" charset="-120"/>
              </a:rPr>
              <a:t>After FROM or JOIN</a:t>
            </a:r>
            <a:endParaRPr lang="en-US" sz="1300" dirty="0"/>
          </a:p>
        </p:txBody>
      </p:sp>
      <p:sp>
        <p:nvSpPr>
          <p:cNvPr id="7" name="Text 5"/>
          <p:cNvSpPr/>
          <p:nvPr/>
        </p:nvSpPr>
        <p:spPr>
          <a:xfrm>
            <a:off x="749808" y="2121408"/>
            <a:ext cx="3118104" cy="1088136"/>
          </a:xfrm>
          <a:prstGeom prst="rect">
            <a:avLst/>
          </a:prstGeom>
          <a:noFill/>
          <a:ln/>
        </p:spPr>
        <p:txBody>
          <a:bodyPr wrap="square" lIns="0" tIns="0" rIns="0" bIns="0" rtlCol="0" anchor="t"/>
          <a:lstStyle/>
          <a:p>
            <a:pPr indent="0" marL="0">
              <a:lnSpc>
                <a:spcPct val="105000"/>
              </a:lnSpc>
              <a:buNone/>
            </a:pPr>
            <a:r>
              <a:rPr lang="en-US" sz="1050" dirty="0">
                <a:solidFill>
                  <a:srgbClr val="5A6472"/>
                </a:solidFill>
                <a:latin typeface="Calibri" pitchFamily="34" charset="0"/>
                <a:ea typeface="Calibri" pitchFamily="34" charset="-122"/>
                <a:cs typeface="Calibri" pitchFamily="34" charset="-120"/>
              </a:rPr>
              <a:t>Offers tables and views, filtered as you type. Choosing one replaces the partial name.</a:t>
            </a:r>
            <a:endParaRPr lang="en-US" sz="1050" dirty="0"/>
          </a:p>
        </p:txBody>
      </p:sp>
      <p:sp>
        <p:nvSpPr>
          <p:cNvPr id="8" name="Shape 6"/>
          <p:cNvSpPr/>
          <p:nvPr/>
        </p:nvSpPr>
        <p:spPr>
          <a:xfrm>
            <a:off x="4343400" y="1645920"/>
            <a:ext cx="3520440" cy="1691640"/>
          </a:xfrm>
          <a:prstGeom prst="roundRect">
            <a:avLst>
              <a:gd name="adj" fmla="val 3243"/>
            </a:avLst>
          </a:prstGeom>
          <a:solidFill>
            <a:srgbClr val="F4F6F8"/>
          </a:solidFill>
          <a:ln w="9525">
            <a:solidFill>
              <a:srgbClr val="DCE2EA"/>
            </a:solidFill>
            <a:prstDash val="solid"/>
          </a:ln>
        </p:spPr>
      </p:sp>
      <p:sp>
        <p:nvSpPr>
          <p:cNvPr id="9" name="Shape 7"/>
          <p:cNvSpPr/>
          <p:nvPr/>
        </p:nvSpPr>
        <p:spPr>
          <a:xfrm>
            <a:off x="4544568" y="1847088"/>
            <a:ext cx="155448" cy="155448"/>
          </a:xfrm>
          <a:prstGeom prst="roundRect">
            <a:avLst>
              <a:gd name="adj" fmla="val 23529"/>
            </a:avLst>
          </a:prstGeom>
          <a:solidFill>
            <a:srgbClr val="4FD6E6"/>
          </a:solidFill>
          <a:ln w="12700">
            <a:solidFill>
              <a:srgbClr val="4FD6E6"/>
            </a:solidFill>
            <a:prstDash val="solid"/>
          </a:ln>
        </p:spPr>
      </p:sp>
      <p:sp>
        <p:nvSpPr>
          <p:cNvPr id="10" name="Text 8"/>
          <p:cNvSpPr/>
          <p:nvPr/>
        </p:nvSpPr>
        <p:spPr>
          <a:xfrm>
            <a:off x="4800600" y="1773936"/>
            <a:ext cx="2880360" cy="292608"/>
          </a:xfrm>
          <a:prstGeom prst="rect">
            <a:avLst/>
          </a:prstGeom>
          <a:noFill/>
          <a:ln/>
        </p:spPr>
        <p:txBody>
          <a:bodyPr wrap="square" lIns="0" tIns="0" rIns="0" bIns="0" rtlCol="0" anchor="ctr"/>
          <a:lstStyle/>
          <a:p>
            <a:pPr indent="0" marL="0">
              <a:buNone/>
            </a:pPr>
            <a:r>
              <a:rPr lang="en-US" sz="1300" b="1" dirty="0">
                <a:solidFill>
                  <a:srgbClr val="1B1D22"/>
                </a:solidFill>
                <a:latin typeface="Calibri" pitchFamily="34" charset="0"/>
                <a:ea typeface="Calibri" pitchFamily="34" charset="-122"/>
                <a:cs typeface="Calibri" pitchFamily="34" charset="-120"/>
              </a:rPr>
              <a:t>After WHERE or SELECT</a:t>
            </a:r>
            <a:endParaRPr lang="en-US" sz="1300" dirty="0"/>
          </a:p>
        </p:txBody>
      </p:sp>
      <p:sp>
        <p:nvSpPr>
          <p:cNvPr id="11" name="Text 9"/>
          <p:cNvSpPr/>
          <p:nvPr/>
        </p:nvSpPr>
        <p:spPr>
          <a:xfrm>
            <a:off x="4544568" y="2121408"/>
            <a:ext cx="3118104" cy="1088136"/>
          </a:xfrm>
          <a:prstGeom prst="rect">
            <a:avLst/>
          </a:prstGeom>
          <a:noFill/>
          <a:ln/>
        </p:spPr>
        <p:txBody>
          <a:bodyPr wrap="square" lIns="0" tIns="0" rIns="0" bIns="0" rtlCol="0" anchor="t"/>
          <a:lstStyle/>
          <a:p>
            <a:pPr indent="0" marL="0">
              <a:lnSpc>
                <a:spcPct val="105000"/>
              </a:lnSpc>
              <a:buNone/>
            </a:pPr>
            <a:r>
              <a:rPr lang="en-US" sz="1050" dirty="0">
                <a:solidFill>
                  <a:srgbClr val="5A6472"/>
                </a:solidFill>
                <a:latin typeface="Calibri" pitchFamily="34" charset="0"/>
                <a:ea typeface="Calibri" pitchFamily="34" charset="-122"/>
                <a:cs typeface="Calibri" pitchFamily="34" charset="-120"/>
              </a:rPr>
              <a:t>Offers columns from the tables in that statement's FROM clause — not every column in the database.</a:t>
            </a:r>
            <a:endParaRPr lang="en-US" sz="1050" dirty="0"/>
          </a:p>
        </p:txBody>
      </p:sp>
      <p:sp>
        <p:nvSpPr>
          <p:cNvPr id="12" name="Shape 10"/>
          <p:cNvSpPr/>
          <p:nvPr/>
        </p:nvSpPr>
        <p:spPr>
          <a:xfrm>
            <a:off x="8138160" y="1645920"/>
            <a:ext cx="3520440" cy="1691640"/>
          </a:xfrm>
          <a:prstGeom prst="roundRect">
            <a:avLst>
              <a:gd name="adj" fmla="val 3243"/>
            </a:avLst>
          </a:prstGeom>
          <a:solidFill>
            <a:srgbClr val="F4F6F8"/>
          </a:solidFill>
          <a:ln w="9525">
            <a:solidFill>
              <a:srgbClr val="DCE2EA"/>
            </a:solidFill>
            <a:prstDash val="solid"/>
          </a:ln>
        </p:spPr>
      </p:sp>
      <p:sp>
        <p:nvSpPr>
          <p:cNvPr id="13" name="Shape 11"/>
          <p:cNvSpPr/>
          <p:nvPr/>
        </p:nvSpPr>
        <p:spPr>
          <a:xfrm>
            <a:off x="8339328" y="1847088"/>
            <a:ext cx="155448" cy="155448"/>
          </a:xfrm>
          <a:prstGeom prst="roundRect">
            <a:avLst>
              <a:gd name="adj" fmla="val 23529"/>
            </a:avLst>
          </a:prstGeom>
          <a:solidFill>
            <a:srgbClr val="2D8CFF"/>
          </a:solidFill>
          <a:ln w="12700">
            <a:solidFill>
              <a:srgbClr val="2D8CFF"/>
            </a:solidFill>
            <a:prstDash val="solid"/>
          </a:ln>
        </p:spPr>
      </p:sp>
      <p:sp>
        <p:nvSpPr>
          <p:cNvPr id="14" name="Text 12"/>
          <p:cNvSpPr/>
          <p:nvPr/>
        </p:nvSpPr>
        <p:spPr>
          <a:xfrm>
            <a:off x="8595360" y="1773936"/>
            <a:ext cx="2880360" cy="292608"/>
          </a:xfrm>
          <a:prstGeom prst="rect">
            <a:avLst/>
          </a:prstGeom>
          <a:noFill/>
          <a:ln/>
        </p:spPr>
        <p:txBody>
          <a:bodyPr wrap="square" lIns="0" tIns="0" rIns="0" bIns="0" rtlCol="0" anchor="ctr"/>
          <a:lstStyle/>
          <a:p>
            <a:pPr indent="0" marL="0">
              <a:buNone/>
            </a:pPr>
            <a:r>
              <a:rPr lang="en-US" sz="1300" b="1" dirty="0">
                <a:solidFill>
                  <a:srgbClr val="1B1D22"/>
                </a:solidFill>
                <a:latin typeface="Calibri" pitchFamily="34" charset="0"/>
                <a:ea typeface="Calibri" pitchFamily="34" charset="-122"/>
                <a:cs typeface="Calibri" pitchFamily="34" charset="-120"/>
              </a:rPr>
              <a:t>After alias. or schema.</a:t>
            </a:r>
            <a:endParaRPr lang="en-US" sz="1300" dirty="0"/>
          </a:p>
        </p:txBody>
      </p:sp>
      <p:sp>
        <p:nvSpPr>
          <p:cNvPr id="15" name="Text 13"/>
          <p:cNvSpPr/>
          <p:nvPr/>
        </p:nvSpPr>
        <p:spPr>
          <a:xfrm>
            <a:off x="8339328" y="2121408"/>
            <a:ext cx="3118104" cy="1088136"/>
          </a:xfrm>
          <a:prstGeom prst="rect">
            <a:avLst/>
          </a:prstGeom>
          <a:noFill/>
          <a:ln/>
        </p:spPr>
        <p:txBody>
          <a:bodyPr wrap="square" lIns="0" tIns="0" rIns="0" bIns="0" rtlCol="0" anchor="t"/>
          <a:lstStyle/>
          <a:p>
            <a:pPr indent="0" marL="0">
              <a:lnSpc>
                <a:spcPct val="105000"/>
              </a:lnSpc>
              <a:buNone/>
            </a:pPr>
            <a:r>
              <a:rPr lang="en-US" sz="1050" dirty="0">
                <a:solidFill>
                  <a:srgbClr val="5A6472"/>
                </a:solidFill>
                <a:latin typeface="Calibri" pitchFamily="34" charset="0"/>
                <a:ea typeface="Calibri" pitchFamily="34" charset="-122"/>
                <a:cs typeface="Calibri" pitchFamily="34" charset="-120"/>
              </a:rPr>
              <a:t>Narrows to that one table's columns, or to the objects in that schema.</a:t>
            </a:r>
            <a:endParaRPr lang="en-US" sz="1050" dirty="0"/>
          </a:p>
        </p:txBody>
      </p:sp>
      <p:sp>
        <p:nvSpPr>
          <p:cNvPr id="16" name="Text 14"/>
          <p:cNvSpPr/>
          <p:nvPr/>
        </p:nvSpPr>
        <p:spPr>
          <a:xfrm>
            <a:off x="548640" y="3749040"/>
            <a:ext cx="7315200" cy="320040"/>
          </a:xfrm>
          <a:prstGeom prst="rect">
            <a:avLst/>
          </a:prstGeom>
          <a:noFill/>
          <a:ln/>
        </p:spPr>
        <p:txBody>
          <a:bodyPr wrap="square" lIns="0" tIns="0" rIns="0" bIns="0" rtlCol="0" anchor="ctr"/>
          <a:lstStyle/>
          <a:p>
            <a:pPr indent="0" marL="0">
              <a:buNone/>
            </a:pPr>
            <a:r>
              <a:rPr lang="en-US" sz="1500" b="1" dirty="0">
                <a:solidFill>
                  <a:srgbClr val="1B1D22"/>
                </a:solidFill>
                <a:latin typeface="Calibri" pitchFamily="34" charset="0"/>
                <a:ea typeface="Calibri" pitchFamily="34" charset="-122"/>
                <a:cs typeface="Calibri" pitchFamily="34" charset="-120"/>
              </a:rPr>
              <a:t>It reads the statement, not just the last word</a:t>
            </a:r>
            <a:endParaRPr lang="en-US" sz="1500" dirty="0"/>
          </a:p>
        </p:txBody>
      </p:sp>
      <p:sp>
        <p:nvSpPr>
          <p:cNvPr id="17" name="Text 15"/>
          <p:cNvSpPr/>
          <p:nvPr/>
        </p:nvSpPr>
        <p:spPr>
          <a:xfrm>
            <a:off x="548640" y="4160520"/>
            <a:ext cx="5394960" cy="173736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5A6472"/>
                </a:solidFill>
                <a:latin typeface="Calibri" pitchFamily="34" charset="0"/>
                <a:ea typeface="Calibri" pitchFamily="34" charset="-122"/>
                <a:cs typeface="Calibri" pitchFamily="34" charset="-120"/>
              </a:rPr>
              <a:t>Table aliases are resolved, so c. gives you customer columns</a:t>
            </a:r>
            <a:endParaRPr lang="en-US" sz="1300" dirty="0"/>
          </a:p>
          <a:p>
            <a:pPr marL="342900" indent="-342900">
              <a:spcAft>
                <a:spcPts val="800"/>
              </a:spcAft>
              <a:buSzPct val="100000"/>
              <a:buChar char="•"/>
            </a:pPr>
            <a:r>
              <a:rPr lang="en-US" sz="1300" dirty="0">
                <a:solidFill>
                  <a:srgbClr val="5A6472"/>
                </a:solidFill>
                <a:latin typeface="Calibri" pitchFamily="34" charset="0"/>
                <a:ea typeface="Calibri" pitchFamily="34" charset="-122"/>
                <a:cs typeface="Calibri" pitchFamily="34" charset="-120"/>
              </a:rPr>
              <a:t>Words inside strings and comments are ignored</a:t>
            </a:r>
            <a:endParaRPr lang="en-US" sz="1300" dirty="0"/>
          </a:p>
          <a:p>
            <a:pPr marL="342900" indent="-342900">
              <a:spcAft>
                <a:spcPts val="800"/>
              </a:spcAft>
              <a:buSzPct val="100000"/>
              <a:buChar char="•"/>
            </a:pPr>
            <a:r>
              <a:rPr lang="en-US" sz="1300" dirty="0">
                <a:solidFill>
                  <a:srgbClr val="5A6472"/>
                </a:solidFill>
                <a:latin typeface="Calibri" pitchFamily="34" charset="0"/>
                <a:ea typeface="Calibri" pitchFamily="34" charset="-122"/>
                <a:cs typeface="Calibri" pitchFamily="34" charset="-120"/>
              </a:rPr>
              <a:t>Only the statement under the cursor is considered</a:t>
            </a:r>
            <a:endParaRPr lang="en-US" sz="1300" dirty="0"/>
          </a:p>
          <a:p>
            <a:pPr marL="342900" indent="-342900">
              <a:spcAft>
                <a:spcPts val="800"/>
              </a:spcAft>
              <a:buSzPct val="100000"/>
              <a:buChar char="•"/>
            </a:pPr>
            <a:r>
              <a:rPr lang="en-US" sz="1300" dirty="0">
                <a:solidFill>
                  <a:srgbClr val="5A6472"/>
                </a:solidFill>
                <a:latin typeface="Calibri" pitchFamily="34" charset="0"/>
                <a:ea typeface="Calibri" pitchFamily="34" charset="-122"/>
                <a:cs typeface="Calibri" pitchFamily="34" charset="-120"/>
              </a:rPr>
              <a:t>Ctrl+Space forces the list open at any time</a:t>
            </a:r>
            <a:endParaRPr lang="en-US" sz="1300" dirty="0"/>
          </a:p>
        </p:txBody>
      </p:sp>
      <p:sp>
        <p:nvSpPr>
          <p:cNvPr id="18" name="Shape 16"/>
          <p:cNvSpPr/>
          <p:nvPr/>
        </p:nvSpPr>
        <p:spPr>
          <a:xfrm>
            <a:off x="6309360" y="3977640"/>
            <a:ext cx="5303520" cy="1691640"/>
          </a:xfrm>
          <a:prstGeom prst="roundRect">
            <a:avLst>
              <a:gd name="adj" fmla="val 2703"/>
            </a:avLst>
          </a:prstGeom>
          <a:solidFill>
            <a:srgbClr val="11161C"/>
          </a:solidFill>
          <a:ln w="9525">
            <a:solidFill>
              <a:srgbClr val="11161C"/>
            </a:solidFill>
            <a:prstDash val="solid"/>
          </a:ln>
        </p:spPr>
      </p:sp>
      <p:sp>
        <p:nvSpPr>
          <p:cNvPr id="19" name="Text 17"/>
          <p:cNvSpPr/>
          <p:nvPr/>
        </p:nvSpPr>
        <p:spPr>
          <a:xfrm>
            <a:off x="6492240" y="4123944"/>
            <a:ext cx="4937760" cy="1399032"/>
          </a:xfrm>
          <a:prstGeom prst="rect">
            <a:avLst/>
          </a:prstGeom>
          <a:noFill/>
          <a:ln/>
        </p:spPr>
        <p:txBody>
          <a:bodyPr wrap="square" lIns="0" tIns="0" rIns="0" bIns="0" rtlCol="0" anchor="t"/>
          <a:lstStyle/>
          <a:p>
            <a:pPr indent="0" marL="0">
              <a:lnSpc>
                <a:spcPct val="115000"/>
              </a:lnSpc>
              <a:buNone/>
            </a:pPr>
            <a:r>
              <a:rPr lang="en-US" sz="1150" dirty="0">
                <a:solidFill>
                  <a:srgbClr val="D6DCE4"/>
                </a:solidFill>
                <a:latin typeface="Courier New" pitchFamily="34" charset="0"/>
                <a:ea typeface="Courier New" pitchFamily="34" charset="-122"/>
                <a:cs typeface="Courier New" pitchFamily="34" charset="-120"/>
              </a:rPr>
              <a:t>SELECT * FROM cd_w</a:t>
            </a:r>
            <a:endParaRPr lang="en-US" sz="1150" dirty="0"/>
          </a:p>
          <a:p>
            <a:pPr indent="0" marL="0">
              <a:lnSpc>
                <a:spcPct val="115000"/>
              </a:lnSpc>
              <a:buNone/>
            </a:pPr>
            <a:r>
              <a:rPr lang="en-US" sz="1150" dirty="0">
                <a:solidFill>
                  <a:srgbClr val="6E7681"/>
                </a:solidFill>
                <a:latin typeface="Courier New" pitchFamily="34" charset="0"/>
                <a:ea typeface="Courier New" pitchFamily="34" charset="-122"/>
                <a:cs typeface="Courier New" pitchFamily="34" charset="-120"/>
              </a:rPr>
              <a:t>                 ┌──────────────────┐</a:t>
            </a:r>
            <a:endParaRPr lang="en-US" sz="1150" dirty="0"/>
          </a:p>
          <a:p>
            <a:pPr indent="0" marL="0">
              <a:lnSpc>
                <a:spcPct val="115000"/>
              </a:lnSpc>
              <a:buNone/>
            </a:pPr>
            <a:r>
              <a:rPr lang="en-US" sz="1150" dirty="0">
                <a:solidFill>
                  <a:srgbClr val="4FD6E6"/>
                </a:solidFill>
                <a:latin typeface="Courier New" pitchFamily="34" charset="0"/>
                <a:ea typeface="Courier New" pitchFamily="34" charset="-122"/>
                <a:cs typeface="Courier New" pitchFamily="34" charset="-120"/>
              </a:rPr>
              <a:t>                 │ cd_well          │</a:t>
            </a:r>
            <a:endParaRPr lang="en-US" sz="1150" dirty="0"/>
          </a:p>
          <a:p>
            <a:pPr indent="0" marL="0">
              <a:lnSpc>
                <a:spcPct val="115000"/>
              </a:lnSpc>
              <a:buNone/>
            </a:pPr>
            <a:r>
              <a:rPr lang="en-US" sz="1150" dirty="0">
                <a:solidFill>
                  <a:srgbClr val="D6DCE4"/>
                </a:solidFill>
                <a:latin typeface="Courier New" pitchFamily="34" charset="0"/>
                <a:ea typeface="Courier New" pitchFamily="34" charset="-122"/>
                <a:cs typeface="Courier New" pitchFamily="34" charset="-120"/>
              </a:rPr>
              <a:t>                 │ cd_well_source   │</a:t>
            </a:r>
            <a:endParaRPr lang="en-US" sz="1150" dirty="0"/>
          </a:p>
          <a:p>
            <a:pPr indent="0" marL="0">
              <a:lnSpc>
                <a:spcPct val="115000"/>
              </a:lnSpc>
              <a:buNone/>
            </a:pPr>
            <a:r>
              <a:rPr lang="en-US" sz="1150" dirty="0">
                <a:solidFill>
                  <a:srgbClr val="D6DCE4"/>
                </a:solidFill>
                <a:latin typeface="Courier New" pitchFamily="34" charset="0"/>
                <a:ea typeface="Courier New" pitchFamily="34" charset="-122"/>
                <a:cs typeface="Courier New" pitchFamily="34" charset="-120"/>
              </a:rPr>
              <a:t>                 │ cd_wellbore      │</a:t>
            </a:r>
            <a:endParaRPr lang="en-US" sz="1150" dirty="0"/>
          </a:p>
          <a:p>
            <a:pPr indent="0" marL="0">
              <a:lnSpc>
                <a:spcPct val="115000"/>
              </a:lnSpc>
              <a:buNone/>
            </a:pPr>
            <a:r>
              <a:rPr lang="en-US" sz="1150" dirty="0">
                <a:solidFill>
                  <a:srgbClr val="6E7681"/>
                </a:solidFill>
                <a:latin typeface="Courier New" pitchFamily="34" charset="0"/>
                <a:ea typeface="Courier New" pitchFamily="34" charset="-122"/>
                <a:cs typeface="Courier New" pitchFamily="34" charset="-120"/>
              </a:rPr>
              <a:t>                 └──────────────────┘</a:t>
            </a:r>
            <a:endParaRPr lang="en-US" sz="11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7315200" cy="256032"/>
          </a:xfrm>
          <a:prstGeom prst="rect">
            <a:avLst/>
          </a:prstGeom>
          <a:noFill/>
          <a:ln/>
        </p:spPr>
        <p:txBody>
          <a:bodyPr wrap="square" lIns="0" tIns="0" rIns="0" bIns="0" rtlCol="0" anchor="ctr"/>
          <a:lstStyle/>
          <a:p>
            <a:pPr indent="0" marL="0">
              <a:buNone/>
            </a:pPr>
            <a:r>
              <a:rPr lang="en-US" sz="1100" b="1" spc="200" kern="0" dirty="0">
                <a:solidFill>
                  <a:srgbClr val="2D8CFF"/>
                </a:solidFill>
                <a:latin typeface="Calibri" pitchFamily="34" charset="0"/>
                <a:ea typeface="Calibri" pitchFamily="34" charset="-122"/>
                <a:cs typeface="Calibri" pitchFamily="34" charset="-120"/>
              </a:rPr>
              <a:t>RESULTS</a:t>
            </a:r>
            <a:endParaRPr lang="en-US" sz="1100" dirty="0"/>
          </a:p>
        </p:txBody>
      </p:sp>
      <p:sp>
        <p:nvSpPr>
          <p:cNvPr id="3" name="Text 1"/>
          <p:cNvSpPr/>
          <p:nvPr/>
        </p:nvSpPr>
        <p:spPr>
          <a:xfrm>
            <a:off x="548640" y="713232"/>
            <a:ext cx="11064240" cy="685800"/>
          </a:xfrm>
          <a:prstGeom prst="rect">
            <a:avLst/>
          </a:prstGeom>
          <a:noFill/>
          <a:ln/>
        </p:spPr>
        <p:txBody>
          <a:bodyPr wrap="square" lIns="0" tIns="0" rIns="0" bIns="0" rtlCol="0" anchor="ctr"/>
          <a:lstStyle/>
          <a:p>
            <a:pPr indent="0" marL="0">
              <a:buNone/>
            </a:pPr>
            <a:r>
              <a:rPr lang="en-US" sz="3400" b="1" dirty="0">
                <a:solidFill>
                  <a:srgbClr val="1B1D22"/>
                </a:solidFill>
                <a:latin typeface="Calibri" pitchFamily="34" charset="0"/>
                <a:ea typeface="Calibri" pitchFamily="34" charset="-122"/>
                <a:cs typeface="Calibri" pitchFamily="34" charset="-120"/>
              </a:rPr>
              <a:t>Read results the way that suits the job</a:t>
            </a:r>
            <a:endParaRPr lang="en-US" sz="3400" dirty="0"/>
          </a:p>
        </p:txBody>
      </p:sp>
      <p:sp>
        <p:nvSpPr>
          <p:cNvPr id="4" name="Shape 2"/>
          <p:cNvSpPr/>
          <p:nvPr/>
        </p:nvSpPr>
        <p:spPr>
          <a:xfrm>
            <a:off x="548640" y="1645920"/>
            <a:ext cx="3520440" cy="2011680"/>
          </a:xfrm>
          <a:prstGeom prst="roundRect">
            <a:avLst>
              <a:gd name="adj" fmla="val 2727"/>
            </a:avLst>
          </a:prstGeom>
          <a:solidFill>
            <a:srgbClr val="F4F6F8"/>
          </a:solidFill>
          <a:ln w="9525">
            <a:solidFill>
              <a:srgbClr val="DCE2EA"/>
            </a:solidFill>
            <a:prstDash val="solid"/>
          </a:ln>
        </p:spPr>
      </p:sp>
      <p:sp>
        <p:nvSpPr>
          <p:cNvPr id="5" name="Shape 3"/>
          <p:cNvSpPr/>
          <p:nvPr/>
        </p:nvSpPr>
        <p:spPr>
          <a:xfrm>
            <a:off x="749808" y="1847088"/>
            <a:ext cx="155448" cy="155448"/>
          </a:xfrm>
          <a:prstGeom prst="roundRect">
            <a:avLst>
              <a:gd name="adj" fmla="val 23529"/>
            </a:avLst>
          </a:prstGeom>
          <a:solidFill>
            <a:srgbClr val="2D8CFF"/>
          </a:solidFill>
          <a:ln w="12700">
            <a:solidFill>
              <a:srgbClr val="2D8CFF"/>
            </a:solidFill>
            <a:prstDash val="solid"/>
          </a:ln>
        </p:spPr>
      </p:sp>
      <p:sp>
        <p:nvSpPr>
          <p:cNvPr id="6" name="Text 4"/>
          <p:cNvSpPr/>
          <p:nvPr/>
        </p:nvSpPr>
        <p:spPr>
          <a:xfrm>
            <a:off x="1005840" y="1773936"/>
            <a:ext cx="2880360" cy="292608"/>
          </a:xfrm>
          <a:prstGeom prst="rect">
            <a:avLst/>
          </a:prstGeom>
          <a:noFill/>
          <a:ln/>
        </p:spPr>
        <p:txBody>
          <a:bodyPr wrap="square" lIns="0" tIns="0" rIns="0" bIns="0" rtlCol="0" anchor="ctr"/>
          <a:lstStyle/>
          <a:p>
            <a:pPr indent="0" marL="0">
              <a:buNone/>
            </a:pPr>
            <a:r>
              <a:rPr lang="en-US" sz="1300" b="1" dirty="0">
                <a:solidFill>
                  <a:srgbClr val="1B1D22"/>
                </a:solidFill>
                <a:latin typeface="Calibri" pitchFamily="34" charset="0"/>
                <a:ea typeface="Calibri" pitchFamily="34" charset="-122"/>
                <a:cs typeface="Calibri" pitchFamily="34" charset="-120"/>
              </a:rPr>
              <a:t>Grid view</a:t>
            </a:r>
            <a:endParaRPr lang="en-US" sz="1300" dirty="0"/>
          </a:p>
        </p:txBody>
      </p:sp>
      <p:sp>
        <p:nvSpPr>
          <p:cNvPr id="7" name="Text 5"/>
          <p:cNvSpPr/>
          <p:nvPr/>
        </p:nvSpPr>
        <p:spPr>
          <a:xfrm>
            <a:off x="749808" y="2121408"/>
            <a:ext cx="3118104" cy="1408176"/>
          </a:xfrm>
          <a:prstGeom prst="rect">
            <a:avLst/>
          </a:prstGeom>
          <a:noFill/>
          <a:ln/>
        </p:spPr>
        <p:txBody>
          <a:bodyPr wrap="square" lIns="0" tIns="0" rIns="0" bIns="0" rtlCol="0" anchor="t"/>
          <a:lstStyle/>
          <a:p>
            <a:pPr indent="0" marL="0">
              <a:lnSpc>
                <a:spcPct val="105000"/>
              </a:lnSpc>
              <a:buNone/>
            </a:pPr>
            <a:r>
              <a:rPr lang="en-US" sz="1050" dirty="0">
                <a:solidFill>
                  <a:srgbClr val="5A6472"/>
                </a:solidFill>
                <a:latin typeface="Calibri" pitchFamily="34" charset="0"/>
                <a:ea typeface="Calibri" pitchFamily="34" charset="-122"/>
                <a:cs typeface="Calibri" pitchFamily="34" charset="-120"/>
              </a:rPr>
              <a:t>Each result set gets its own sortable tab. Click any column header to sort.</a:t>
            </a:r>
            <a:endParaRPr lang="en-US" sz="1050" dirty="0"/>
          </a:p>
        </p:txBody>
      </p:sp>
      <p:sp>
        <p:nvSpPr>
          <p:cNvPr id="8" name="Shape 6"/>
          <p:cNvSpPr/>
          <p:nvPr/>
        </p:nvSpPr>
        <p:spPr>
          <a:xfrm>
            <a:off x="4343400" y="1645920"/>
            <a:ext cx="3520440" cy="2011680"/>
          </a:xfrm>
          <a:prstGeom prst="roundRect">
            <a:avLst>
              <a:gd name="adj" fmla="val 2727"/>
            </a:avLst>
          </a:prstGeom>
          <a:solidFill>
            <a:srgbClr val="F4F6F8"/>
          </a:solidFill>
          <a:ln w="9525">
            <a:solidFill>
              <a:srgbClr val="DCE2EA"/>
            </a:solidFill>
            <a:prstDash val="solid"/>
          </a:ln>
        </p:spPr>
      </p:sp>
      <p:sp>
        <p:nvSpPr>
          <p:cNvPr id="9" name="Shape 7"/>
          <p:cNvSpPr/>
          <p:nvPr/>
        </p:nvSpPr>
        <p:spPr>
          <a:xfrm>
            <a:off x="4544568" y="1847088"/>
            <a:ext cx="155448" cy="155448"/>
          </a:xfrm>
          <a:prstGeom prst="roundRect">
            <a:avLst>
              <a:gd name="adj" fmla="val 23529"/>
            </a:avLst>
          </a:prstGeom>
          <a:solidFill>
            <a:srgbClr val="4FD6E6"/>
          </a:solidFill>
          <a:ln w="12700">
            <a:solidFill>
              <a:srgbClr val="4FD6E6"/>
            </a:solidFill>
            <a:prstDash val="solid"/>
          </a:ln>
        </p:spPr>
      </p:sp>
      <p:sp>
        <p:nvSpPr>
          <p:cNvPr id="10" name="Text 8"/>
          <p:cNvSpPr/>
          <p:nvPr/>
        </p:nvSpPr>
        <p:spPr>
          <a:xfrm>
            <a:off x="4800600" y="1773936"/>
            <a:ext cx="2880360" cy="292608"/>
          </a:xfrm>
          <a:prstGeom prst="rect">
            <a:avLst/>
          </a:prstGeom>
          <a:noFill/>
          <a:ln/>
        </p:spPr>
        <p:txBody>
          <a:bodyPr wrap="square" lIns="0" tIns="0" rIns="0" bIns="0" rtlCol="0" anchor="ctr"/>
          <a:lstStyle/>
          <a:p>
            <a:pPr indent="0" marL="0">
              <a:buNone/>
            </a:pPr>
            <a:r>
              <a:rPr lang="en-US" sz="1300" b="1" dirty="0">
                <a:solidFill>
                  <a:srgbClr val="1B1D22"/>
                </a:solidFill>
                <a:latin typeface="Calibri" pitchFamily="34" charset="0"/>
                <a:ea typeface="Calibri" pitchFamily="34" charset="-122"/>
                <a:cs typeface="Calibri" pitchFamily="34" charset="-120"/>
              </a:rPr>
              <a:t>Text view</a:t>
            </a:r>
            <a:endParaRPr lang="en-US" sz="1300" dirty="0"/>
          </a:p>
        </p:txBody>
      </p:sp>
      <p:sp>
        <p:nvSpPr>
          <p:cNvPr id="11" name="Text 9"/>
          <p:cNvSpPr/>
          <p:nvPr/>
        </p:nvSpPr>
        <p:spPr>
          <a:xfrm>
            <a:off x="4544568" y="2121408"/>
            <a:ext cx="3118104" cy="1408176"/>
          </a:xfrm>
          <a:prstGeom prst="rect">
            <a:avLst/>
          </a:prstGeom>
          <a:noFill/>
          <a:ln/>
        </p:spPr>
        <p:txBody>
          <a:bodyPr wrap="square" lIns="0" tIns="0" rIns="0" bIns="0" rtlCol="0" anchor="t"/>
          <a:lstStyle/>
          <a:p>
            <a:pPr indent="0" marL="0">
              <a:lnSpc>
                <a:spcPct val="105000"/>
              </a:lnSpc>
              <a:buNone/>
            </a:pPr>
            <a:r>
              <a:rPr lang="en-US" sz="1050" dirty="0">
                <a:solidFill>
                  <a:srgbClr val="5A6472"/>
                </a:solidFill>
                <a:latin typeface="Calibri" pitchFamily="34" charset="0"/>
                <a:ea typeface="Calibri" pitchFamily="34" charset="-122"/>
                <a:cs typeface="Calibri" pitchFamily="34" charset="-120"/>
              </a:rPr>
              <a:t>Tick Results as text for aligned monospaced output that pastes cleanly into a ticket or an email.</a:t>
            </a:r>
            <a:endParaRPr lang="en-US" sz="1050" dirty="0"/>
          </a:p>
        </p:txBody>
      </p:sp>
      <p:sp>
        <p:nvSpPr>
          <p:cNvPr id="12" name="Shape 10"/>
          <p:cNvSpPr/>
          <p:nvPr/>
        </p:nvSpPr>
        <p:spPr>
          <a:xfrm>
            <a:off x="8138160" y="1645920"/>
            <a:ext cx="3520440" cy="2011680"/>
          </a:xfrm>
          <a:prstGeom prst="roundRect">
            <a:avLst>
              <a:gd name="adj" fmla="val 2727"/>
            </a:avLst>
          </a:prstGeom>
          <a:solidFill>
            <a:srgbClr val="F4F6F8"/>
          </a:solidFill>
          <a:ln w="9525">
            <a:solidFill>
              <a:srgbClr val="DCE2EA"/>
            </a:solidFill>
            <a:prstDash val="solid"/>
          </a:ln>
        </p:spPr>
      </p:sp>
      <p:sp>
        <p:nvSpPr>
          <p:cNvPr id="13" name="Shape 11"/>
          <p:cNvSpPr/>
          <p:nvPr/>
        </p:nvSpPr>
        <p:spPr>
          <a:xfrm>
            <a:off x="8339328" y="1847088"/>
            <a:ext cx="155448" cy="155448"/>
          </a:xfrm>
          <a:prstGeom prst="roundRect">
            <a:avLst>
              <a:gd name="adj" fmla="val 23529"/>
            </a:avLst>
          </a:prstGeom>
          <a:solidFill>
            <a:srgbClr val="2D8CFF"/>
          </a:solidFill>
          <a:ln w="12700">
            <a:solidFill>
              <a:srgbClr val="2D8CFF"/>
            </a:solidFill>
            <a:prstDash val="solid"/>
          </a:ln>
        </p:spPr>
      </p:sp>
      <p:sp>
        <p:nvSpPr>
          <p:cNvPr id="14" name="Text 12"/>
          <p:cNvSpPr/>
          <p:nvPr/>
        </p:nvSpPr>
        <p:spPr>
          <a:xfrm>
            <a:off x="8595360" y="1773936"/>
            <a:ext cx="2880360" cy="292608"/>
          </a:xfrm>
          <a:prstGeom prst="rect">
            <a:avLst/>
          </a:prstGeom>
          <a:noFill/>
          <a:ln/>
        </p:spPr>
        <p:txBody>
          <a:bodyPr wrap="square" lIns="0" tIns="0" rIns="0" bIns="0" rtlCol="0" anchor="ctr"/>
          <a:lstStyle/>
          <a:p>
            <a:pPr indent="0" marL="0">
              <a:buNone/>
            </a:pPr>
            <a:r>
              <a:rPr lang="en-US" sz="1300" b="1" dirty="0">
                <a:solidFill>
                  <a:srgbClr val="1B1D22"/>
                </a:solidFill>
                <a:latin typeface="Calibri" pitchFamily="34" charset="0"/>
                <a:ea typeface="Calibri" pitchFamily="34" charset="-122"/>
                <a:cs typeface="Calibri" pitchFamily="34" charset="-120"/>
              </a:rPr>
              <a:t>Messages</a:t>
            </a:r>
            <a:endParaRPr lang="en-US" sz="1300" dirty="0"/>
          </a:p>
        </p:txBody>
      </p:sp>
      <p:sp>
        <p:nvSpPr>
          <p:cNvPr id="15" name="Text 13"/>
          <p:cNvSpPr/>
          <p:nvPr/>
        </p:nvSpPr>
        <p:spPr>
          <a:xfrm>
            <a:off x="8339328" y="2121408"/>
            <a:ext cx="3118104" cy="1408176"/>
          </a:xfrm>
          <a:prstGeom prst="rect">
            <a:avLst/>
          </a:prstGeom>
          <a:noFill/>
          <a:ln/>
        </p:spPr>
        <p:txBody>
          <a:bodyPr wrap="square" lIns="0" tIns="0" rIns="0" bIns="0" rtlCol="0" anchor="t"/>
          <a:lstStyle/>
          <a:p>
            <a:pPr indent="0" marL="0">
              <a:lnSpc>
                <a:spcPct val="105000"/>
              </a:lnSpc>
              <a:buNone/>
            </a:pPr>
            <a:r>
              <a:rPr lang="en-US" sz="1050" dirty="0">
                <a:solidFill>
                  <a:srgbClr val="5A6472"/>
                </a:solidFill>
                <a:latin typeface="Calibri" pitchFamily="34" charset="0"/>
                <a:ea typeface="Calibri" pitchFamily="34" charset="-122"/>
                <a:cs typeface="Calibri" pitchFamily="34" charset="-120"/>
              </a:rPr>
              <a:t>Row counts and server output, including PRINT and RAISERROR messages as a script runs.</a:t>
            </a:r>
            <a:endParaRPr lang="en-US" sz="1050" dirty="0"/>
          </a:p>
        </p:txBody>
      </p:sp>
      <p:sp>
        <p:nvSpPr>
          <p:cNvPr id="16" name="Shape 14"/>
          <p:cNvSpPr/>
          <p:nvPr/>
        </p:nvSpPr>
        <p:spPr>
          <a:xfrm>
            <a:off x="548640" y="4023360"/>
            <a:ext cx="11064240" cy="1645920"/>
          </a:xfrm>
          <a:prstGeom prst="roundRect">
            <a:avLst>
              <a:gd name="adj" fmla="val 3333"/>
            </a:avLst>
          </a:prstGeom>
          <a:solidFill>
            <a:srgbClr val="F4F6F8"/>
          </a:solidFill>
          <a:ln w="9525">
            <a:solidFill>
              <a:srgbClr val="DCE2EA"/>
            </a:solidFill>
            <a:prstDash val="solid"/>
          </a:ln>
        </p:spPr>
      </p:sp>
      <p:sp>
        <p:nvSpPr>
          <p:cNvPr id="17" name="Text 15"/>
          <p:cNvSpPr/>
          <p:nvPr/>
        </p:nvSpPr>
        <p:spPr>
          <a:xfrm>
            <a:off x="868680" y="4206240"/>
            <a:ext cx="5486400" cy="320040"/>
          </a:xfrm>
          <a:prstGeom prst="rect">
            <a:avLst/>
          </a:prstGeom>
          <a:noFill/>
          <a:ln/>
        </p:spPr>
        <p:txBody>
          <a:bodyPr wrap="square" lIns="0" tIns="0" rIns="0" bIns="0" rtlCol="0" anchor="ctr"/>
          <a:lstStyle/>
          <a:p>
            <a:pPr indent="0" marL="0">
              <a:buNone/>
            </a:pPr>
            <a:r>
              <a:rPr lang="en-US" sz="1500" b="1" dirty="0">
                <a:solidFill>
                  <a:srgbClr val="1B1D22"/>
                </a:solidFill>
                <a:latin typeface="Calibri" pitchFamily="34" charset="0"/>
                <a:ea typeface="Calibri" pitchFamily="34" charset="-122"/>
                <a:cs typeface="Calibri" pitchFamily="34" charset="-120"/>
              </a:rPr>
              <a:t>Export to CSV</a:t>
            </a:r>
            <a:endParaRPr lang="en-US" sz="1500" dirty="0"/>
          </a:p>
        </p:txBody>
      </p:sp>
      <p:sp>
        <p:nvSpPr>
          <p:cNvPr id="18" name="Text 16"/>
          <p:cNvSpPr/>
          <p:nvPr/>
        </p:nvSpPr>
        <p:spPr>
          <a:xfrm>
            <a:off x="868680" y="4617720"/>
            <a:ext cx="10424160" cy="914400"/>
          </a:xfrm>
          <a:prstGeom prst="rect">
            <a:avLst/>
          </a:prstGeom>
          <a:noFill/>
          <a:ln/>
        </p:spPr>
        <p:txBody>
          <a:bodyPr wrap="square" lIns="0" tIns="0" rIns="0" bIns="0" rtlCol="0" anchor="t"/>
          <a:lstStyle/>
          <a:p>
            <a:pPr indent="0" marL="0">
              <a:buNone/>
            </a:pPr>
            <a:r>
              <a:rPr lang="en-US" sz="1300" dirty="0">
                <a:solidFill>
                  <a:srgbClr val="5A6472"/>
                </a:solidFill>
                <a:latin typeface="Calibri" pitchFamily="34" charset="0"/>
                <a:ea typeface="Calibri" pitchFamily="34" charset="-122"/>
                <a:cs typeface="Calibri" pitchFamily="34" charset="-120"/>
              </a:rPr>
              <a:t>Send any result grid to a file with one click. Values containing commas, quotes or line breaks are quoted correctly, and the file is written as UTF-8 so Excel opens it with the right characters.</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7315200" cy="256032"/>
          </a:xfrm>
          <a:prstGeom prst="rect">
            <a:avLst/>
          </a:prstGeom>
          <a:noFill/>
          <a:ln/>
        </p:spPr>
        <p:txBody>
          <a:bodyPr wrap="square" lIns="0" tIns="0" rIns="0" bIns="0" rtlCol="0" anchor="ctr"/>
          <a:lstStyle/>
          <a:p>
            <a:pPr indent="0" marL="0">
              <a:buNone/>
            </a:pPr>
            <a:r>
              <a:rPr lang="en-US" sz="1100" b="1" spc="200" kern="0" dirty="0">
                <a:solidFill>
                  <a:srgbClr val="2D8CFF"/>
                </a:solidFill>
                <a:latin typeface="Calibri" pitchFamily="34" charset="0"/>
                <a:ea typeface="Calibri" pitchFamily="34" charset="-122"/>
                <a:cs typeface="Calibri" pitchFamily="34" charset="-120"/>
              </a:rPr>
              <a:t>TABLE DETAILS</a:t>
            </a:r>
            <a:endParaRPr lang="en-US" sz="1100" dirty="0"/>
          </a:p>
        </p:txBody>
      </p:sp>
      <p:sp>
        <p:nvSpPr>
          <p:cNvPr id="3" name="Text 1"/>
          <p:cNvSpPr/>
          <p:nvPr/>
        </p:nvSpPr>
        <p:spPr>
          <a:xfrm>
            <a:off x="548640" y="713232"/>
            <a:ext cx="11064240" cy="685800"/>
          </a:xfrm>
          <a:prstGeom prst="rect">
            <a:avLst/>
          </a:prstGeom>
          <a:noFill/>
          <a:ln/>
        </p:spPr>
        <p:txBody>
          <a:bodyPr wrap="square" lIns="0" tIns="0" rIns="0" bIns="0" rtlCol="0" anchor="ctr"/>
          <a:lstStyle/>
          <a:p>
            <a:pPr indent="0" marL="0">
              <a:buNone/>
            </a:pPr>
            <a:r>
              <a:rPr lang="en-US" sz="3400" b="1" dirty="0">
                <a:solidFill>
                  <a:srgbClr val="1B1D22"/>
                </a:solidFill>
                <a:latin typeface="Calibri" pitchFamily="34" charset="0"/>
                <a:ea typeface="Calibri" pitchFamily="34" charset="-122"/>
                <a:cs typeface="Calibri" pitchFamily="34" charset="-120"/>
              </a:rPr>
              <a:t>Nine views of any table</a:t>
            </a:r>
            <a:endParaRPr lang="en-US" sz="3400" dirty="0"/>
          </a:p>
        </p:txBody>
      </p:sp>
      <p:sp>
        <p:nvSpPr>
          <p:cNvPr id="4" name="Shape 2"/>
          <p:cNvSpPr/>
          <p:nvPr/>
        </p:nvSpPr>
        <p:spPr>
          <a:xfrm>
            <a:off x="548640" y="1600200"/>
            <a:ext cx="3520440" cy="1078992"/>
          </a:xfrm>
          <a:prstGeom prst="roundRect">
            <a:avLst>
              <a:gd name="adj" fmla="val 5085"/>
            </a:avLst>
          </a:prstGeom>
          <a:solidFill>
            <a:srgbClr val="F4F6F8"/>
          </a:solidFill>
          <a:ln w="9525">
            <a:solidFill>
              <a:srgbClr val="DCE2EA"/>
            </a:solidFill>
            <a:prstDash val="solid"/>
          </a:ln>
        </p:spPr>
      </p:sp>
      <p:sp>
        <p:nvSpPr>
          <p:cNvPr id="5" name="Shape 3"/>
          <p:cNvSpPr/>
          <p:nvPr/>
        </p:nvSpPr>
        <p:spPr>
          <a:xfrm>
            <a:off x="749808" y="1801368"/>
            <a:ext cx="155448" cy="155448"/>
          </a:xfrm>
          <a:prstGeom prst="roundRect">
            <a:avLst>
              <a:gd name="adj" fmla="val 23529"/>
            </a:avLst>
          </a:prstGeom>
          <a:solidFill>
            <a:srgbClr val="2D8CFF"/>
          </a:solidFill>
          <a:ln w="12700">
            <a:solidFill>
              <a:srgbClr val="2D8CFF"/>
            </a:solidFill>
            <a:prstDash val="solid"/>
          </a:ln>
        </p:spPr>
      </p:sp>
      <p:sp>
        <p:nvSpPr>
          <p:cNvPr id="6" name="Text 4"/>
          <p:cNvSpPr/>
          <p:nvPr/>
        </p:nvSpPr>
        <p:spPr>
          <a:xfrm>
            <a:off x="1005840" y="1728216"/>
            <a:ext cx="2880360" cy="292608"/>
          </a:xfrm>
          <a:prstGeom prst="rect">
            <a:avLst/>
          </a:prstGeom>
          <a:noFill/>
          <a:ln/>
        </p:spPr>
        <p:txBody>
          <a:bodyPr wrap="square" lIns="0" tIns="0" rIns="0" bIns="0" rtlCol="0" anchor="ctr"/>
          <a:lstStyle/>
          <a:p>
            <a:pPr indent="0" marL="0">
              <a:buNone/>
            </a:pPr>
            <a:r>
              <a:rPr lang="en-US" sz="1300" b="1" dirty="0">
                <a:solidFill>
                  <a:srgbClr val="1B1D22"/>
                </a:solidFill>
                <a:latin typeface="Calibri" pitchFamily="34" charset="0"/>
                <a:ea typeface="Calibri" pitchFamily="34" charset="-122"/>
                <a:cs typeface="Calibri" pitchFamily="34" charset="-120"/>
              </a:rPr>
              <a:t>Columns</a:t>
            </a:r>
            <a:endParaRPr lang="en-US" sz="1300" dirty="0"/>
          </a:p>
        </p:txBody>
      </p:sp>
      <p:sp>
        <p:nvSpPr>
          <p:cNvPr id="7" name="Text 5"/>
          <p:cNvSpPr/>
          <p:nvPr/>
        </p:nvSpPr>
        <p:spPr>
          <a:xfrm>
            <a:off x="749808" y="2075688"/>
            <a:ext cx="3118104" cy="475488"/>
          </a:xfrm>
          <a:prstGeom prst="rect">
            <a:avLst/>
          </a:prstGeom>
          <a:noFill/>
          <a:ln/>
        </p:spPr>
        <p:txBody>
          <a:bodyPr wrap="square" lIns="0" tIns="0" rIns="0" bIns="0" rtlCol="0" anchor="t"/>
          <a:lstStyle/>
          <a:p>
            <a:pPr indent="0" marL="0">
              <a:lnSpc>
                <a:spcPct val="105000"/>
              </a:lnSpc>
              <a:buNone/>
            </a:pPr>
            <a:r>
              <a:rPr lang="en-US" sz="1050" dirty="0">
                <a:solidFill>
                  <a:srgbClr val="5A6472"/>
                </a:solidFill>
                <a:latin typeface="Calibri" pitchFamily="34" charset="0"/>
                <a:ea typeface="Calibri" pitchFamily="34" charset="-122"/>
                <a:cs typeface="Calibri" pitchFamily="34" charset="-120"/>
              </a:rPr>
              <a:t>Types, nullability, defaults, identity, comments</a:t>
            </a:r>
            <a:endParaRPr lang="en-US" sz="1050" dirty="0"/>
          </a:p>
        </p:txBody>
      </p:sp>
      <p:sp>
        <p:nvSpPr>
          <p:cNvPr id="8" name="Shape 6"/>
          <p:cNvSpPr/>
          <p:nvPr/>
        </p:nvSpPr>
        <p:spPr>
          <a:xfrm>
            <a:off x="4343400" y="1600200"/>
            <a:ext cx="3520440" cy="1078992"/>
          </a:xfrm>
          <a:prstGeom prst="roundRect">
            <a:avLst>
              <a:gd name="adj" fmla="val 5085"/>
            </a:avLst>
          </a:prstGeom>
          <a:solidFill>
            <a:srgbClr val="F4F6F8"/>
          </a:solidFill>
          <a:ln w="9525">
            <a:solidFill>
              <a:srgbClr val="DCE2EA"/>
            </a:solidFill>
            <a:prstDash val="solid"/>
          </a:ln>
        </p:spPr>
      </p:sp>
      <p:sp>
        <p:nvSpPr>
          <p:cNvPr id="9" name="Shape 7"/>
          <p:cNvSpPr/>
          <p:nvPr/>
        </p:nvSpPr>
        <p:spPr>
          <a:xfrm>
            <a:off x="4544568" y="1801368"/>
            <a:ext cx="155448" cy="155448"/>
          </a:xfrm>
          <a:prstGeom prst="roundRect">
            <a:avLst>
              <a:gd name="adj" fmla="val 23529"/>
            </a:avLst>
          </a:prstGeom>
          <a:solidFill>
            <a:srgbClr val="4FD6E6"/>
          </a:solidFill>
          <a:ln w="12700">
            <a:solidFill>
              <a:srgbClr val="4FD6E6"/>
            </a:solidFill>
            <a:prstDash val="solid"/>
          </a:ln>
        </p:spPr>
      </p:sp>
      <p:sp>
        <p:nvSpPr>
          <p:cNvPr id="10" name="Text 8"/>
          <p:cNvSpPr/>
          <p:nvPr/>
        </p:nvSpPr>
        <p:spPr>
          <a:xfrm>
            <a:off x="4800600" y="1728216"/>
            <a:ext cx="2880360" cy="292608"/>
          </a:xfrm>
          <a:prstGeom prst="rect">
            <a:avLst/>
          </a:prstGeom>
          <a:noFill/>
          <a:ln/>
        </p:spPr>
        <p:txBody>
          <a:bodyPr wrap="square" lIns="0" tIns="0" rIns="0" bIns="0" rtlCol="0" anchor="ctr"/>
          <a:lstStyle/>
          <a:p>
            <a:pPr indent="0" marL="0">
              <a:buNone/>
            </a:pPr>
            <a:r>
              <a:rPr lang="en-US" sz="1300" b="1" dirty="0">
                <a:solidFill>
                  <a:srgbClr val="1B1D22"/>
                </a:solidFill>
                <a:latin typeface="Calibri" pitchFamily="34" charset="0"/>
                <a:ea typeface="Calibri" pitchFamily="34" charset="-122"/>
                <a:cs typeface="Calibri" pitchFamily="34" charset="-120"/>
              </a:rPr>
              <a:t>Data</a:t>
            </a:r>
            <a:endParaRPr lang="en-US" sz="1300" dirty="0"/>
          </a:p>
        </p:txBody>
      </p:sp>
      <p:sp>
        <p:nvSpPr>
          <p:cNvPr id="11" name="Text 9"/>
          <p:cNvSpPr/>
          <p:nvPr/>
        </p:nvSpPr>
        <p:spPr>
          <a:xfrm>
            <a:off x="4544568" y="2075688"/>
            <a:ext cx="3118104" cy="475488"/>
          </a:xfrm>
          <a:prstGeom prst="rect">
            <a:avLst/>
          </a:prstGeom>
          <a:noFill/>
          <a:ln/>
        </p:spPr>
        <p:txBody>
          <a:bodyPr wrap="square" lIns="0" tIns="0" rIns="0" bIns="0" rtlCol="0" anchor="t"/>
          <a:lstStyle/>
          <a:p>
            <a:pPr indent="0" marL="0">
              <a:lnSpc>
                <a:spcPct val="105000"/>
              </a:lnSpc>
              <a:buNone/>
            </a:pPr>
            <a:r>
              <a:rPr lang="en-US" sz="1050" dirty="0">
                <a:solidFill>
                  <a:srgbClr val="5A6472"/>
                </a:solidFill>
                <a:latin typeface="Calibri" pitchFamily="34" charset="0"/>
                <a:ea typeface="Calibri" pitchFamily="34" charset="-122"/>
                <a:cs typeface="Calibri" pitchFamily="34" charset="-120"/>
              </a:rPr>
              <a:t>The rows themselves — and editable</a:t>
            </a:r>
            <a:endParaRPr lang="en-US" sz="1050" dirty="0"/>
          </a:p>
        </p:txBody>
      </p:sp>
      <p:sp>
        <p:nvSpPr>
          <p:cNvPr id="12" name="Shape 10"/>
          <p:cNvSpPr/>
          <p:nvPr/>
        </p:nvSpPr>
        <p:spPr>
          <a:xfrm>
            <a:off x="8138160" y="1600200"/>
            <a:ext cx="3520440" cy="1078992"/>
          </a:xfrm>
          <a:prstGeom prst="roundRect">
            <a:avLst>
              <a:gd name="adj" fmla="val 5085"/>
            </a:avLst>
          </a:prstGeom>
          <a:solidFill>
            <a:srgbClr val="F4F6F8"/>
          </a:solidFill>
          <a:ln w="9525">
            <a:solidFill>
              <a:srgbClr val="DCE2EA"/>
            </a:solidFill>
            <a:prstDash val="solid"/>
          </a:ln>
        </p:spPr>
      </p:sp>
      <p:sp>
        <p:nvSpPr>
          <p:cNvPr id="13" name="Shape 11"/>
          <p:cNvSpPr/>
          <p:nvPr/>
        </p:nvSpPr>
        <p:spPr>
          <a:xfrm>
            <a:off x="8339328" y="1801368"/>
            <a:ext cx="155448" cy="155448"/>
          </a:xfrm>
          <a:prstGeom prst="roundRect">
            <a:avLst>
              <a:gd name="adj" fmla="val 23529"/>
            </a:avLst>
          </a:prstGeom>
          <a:solidFill>
            <a:srgbClr val="2D8CFF"/>
          </a:solidFill>
          <a:ln w="12700">
            <a:solidFill>
              <a:srgbClr val="2D8CFF"/>
            </a:solidFill>
            <a:prstDash val="solid"/>
          </a:ln>
        </p:spPr>
      </p:sp>
      <p:sp>
        <p:nvSpPr>
          <p:cNvPr id="14" name="Text 12"/>
          <p:cNvSpPr/>
          <p:nvPr/>
        </p:nvSpPr>
        <p:spPr>
          <a:xfrm>
            <a:off x="8595360" y="1728216"/>
            <a:ext cx="2880360" cy="292608"/>
          </a:xfrm>
          <a:prstGeom prst="rect">
            <a:avLst/>
          </a:prstGeom>
          <a:noFill/>
          <a:ln/>
        </p:spPr>
        <p:txBody>
          <a:bodyPr wrap="square" lIns="0" tIns="0" rIns="0" bIns="0" rtlCol="0" anchor="ctr"/>
          <a:lstStyle/>
          <a:p>
            <a:pPr indent="0" marL="0">
              <a:buNone/>
            </a:pPr>
            <a:r>
              <a:rPr lang="en-US" sz="1300" b="1" dirty="0">
                <a:solidFill>
                  <a:srgbClr val="1B1D22"/>
                </a:solidFill>
                <a:latin typeface="Calibri" pitchFamily="34" charset="0"/>
                <a:ea typeface="Calibri" pitchFamily="34" charset="-122"/>
                <a:cs typeface="Calibri" pitchFamily="34" charset="-120"/>
              </a:rPr>
              <a:t>Constraints</a:t>
            </a:r>
            <a:endParaRPr lang="en-US" sz="1300" dirty="0"/>
          </a:p>
        </p:txBody>
      </p:sp>
      <p:sp>
        <p:nvSpPr>
          <p:cNvPr id="15" name="Text 13"/>
          <p:cNvSpPr/>
          <p:nvPr/>
        </p:nvSpPr>
        <p:spPr>
          <a:xfrm>
            <a:off x="8339328" y="2075688"/>
            <a:ext cx="3118104" cy="475488"/>
          </a:xfrm>
          <a:prstGeom prst="rect">
            <a:avLst/>
          </a:prstGeom>
          <a:noFill/>
          <a:ln/>
        </p:spPr>
        <p:txBody>
          <a:bodyPr wrap="square" lIns="0" tIns="0" rIns="0" bIns="0" rtlCol="0" anchor="t"/>
          <a:lstStyle/>
          <a:p>
            <a:pPr indent="0" marL="0">
              <a:lnSpc>
                <a:spcPct val="105000"/>
              </a:lnSpc>
              <a:buNone/>
            </a:pPr>
            <a:r>
              <a:rPr lang="en-US" sz="1050" dirty="0">
                <a:solidFill>
                  <a:srgbClr val="5A6472"/>
                </a:solidFill>
                <a:latin typeface="Calibri" pitchFamily="34" charset="0"/>
                <a:ea typeface="Calibri" pitchFamily="34" charset="-122"/>
                <a:cs typeface="Calibri" pitchFamily="34" charset="-120"/>
              </a:rPr>
              <a:t>Primary, foreign, unique and check</a:t>
            </a:r>
            <a:endParaRPr lang="en-US" sz="1050" dirty="0"/>
          </a:p>
        </p:txBody>
      </p:sp>
      <p:sp>
        <p:nvSpPr>
          <p:cNvPr id="16" name="Shape 14"/>
          <p:cNvSpPr/>
          <p:nvPr/>
        </p:nvSpPr>
        <p:spPr>
          <a:xfrm>
            <a:off x="548640" y="2880360"/>
            <a:ext cx="3520440" cy="1078992"/>
          </a:xfrm>
          <a:prstGeom prst="roundRect">
            <a:avLst>
              <a:gd name="adj" fmla="val 5085"/>
            </a:avLst>
          </a:prstGeom>
          <a:solidFill>
            <a:srgbClr val="F4F6F8"/>
          </a:solidFill>
          <a:ln w="9525">
            <a:solidFill>
              <a:srgbClr val="DCE2EA"/>
            </a:solidFill>
            <a:prstDash val="solid"/>
          </a:ln>
        </p:spPr>
      </p:sp>
      <p:sp>
        <p:nvSpPr>
          <p:cNvPr id="17" name="Shape 15"/>
          <p:cNvSpPr/>
          <p:nvPr/>
        </p:nvSpPr>
        <p:spPr>
          <a:xfrm>
            <a:off x="749808" y="3081528"/>
            <a:ext cx="155448" cy="155448"/>
          </a:xfrm>
          <a:prstGeom prst="roundRect">
            <a:avLst>
              <a:gd name="adj" fmla="val 23529"/>
            </a:avLst>
          </a:prstGeom>
          <a:solidFill>
            <a:srgbClr val="4FD6E6"/>
          </a:solidFill>
          <a:ln w="12700">
            <a:solidFill>
              <a:srgbClr val="4FD6E6"/>
            </a:solidFill>
            <a:prstDash val="solid"/>
          </a:ln>
        </p:spPr>
      </p:sp>
      <p:sp>
        <p:nvSpPr>
          <p:cNvPr id="18" name="Text 16"/>
          <p:cNvSpPr/>
          <p:nvPr/>
        </p:nvSpPr>
        <p:spPr>
          <a:xfrm>
            <a:off x="1005840" y="3008376"/>
            <a:ext cx="2880360" cy="292608"/>
          </a:xfrm>
          <a:prstGeom prst="rect">
            <a:avLst/>
          </a:prstGeom>
          <a:noFill/>
          <a:ln/>
        </p:spPr>
        <p:txBody>
          <a:bodyPr wrap="square" lIns="0" tIns="0" rIns="0" bIns="0" rtlCol="0" anchor="ctr"/>
          <a:lstStyle/>
          <a:p>
            <a:pPr indent="0" marL="0">
              <a:buNone/>
            </a:pPr>
            <a:r>
              <a:rPr lang="en-US" sz="1300" b="1" dirty="0">
                <a:solidFill>
                  <a:srgbClr val="1B1D22"/>
                </a:solidFill>
                <a:latin typeface="Calibri" pitchFamily="34" charset="0"/>
                <a:ea typeface="Calibri" pitchFamily="34" charset="-122"/>
                <a:cs typeface="Calibri" pitchFamily="34" charset="-120"/>
              </a:rPr>
              <a:t>Indexes</a:t>
            </a:r>
            <a:endParaRPr lang="en-US" sz="1300" dirty="0"/>
          </a:p>
        </p:txBody>
      </p:sp>
      <p:sp>
        <p:nvSpPr>
          <p:cNvPr id="19" name="Text 17"/>
          <p:cNvSpPr/>
          <p:nvPr/>
        </p:nvSpPr>
        <p:spPr>
          <a:xfrm>
            <a:off x="749808" y="3355848"/>
            <a:ext cx="3118104" cy="475488"/>
          </a:xfrm>
          <a:prstGeom prst="rect">
            <a:avLst/>
          </a:prstGeom>
          <a:noFill/>
          <a:ln/>
        </p:spPr>
        <p:txBody>
          <a:bodyPr wrap="square" lIns="0" tIns="0" rIns="0" bIns="0" rtlCol="0" anchor="t"/>
          <a:lstStyle/>
          <a:p>
            <a:pPr indent="0" marL="0">
              <a:lnSpc>
                <a:spcPct val="105000"/>
              </a:lnSpc>
              <a:buNone/>
            </a:pPr>
            <a:r>
              <a:rPr lang="en-US" sz="1050" dirty="0">
                <a:solidFill>
                  <a:srgbClr val="5A6472"/>
                </a:solidFill>
                <a:latin typeface="Calibri" pitchFamily="34" charset="0"/>
                <a:ea typeface="Calibri" pitchFamily="34" charset="-122"/>
                <a:cs typeface="Calibri" pitchFamily="34" charset="-120"/>
              </a:rPr>
              <a:t>Type, uniqueness and covered columns</a:t>
            </a:r>
            <a:endParaRPr lang="en-US" sz="1050" dirty="0"/>
          </a:p>
        </p:txBody>
      </p:sp>
      <p:sp>
        <p:nvSpPr>
          <p:cNvPr id="20" name="Shape 18"/>
          <p:cNvSpPr/>
          <p:nvPr/>
        </p:nvSpPr>
        <p:spPr>
          <a:xfrm>
            <a:off x="4343400" y="2880360"/>
            <a:ext cx="3520440" cy="1078992"/>
          </a:xfrm>
          <a:prstGeom prst="roundRect">
            <a:avLst>
              <a:gd name="adj" fmla="val 5085"/>
            </a:avLst>
          </a:prstGeom>
          <a:solidFill>
            <a:srgbClr val="F4F6F8"/>
          </a:solidFill>
          <a:ln w="9525">
            <a:solidFill>
              <a:srgbClr val="DCE2EA"/>
            </a:solidFill>
            <a:prstDash val="solid"/>
          </a:ln>
        </p:spPr>
      </p:sp>
      <p:sp>
        <p:nvSpPr>
          <p:cNvPr id="21" name="Shape 19"/>
          <p:cNvSpPr/>
          <p:nvPr/>
        </p:nvSpPr>
        <p:spPr>
          <a:xfrm>
            <a:off x="4544568" y="3081528"/>
            <a:ext cx="155448" cy="155448"/>
          </a:xfrm>
          <a:prstGeom prst="roundRect">
            <a:avLst>
              <a:gd name="adj" fmla="val 23529"/>
            </a:avLst>
          </a:prstGeom>
          <a:solidFill>
            <a:srgbClr val="2D8CFF"/>
          </a:solidFill>
          <a:ln w="12700">
            <a:solidFill>
              <a:srgbClr val="2D8CFF"/>
            </a:solidFill>
            <a:prstDash val="solid"/>
          </a:ln>
        </p:spPr>
      </p:sp>
      <p:sp>
        <p:nvSpPr>
          <p:cNvPr id="22" name="Text 20"/>
          <p:cNvSpPr/>
          <p:nvPr/>
        </p:nvSpPr>
        <p:spPr>
          <a:xfrm>
            <a:off x="4800600" y="3008376"/>
            <a:ext cx="2880360" cy="292608"/>
          </a:xfrm>
          <a:prstGeom prst="rect">
            <a:avLst/>
          </a:prstGeom>
          <a:noFill/>
          <a:ln/>
        </p:spPr>
        <p:txBody>
          <a:bodyPr wrap="square" lIns="0" tIns="0" rIns="0" bIns="0" rtlCol="0" anchor="ctr"/>
          <a:lstStyle/>
          <a:p>
            <a:pPr indent="0" marL="0">
              <a:buNone/>
            </a:pPr>
            <a:r>
              <a:rPr lang="en-US" sz="1300" b="1" dirty="0">
                <a:solidFill>
                  <a:srgbClr val="1B1D22"/>
                </a:solidFill>
                <a:latin typeface="Calibri" pitchFamily="34" charset="0"/>
                <a:ea typeface="Calibri" pitchFamily="34" charset="-122"/>
                <a:cs typeface="Calibri" pitchFamily="34" charset="-120"/>
              </a:rPr>
              <a:t>Triggers</a:t>
            </a:r>
            <a:endParaRPr lang="en-US" sz="1300" dirty="0"/>
          </a:p>
        </p:txBody>
      </p:sp>
      <p:sp>
        <p:nvSpPr>
          <p:cNvPr id="23" name="Text 21"/>
          <p:cNvSpPr/>
          <p:nvPr/>
        </p:nvSpPr>
        <p:spPr>
          <a:xfrm>
            <a:off x="4544568" y="3355848"/>
            <a:ext cx="3118104" cy="475488"/>
          </a:xfrm>
          <a:prstGeom prst="rect">
            <a:avLst/>
          </a:prstGeom>
          <a:noFill/>
          <a:ln/>
        </p:spPr>
        <p:txBody>
          <a:bodyPr wrap="square" lIns="0" tIns="0" rIns="0" bIns="0" rtlCol="0" anchor="t"/>
          <a:lstStyle/>
          <a:p>
            <a:pPr indent="0" marL="0">
              <a:lnSpc>
                <a:spcPct val="105000"/>
              </a:lnSpc>
              <a:buNone/>
            </a:pPr>
            <a:r>
              <a:rPr lang="en-US" sz="1050" dirty="0">
                <a:solidFill>
                  <a:srgbClr val="5A6472"/>
                </a:solidFill>
                <a:latin typeface="Calibri" pitchFamily="34" charset="0"/>
                <a:ea typeface="Calibri" pitchFamily="34" charset="-122"/>
                <a:cs typeface="Calibri" pitchFamily="34" charset="-120"/>
              </a:rPr>
              <a:t>Definitions and status</a:t>
            </a:r>
            <a:endParaRPr lang="en-US" sz="1050" dirty="0"/>
          </a:p>
        </p:txBody>
      </p:sp>
      <p:sp>
        <p:nvSpPr>
          <p:cNvPr id="24" name="Shape 22"/>
          <p:cNvSpPr/>
          <p:nvPr/>
        </p:nvSpPr>
        <p:spPr>
          <a:xfrm>
            <a:off x="8138160" y="2880360"/>
            <a:ext cx="3520440" cy="1078992"/>
          </a:xfrm>
          <a:prstGeom prst="roundRect">
            <a:avLst>
              <a:gd name="adj" fmla="val 5085"/>
            </a:avLst>
          </a:prstGeom>
          <a:solidFill>
            <a:srgbClr val="F4F6F8"/>
          </a:solidFill>
          <a:ln w="9525">
            <a:solidFill>
              <a:srgbClr val="DCE2EA"/>
            </a:solidFill>
            <a:prstDash val="solid"/>
          </a:ln>
        </p:spPr>
      </p:sp>
      <p:sp>
        <p:nvSpPr>
          <p:cNvPr id="25" name="Shape 23"/>
          <p:cNvSpPr/>
          <p:nvPr/>
        </p:nvSpPr>
        <p:spPr>
          <a:xfrm>
            <a:off x="8339328" y="3081528"/>
            <a:ext cx="155448" cy="155448"/>
          </a:xfrm>
          <a:prstGeom prst="roundRect">
            <a:avLst>
              <a:gd name="adj" fmla="val 23529"/>
            </a:avLst>
          </a:prstGeom>
          <a:solidFill>
            <a:srgbClr val="4FD6E6"/>
          </a:solidFill>
          <a:ln w="12700">
            <a:solidFill>
              <a:srgbClr val="4FD6E6"/>
            </a:solidFill>
            <a:prstDash val="solid"/>
          </a:ln>
        </p:spPr>
      </p:sp>
      <p:sp>
        <p:nvSpPr>
          <p:cNvPr id="26" name="Text 24"/>
          <p:cNvSpPr/>
          <p:nvPr/>
        </p:nvSpPr>
        <p:spPr>
          <a:xfrm>
            <a:off x="8595360" y="3008376"/>
            <a:ext cx="2880360" cy="292608"/>
          </a:xfrm>
          <a:prstGeom prst="rect">
            <a:avLst/>
          </a:prstGeom>
          <a:noFill/>
          <a:ln/>
        </p:spPr>
        <p:txBody>
          <a:bodyPr wrap="square" lIns="0" tIns="0" rIns="0" bIns="0" rtlCol="0" anchor="ctr"/>
          <a:lstStyle/>
          <a:p>
            <a:pPr indent="0" marL="0">
              <a:buNone/>
            </a:pPr>
            <a:r>
              <a:rPr lang="en-US" sz="1300" b="1" dirty="0">
                <a:solidFill>
                  <a:srgbClr val="1B1D22"/>
                </a:solidFill>
                <a:latin typeface="Calibri" pitchFamily="34" charset="0"/>
                <a:ea typeface="Calibri" pitchFamily="34" charset="-122"/>
                <a:cs typeface="Calibri" pitchFamily="34" charset="-120"/>
              </a:rPr>
              <a:t>Dependencies</a:t>
            </a:r>
            <a:endParaRPr lang="en-US" sz="1300" dirty="0"/>
          </a:p>
        </p:txBody>
      </p:sp>
      <p:sp>
        <p:nvSpPr>
          <p:cNvPr id="27" name="Text 25"/>
          <p:cNvSpPr/>
          <p:nvPr/>
        </p:nvSpPr>
        <p:spPr>
          <a:xfrm>
            <a:off x="8339328" y="3355848"/>
            <a:ext cx="3118104" cy="475488"/>
          </a:xfrm>
          <a:prstGeom prst="rect">
            <a:avLst/>
          </a:prstGeom>
          <a:noFill/>
          <a:ln/>
        </p:spPr>
        <p:txBody>
          <a:bodyPr wrap="square" lIns="0" tIns="0" rIns="0" bIns="0" rtlCol="0" anchor="t"/>
          <a:lstStyle/>
          <a:p>
            <a:pPr indent="0" marL="0">
              <a:lnSpc>
                <a:spcPct val="105000"/>
              </a:lnSpc>
              <a:buNone/>
            </a:pPr>
            <a:r>
              <a:rPr lang="en-US" sz="1050" dirty="0">
                <a:solidFill>
                  <a:srgbClr val="5A6472"/>
                </a:solidFill>
                <a:latin typeface="Calibri" pitchFamily="34" charset="0"/>
                <a:ea typeface="Calibri" pitchFamily="34" charset="-122"/>
                <a:cs typeface="Calibri" pitchFamily="34" charset="-120"/>
              </a:rPr>
              <a:t>What it uses, and what uses it</a:t>
            </a:r>
            <a:endParaRPr lang="en-US" sz="1050" dirty="0"/>
          </a:p>
        </p:txBody>
      </p:sp>
      <p:sp>
        <p:nvSpPr>
          <p:cNvPr id="28" name="Shape 26"/>
          <p:cNvSpPr/>
          <p:nvPr/>
        </p:nvSpPr>
        <p:spPr>
          <a:xfrm>
            <a:off x="548640" y="4160520"/>
            <a:ext cx="3520440" cy="1078992"/>
          </a:xfrm>
          <a:prstGeom prst="roundRect">
            <a:avLst>
              <a:gd name="adj" fmla="val 5085"/>
            </a:avLst>
          </a:prstGeom>
          <a:solidFill>
            <a:srgbClr val="F4F6F8"/>
          </a:solidFill>
          <a:ln w="9525">
            <a:solidFill>
              <a:srgbClr val="DCE2EA"/>
            </a:solidFill>
            <a:prstDash val="solid"/>
          </a:ln>
        </p:spPr>
      </p:sp>
      <p:sp>
        <p:nvSpPr>
          <p:cNvPr id="29" name="Shape 27"/>
          <p:cNvSpPr/>
          <p:nvPr/>
        </p:nvSpPr>
        <p:spPr>
          <a:xfrm>
            <a:off x="749808" y="4361688"/>
            <a:ext cx="155448" cy="155448"/>
          </a:xfrm>
          <a:prstGeom prst="roundRect">
            <a:avLst>
              <a:gd name="adj" fmla="val 23529"/>
            </a:avLst>
          </a:prstGeom>
          <a:solidFill>
            <a:srgbClr val="2D8CFF"/>
          </a:solidFill>
          <a:ln w="12700">
            <a:solidFill>
              <a:srgbClr val="2D8CFF"/>
            </a:solidFill>
            <a:prstDash val="solid"/>
          </a:ln>
        </p:spPr>
      </p:sp>
      <p:sp>
        <p:nvSpPr>
          <p:cNvPr id="30" name="Text 28"/>
          <p:cNvSpPr/>
          <p:nvPr/>
        </p:nvSpPr>
        <p:spPr>
          <a:xfrm>
            <a:off x="1005840" y="4288536"/>
            <a:ext cx="2880360" cy="292608"/>
          </a:xfrm>
          <a:prstGeom prst="rect">
            <a:avLst/>
          </a:prstGeom>
          <a:noFill/>
          <a:ln/>
        </p:spPr>
        <p:txBody>
          <a:bodyPr wrap="square" lIns="0" tIns="0" rIns="0" bIns="0" rtlCol="0" anchor="ctr"/>
          <a:lstStyle/>
          <a:p>
            <a:pPr indent="0" marL="0">
              <a:buNone/>
            </a:pPr>
            <a:r>
              <a:rPr lang="en-US" sz="1300" b="1" dirty="0">
                <a:solidFill>
                  <a:srgbClr val="1B1D22"/>
                </a:solidFill>
                <a:latin typeface="Calibri" pitchFamily="34" charset="0"/>
                <a:ea typeface="Calibri" pitchFamily="34" charset="-122"/>
                <a:cs typeface="Calibri" pitchFamily="34" charset="-120"/>
              </a:rPr>
              <a:t>Grants</a:t>
            </a:r>
            <a:endParaRPr lang="en-US" sz="1300" dirty="0"/>
          </a:p>
        </p:txBody>
      </p:sp>
      <p:sp>
        <p:nvSpPr>
          <p:cNvPr id="31" name="Text 29"/>
          <p:cNvSpPr/>
          <p:nvPr/>
        </p:nvSpPr>
        <p:spPr>
          <a:xfrm>
            <a:off x="749808" y="4636008"/>
            <a:ext cx="3118104" cy="475488"/>
          </a:xfrm>
          <a:prstGeom prst="rect">
            <a:avLst/>
          </a:prstGeom>
          <a:noFill/>
          <a:ln/>
        </p:spPr>
        <p:txBody>
          <a:bodyPr wrap="square" lIns="0" tIns="0" rIns="0" bIns="0" rtlCol="0" anchor="t"/>
          <a:lstStyle/>
          <a:p>
            <a:pPr indent="0" marL="0">
              <a:lnSpc>
                <a:spcPct val="105000"/>
              </a:lnSpc>
              <a:buNone/>
            </a:pPr>
            <a:r>
              <a:rPr lang="en-US" sz="1050" dirty="0">
                <a:solidFill>
                  <a:srgbClr val="5A6472"/>
                </a:solidFill>
                <a:latin typeface="Calibri" pitchFamily="34" charset="0"/>
                <a:ea typeface="Calibri" pitchFamily="34" charset="-122"/>
                <a:cs typeface="Calibri" pitchFamily="34" charset="-120"/>
              </a:rPr>
              <a:t>Who has been granted what</a:t>
            </a:r>
            <a:endParaRPr lang="en-US" sz="1050" dirty="0"/>
          </a:p>
        </p:txBody>
      </p:sp>
      <p:sp>
        <p:nvSpPr>
          <p:cNvPr id="32" name="Shape 30"/>
          <p:cNvSpPr/>
          <p:nvPr/>
        </p:nvSpPr>
        <p:spPr>
          <a:xfrm>
            <a:off x="4343400" y="4160520"/>
            <a:ext cx="3520440" cy="1078992"/>
          </a:xfrm>
          <a:prstGeom prst="roundRect">
            <a:avLst>
              <a:gd name="adj" fmla="val 5085"/>
            </a:avLst>
          </a:prstGeom>
          <a:solidFill>
            <a:srgbClr val="F4F6F8"/>
          </a:solidFill>
          <a:ln w="9525">
            <a:solidFill>
              <a:srgbClr val="DCE2EA"/>
            </a:solidFill>
            <a:prstDash val="solid"/>
          </a:ln>
        </p:spPr>
      </p:sp>
      <p:sp>
        <p:nvSpPr>
          <p:cNvPr id="33" name="Shape 31"/>
          <p:cNvSpPr/>
          <p:nvPr/>
        </p:nvSpPr>
        <p:spPr>
          <a:xfrm>
            <a:off x="4544568" y="4361688"/>
            <a:ext cx="155448" cy="155448"/>
          </a:xfrm>
          <a:prstGeom prst="roundRect">
            <a:avLst>
              <a:gd name="adj" fmla="val 23529"/>
            </a:avLst>
          </a:prstGeom>
          <a:solidFill>
            <a:srgbClr val="4FD6E6"/>
          </a:solidFill>
          <a:ln w="12700">
            <a:solidFill>
              <a:srgbClr val="4FD6E6"/>
            </a:solidFill>
            <a:prstDash val="solid"/>
          </a:ln>
        </p:spPr>
      </p:sp>
      <p:sp>
        <p:nvSpPr>
          <p:cNvPr id="34" name="Text 32"/>
          <p:cNvSpPr/>
          <p:nvPr/>
        </p:nvSpPr>
        <p:spPr>
          <a:xfrm>
            <a:off x="4800600" y="4288536"/>
            <a:ext cx="2880360" cy="292608"/>
          </a:xfrm>
          <a:prstGeom prst="rect">
            <a:avLst/>
          </a:prstGeom>
          <a:noFill/>
          <a:ln/>
        </p:spPr>
        <p:txBody>
          <a:bodyPr wrap="square" lIns="0" tIns="0" rIns="0" bIns="0" rtlCol="0" anchor="ctr"/>
          <a:lstStyle/>
          <a:p>
            <a:pPr indent="0" marL="0">
              <a:buNone/>
            </a:pPr>
            <a:r>
              <a:rPr lang="en-US" sz="1300" b="1" dirty="0">
                <a:solidFill>
                  <a:srgbClr val="1B1D22"/>
                </a:solidFill>
                <a:latin typeface="Calibri" pitchFamily="34" charset="0"/>
                <a:ea typeface="Calibri" pitchFamily="34" charset="-122"/>
                <a:cs typeface="Calibri" pitchFamily="34" charset="-120"/>
              </a:rPr>
              <a:t>Statistics</a:t>
            </a:r>
            <a:endParaRPr lang="en-US" sz="1300" dirty="0"/>
          </a:p>
        </p:txBody>
      </p:sp>
      <p:sp>
        <p:nvSpPr>
          <p:cNvPr id="35" name="Text 33"/>
          <p:cNvSpPr/>
          <p:nvPr/>
        </p:nvSpPr>
        <p:spPr>
          <a:xfrm>
            <a:off x="4544568" y="4636008"/>
            <a:ext cx="3118104" cy="475488"/>
          </a:xfrm>
          <a:prstGeom prst="rect">
            <a:avLst/>
          </a:prstGeom>
          <a:noFill/>
          <a:ln/>
        </p:spPr>
        <p:txBody>
          <a:bodyPr wrap="square" lIns="0" tIns="0" rIns="0" bIns="0" rtlCol="0" anchor="t"/>
          <a:lstStyle/>
          <a:p>
            <a:pPr indent="0" marL="0">
              <a:lnSpc>
                <a:spcPct val="105000"/>
              </a:lnSpc>
              <a:buNone/>
            </a:pPr>
            <a:r>
              <a:rPr lang="en-US" sz="1050" dirty="0">
                <a:solidFill>
                  <a:srgbClr val="5A6472"/>
                </a:solidFill>
                <a:latin typeface="Calibri" pitchFamily="34" charset="0"/>
                <a:ea typeface="Calibri" pitchFamily="34" charset="-122"/>
                <a:cs typeface="Calibri" pitchFamily="34" charset="-120"/>
              </a:rPr>
              <a:t>Row counts, space and timestamps</a:t>
            </a:r>
            <a:endParaRPr lang="en-US" sz="1050" dirty="0"/>
          </a:p>
        </p:txBody>
      </p:sp>
      <p:sp>
        <p:nvSpPr>
          <p:cNvPr id="36" name="Shape 34"/>
          <p:cNvSpPr/>
          <p:nvPr/>
        </p:nvSpPr>
        <p:spPr>
          <a:xfrm>
            <a:off x="8138160" y="4160520"/>
            <a:ext cx="3520440" cy="1078992"/>
          </a:xfrm>
          <a:prstGeom prst="roundRect">
            <a:avLst>
              <a:gd name="adj" fmla="val 5085"/>
            </a:avLst>
          </a:prstGeom>
          <a:solidFill>
            <a:srgbClr val="F4F6F8"/>
          </a:solidFill>
          <a:ln w="9525">
            <a:solidFill>
              <a:srgbClr val="DCE2EA"/>
            </a:solidFill>
            <a:prstDash val="solid"/>
          </a:ln>
        </p:spPr>
      </p:sp>
      <p:sp>
        <p:nvSpPr>
          <p:cNvPr id="37" name="Shape 35"/>
          <p:cNvSpPr/>
          <p:nvPr/>
        </p:nvSpPr>
        <p:spPr>
          <a:xfrm>
            <a:off x="8339328" y="4361688"/>
            <a:ext cx="155448" cy="155448"/>
          </a:xfrm>
          <a:prstGeom prst="roundRect">
            <a:avLst>
              <a:gd name="adj" fmla="val 23529"/>
            </a:avLst>
          </a:prstGeom>
          <a:solidFill>
            <a:srgbClr val="2D8CFF"/>
          </a:solidFill>
          <a:ln w="12700">
            <a:solidFill>
              <a:srgbClr val="2D8CFF"/>
            </a:solidFill>
            <a:prstDash val="solid"/>
          </a:ln>
        </p:spPr>
      </p:sp>
      <p:sp>
        <p:nvSpPr>
          <p:cNvPr id="38" name="Text 36"/>
          <p:cNvSpPr/>
          <p:nvPr/>
        </p:nvSpPr>
        <p:spPr>
          <a:xfrm>
            <a:off x="8595360" y="4288536"/>
            <a:ext cx="2880360" cy="292608"/>
          </a:xfrm>
          <a:prstGeom prst="rect">
            <a:avLst/>
          </a:prstGeom>
          <a:noFill/>
          <a:ln/>
        </p:spPr>
        <p:txBody>
          <a:bodyPr wrap="square" lIns="0" tIns="0" rIns="0" bIns="0" rtlCol="0" anchor="ctr"/>
          <a:lstStyle/>
          <a:p>
            <a:pPr indent="0" marL="0">
              <a:buNone/>
            </a:pPr>
            <a:r>
              <a:rPr lang="en-US" sz="1300" b="1" dirty="0">
                <a:solidFill>
                  <a:srgbClr val="1B1D22"/>
                </a:solidFill>
                <a:latin typeface="Calibri" pitchFamily="34" charset="0"/>
                <a:ea typeface="Calibri" pitchFamily="34" charset="-122"/>
                <a:cs typeface="Calibri" pitchFamily="34" charset="-120"/>
              </a:rPr>
              <a:t>SQL</a:t>
            </a:r>
            <a:endParaRPr lang="en-US" sz="1300" dirty="0"/>
          </a:p>
        </p:txBody>
      </p:sp>
      <p:sp>
        <p:nvSpPr>
          <p:cNvPr id="39" name="Text 37"/>
          <p:cNvSpPr/>
          <p:nvPr/>
        </p:nvSpPr>
        <p:spPr>
          <a:xfrm>
            <a:off x="8339328" y="4636008"/>
            <a:ext cx="3118104" cy="475488"/>
          </a:xfrm>
          <a:prstGeom prst="rect">
            <a:avLst/>
          </a:prstGeom>
          <a:noFill/>
          <a:ln/>
        </p:spPr>
        <p:txBody>
          <a:bodyPr wrap="square" lIns="0" tIns="0" rIns="0" bIns="0" rtlCol="0" anchor="t"/>
          <a:lstStyle/>
          <a:p>
            <a:pPr indent="0" marL="0">
              <a:lnSpc>
                <a:spcPct val="105000"/>
              </a:lnSpc>
              <a:buNone/>
            </a:pPr>
            <a:r>
              <a:rPr lang="en-US" sz="1050" dirty="0">
                <a:solidFill>
                  <a:srgbClr val="5A6472"/>
                </a:solidFill>
                <a:latin typeface="Calibri" pitchFamily="34" charset="0"/>
                <a:ea typeface="Calibri" pitchFamily="34" charset="-122"/>
                <a:cs typeface="Calibri" pitchFamily="34" charset="-120"/>
              </a:rPr>
              <a:t>A generated CREATE TABLE script</a:t>
            </a:r>
            <a:endParaRPr lang="en-US" sz="1050" dirty="0"/>
          </a:p>
        </p:txBody>
      </p:sp>
      <p:sp>
        <p:nvSpPr>
          <p:cNvPr id="40" name="Text 38"/>
          <p:cNvSpPr/>
          <p:nvPr/>
        </p:nvSpPr>
        <p:spPr>
          <a:xfrm>
            <a:off x="548640" y="5623560"/>
            <a:ext cx="10058400" cy="365760"/>
          </a:xfrm>
          <a:prstGeom prst="rect">
            <a:avLst/>
          </a:prstGeom>
          <a:noFill/>
          <a:ln/>
        </p:spPr>
        <p:txBody>
          <a:bodyPr wrap="square" lIns="0" tIns="0" rIns="0" bIns="0" rtlCol="0" anchor="ctr"/>
          <a:lstStyle/>
          <a:p>
            <a:pPr indent="0" marL="0">
              <a:buNone/>
            </a:pPr>
            <a:r>
              <a:rPr lang="en-US" sz="1250" i="1" dirty="0">
                <a:solidFill>
                  <a:srgbClr val="5A6472"/>
                </a:solidFill>
                <a:latin typeface="Calibri" pitchFamily="34" charset="0"/>
                <a:ea typeface="Calibri" pitchFamily="34" charset="-122"/>
                <a:cs typeface="Calibri" pitchFamily="34" charset="-120"/>
              </a:rPr>
              <a:t>Panes load as you open them, and each one refreshes independently.</a:t>
            </a:r>
            <a:endParaRPr lang="en-US" sz="12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7315200" cy="256032"/>
          </a:xfrm>
          <a:prstGeom prst="rect">
            <a:avLst/>
          </a:prstGeom>
          <a:noFill/>
          <a:ln/>
        </p:spPr>
        <p:txBody>
          <a:bodyPr wrap="square" lIns="0" tIns="0" rIns="0" bIns="0" rtlCol="0" anchor="ctr"/>
          <a:lstStyle/>
          <a:p>
            <a:pPr indent="0" marL="0">
              <a:buNone/>
            </a:pPr>
            <a:r>
              <a:rPr lang="en-US" sz="1100" b="1" spc="200" kern="0" dirty="0">
                <a:solidFill>
                  <a:srgbClr val="2D8CFF"/>
                </a:solidFill>
                <a:latin typeface="Calibri" pitchFamily="34" charset="0"/>
                <a:ea typeface="Calibri" pitchFamily="34" charset="-122"/>
                <a:cs typeface="Calibri" pitchFamily="34" charset="-120"/>
              </a:rPr>
              <a:t>DATA EDITING</a:t>
            </a:r>
            <a:endParaRPr lang="en-US" sz="1100" dirty="0"/>
          </a:p>
        </p:txBody>
      </p:sp>
      <p:sp>
        <p:nvSpPr>
          <p:cNvPr id="3" name="Text 1"/>
          <p:cNvSpPr/>
          <p:nvPr/>
        </p:nvSpPr>
        <p:spPr>
          <a:xfrm>
            <a:off x="548640" y="713232"/>
            <a:ext cx="11064240" cy="685800"/>
          </a:xfrm>
          <a:prstGeom prst="rect">
            <a:avLst/>
          </a:prstGeom>
          <a:noFill/>
          <a:ln/>
        </p:spPr>
        <p:txBody>
          <a:bodyPr wrap="square" lIns="0" tIns="0" rIns="0" bIns="0" rtlCol="0" anchor="ctr"/>
          <a:lstStyle/>
          <a:p>
            <a:pPr indent="0" marL="0">
              <a:buNone/>
            </a:pPr>
            <a:r>
              <a:rPr lang="en-US" sz="3400" b="1" dirty="0">
                <a:solidFill>
                  <a:srgbClr val="1B1D22"/>
                </a:solidFill>
                <a:latin typeface="Calibri" pitchFamily="34" charset="0"/>
                <a:ea typeface="Calibri" pitchFamily="34" charset="-122"/>
                <a:cs typeface="Calibri" pitchFamily="34" charset="-120"/>
              </a:rPr>
              <a:t>Edit rows in the grid — carefully</a:t>
            </a:r>
            <a:endParaRPr lang="en-US" sz="3400" dirty="0"/>
          </a:p>
        </p:txBody>
      </p:sp>
      <p:sp>
        <p:nvSpPr>
          <p:cNvPr id="4" name="Text 2"/>
          <p:cNvSpPr/>
          <p:nvPr/>
        </p:nvSpPr>
        <p:spPr>
          <a:xfrm>
            <a:off x="548640" y="1691640"/>
            <a:ext cx="5486400" cy="237744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rgbClr val="5A6472"/>
                </a:solidFill>
                <a:latin typeface="Calibri" pitchFamily="34" charset="0"/>
                <a:ea typeface="Calibri" pitchFamily="34" charset="-122"/>
                <a:cs typeface="Calibri" pitchFamily="34" charset="-120"/>
              </a:rPr>
              <a:t>Click a cell and type to change a value</a:t>
            </a:r>
            <a:endParaRPr lang="en-US" sz="1500" dirty="0"/>
          </a:p>
          <a:p>
            <a:pPr marL="342900" indent="-342900">
              <a:spcAft>
                <a:spcPts val="800"/>
              </a:spcAft>
              <a:buSzPct val="100000"/>
              <a:buChar char="•"/>
            </a:pPr>
            <a:r>
              <a:rPr lang="en-US" sz="1500" dirty="0">
                <a:solidFill>
                  <a:srgbClr val="5A6472"/>
                </a:solidFill>
                <a:latin typeface="Calibri" pitchFamily="34" charset="0"/>
                <a:ea typeface="Calibri" pitchFamily="34" charset="-122"/>
                <a:cs typeface="Calibri" pitchFamily="34" charset="-120"/>
              </a:rPr>
              <a:t>Add and delete rows from the toolbar</a:t>
            </a:r>
            <a:endParaRPr lang="en-US" sz="1500" dirty="0"/>
          </a:p>
          <a:p>
            <a:pPr marL="342900" indent="-342900">
              <a:spcAft>
                <a:spcPts val="800"/>
              </a:spcAft>
              <a:buSzPct val="100000"/>
              <a:buChar char="•"/>
            </a:pPr>
            <a:r>
              <a:rPr lang="en-US" sz="1500" dirty="0">
                <a:solidFill>
                  <a:srgbClr val="5A6472"/>
                </a:solidFill>
                <a:latin typeface="Calibri" pitchFamily="34" charset="0"/>
                <a:ea typeface="Calibri" pitchFamily="34" charset="-122"/>
                <a:cs typeface="Calibri" pitchFamily="34" charset="-120"/>
              </a:rPr>
              <a:t>Revert discards every pending change</a:t>
            </a:r>
            <a:endParaRPr lang="en-US" sz="1500" dirty="0"/>
          </a:p>
          <a:p>
            <a:pPr marL="342900" indent="-342900">
              <a:spcAft>
                <a:spcPts val="800"/>
              </a:spcAft>
              <a:buSzPct val="100000"/>
              <a:buChar char="•"/>
            </a:pPr>
            <a:r>
              <a:rPr lang="en-US" sz="1500" dirty="0">
                <a:solidFill>
                  <a:srgbClr val="5A6472"/>
                </a:solidFill>
                <a:latin typeface="Calibri" pitchFamily="34" charset="0"/>
                <a:ea typeface="Calibri" pitchFamily="34" charset="-122"/>
                <a:cs typeface="Calibri" pitchFamily="34" charset="-120"/>
              </a:rPr>
              <a:t>Save changes writes your edits to the database</a:t>
            </a:r>
            <a:endParaRPr lang="en-US" sz="1500" dirty="0"/>
          </a:p>
        </p:txBody>
      </p:sp>
      <p:sp>
        <p:nvSpPr>
          <p:cNvPr id="5" name="Shape 3"/>
          <p:cNvSpPr/>
          <p:nvPr/>
        </p:nvSpPr>
        <p:spPr>
          <a:xfrm>
            <a:off x="6400800" y="1645920"/>
            <a:ext cx="5212080" cy="2286000"/>
          </a:xfrm>
          <a:prstGeom prst="roundRect">
            <a:avLst>
              <a:gd name="adj" fmla="val 2400"/>
            </a:avLst>
          </a:prstGeom>
          <a:solidFill>
            <a:srgbClr val="F4F6F8"/>
          </a:solidFill>
          <a:ln w="9525">
            <a:solidFill>
              <a:srgbClr val="DCE2EA"/>
            </a:solidFill>
            <a:prstDash val="solid"/>
          </a:ln>
        </p:spPr>
      </p:sp>
      <p:sp>
        <p:nvSpPr>
          <p:cNvPr id="6" name="Text 4"/>
          <p:cNvSpPr/>
          <p:nvPr/>
        </p:nvSpPr>
        <p:spPr>
          <a:xfrm>
            <a:off x="6675120" y="1828800"/>
            <a:ext cx="4754880" cy="320040"/>
          </a:xfrm>
          <a:prstGeom prst="rect">
            <a:avLst/>
          </a:prstGeom>
          <a:noFill/>
          <a:ln/>
        </p:spPr>
        <p:txBody>
          <a:bodyPr wrap="square" lIns="0" tIns="0" rIns="0" bIns="0" rtlCol="0" anchor="ctr"/>
          <a:lstStyle/>
          <a:p>
            <a:pPr indent="0" marL="0">
              <a:buNone/>
            </a:pPr>
            <a:r>
              <a:rPr lang="en-US" sz="1500" b="1" dirty="0">
                <a:solidFill>
                  <a:srgbClr val="1B1D22"/>
                </a:solidFill>
                <a:latin typeface="Calibri" pitchFamily="34" charset="0"/>
                <a:ea typeface="Calibri" pitchFamily="34" charset="-122"/>
                <a:cs typeface="Calibri" pitchFamily="34" charset="-120"/>
              </a:rPr>
              <a:t>Nothing is written until you say so</a:t>
            </a:r>
            <a:endParaRPr lang="en-US" sz="1500" dirty="0"/>
          </a:p>
        </p:txBody>
      </p:sp>
      <p:sp>
        <p:nvSpPr>
          <p:cNvPr id="7" name="Text 5"/>
          <p:cNvSpPr/>
          <p:nvPr/>
        </p:nvSpPr>
        <p:spPr>
          <a:xfrm>
            <a:off x="6675120" y="2212848"/>
            <a:ext cx="4754880" cy="1554480"/>
          </a:xfrm>
          <a:prstGeom prst="rect">
            <a:avLst/>
          </a:prstGeom>
          <a:noFill/>
          <a:ln/>
        </p:spPr>
        <p:txBody>
          <a:bodyPr wrap="square" lIns="0" tIns="0" rIns="0" bIns="0" rtlCol="0" anchor="t"/>
          <a:lstStyle/>
          <a:p>
            <a:pPr indent="0" marL="0">
              <a:buNone/>
            </a:pPr>
            <a:r>
              <a:rPr lang="en-US" sz="1250" dirty="0">
                <a:solidFill>
                  <a:srgbClr val="5A6472"/>
                </a:solidFill>
                <a:latin typeface="Calibri" pitchFamily="34" charset="0"/>
                <a:ea typeface="Calibri" pitchFamily="34" charset="-122"/>
                <a:cs typeface="Calibri" pitchFamily="34" charset="-120"/>
              </a:rPr>
              <a:t>Edits are held locally until you press Save changes, and Qplus then asks you to confirm, telling you exactly how many rows will be affected. Updates are sent as parameterised statements.</a:t>
            </a:r>
            <a:endParaRPr lang="en-US" sz="1250" dirty="0"/>
          </a:p>
        </p:txBody>
      </p:sp>
      <p:sp>
        <p:nvSpPr>
          <p:cNvPr id="8" name="Shape 6"/>
          <p:cNvSpPr/>
          <p:nvPr/>
        </p:nvSpPr>
        <p:spPr>
          <a:xfrm>
            <a:off x="548640" y="4343400"/>
            <a:ext cx="11064240" cy="1371600"/>
          </a:xfrm>
          <a:prstGeom prst="roundRect">
            <a:avLst>
              <a:gd name="adj" fmla="val 4000"/>
            </a:avLst>
          </a:prstGeom>
          <a:solidFill>
            <a:srgbClr val="FFF6E5"/>
          </a:solidFill>
          <a:ln w="9525">
            <a:solidFill>
              <a:srgbClr val="F0D9A8"/>
            </a:solidFill>
            <a:prstDash val="solid"/>
          </a:ln>
        </p:spPr>
      </p:sp>
      <p:sp>
        <p:nvSpPr>
          <p:cNvPr id="9" name="Text 7"/>
          <p:cNvSpPr/>
          <p:nvPr/>
        </p:nvSpPr>
        <p:spPr>
          <a:xfrm>
            <a:off x="868680" y="4498848"/>
            <a:ext cx="7315200" cy="292608"/>
          </a:xfrm>
          <a:prstGeom prst="rect">
            <a:avLst/>
          </a:prstGeom>
          <a:noFill/>
          <a:ln/>
        </p:spPr>
        <p:txBody>
          <a:bodyPr wrap="square" lIns="0" tIns="0" rIns="0" bIns="0" rtlCol="0" anchor="ctr"/>
          <a:lstStyle/>
          <a:p>
            <a:pPr indent="0" marL="0">
              <a:buNone/>
            </a:pPr>
            <a:r>
              <a:rPr lang="en-US" sz="1400" b="1" dirty="0">
                <a:solidFill>
                  <a:srgbClr val="8A5A00"/>
                </a:solidFill>
                <a:latin typeface="Calibri" pitchFamily="34" charset="0"/>
                <a:ea typeface="Calibri" pitchFamily="34" charset="-122"/>
                <a:cs typeface="Calibri" pitchFamily="34" charset="-120"/>
              </a:rPr>
              <a:t>Editing requires a primary key</a:t>
            </a:r>
            <a:endParaRPr lang="en-US" sz="1400" dirty="0"/>
          </a:p>
        </p:txBody>
      </p:sp>
      <p:sp>
        <p:nvSpPr>
          <p:cNvPr id="10" name="Text 8"/>
          <p:cNvSpPr/>
          <p:nvPr/>
        </p:nvSpPr>
        <p:spPr>
          <a:xfrm>
            <a:off x="868680" y="4846320"/>
            <a:ext cx="10424160" cy="777240"/>
          </a:xfrm>
          <a:prstGeom prst="rect">
            <a:avLst/>
          </a:prstGeom>
          <a:noFill/>
          <a:ln/>
        </p:spPr>
        <p:txBody>
          <a:bodyPr wrap="square" lIns="0" tIns="0" rIns="0" bIns="0" rtlCol="0" anchor="ctr"/>
          <a:lstStyle/>
          <a:p>
            <a:pPr indent="0" marL="0">
              <a:buNone/>
            </a:pPr>
            <a:r>
              <a:rPr lang="en-US" sz="1250" dirty="0">
                <a:solidFill>
                  <a:srgbClr val="6E4A08"/>
                </a:solidFill>
                <a:latin typeface="Calibri" pitchFamily="34" charset="0"/>
                <a:ea typeface="Calibri" pitchFamily="34" charset="-122"/>
                <a:cs typeface="Calibri" pitchFamily="34" charset="-120"/>
              </a:rPr>
              <a:t>A primary key is what lets Qplus match each grid row to exactly one database row. Tables without one open read-only and say so — use an explicit UPDATE or DELETE in a query tab instead.</a:t>
            </a:r>
            <a:endParaRPr lang="en-US" sz="12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7315200" cy="256032"/>
          </a:xfrm>
          <a:prstGeom prst="rect">
            <a:avLst/>
          </a:prstGeom>
          <a:noFill/>
          <a:ln/>
        </p:spPr>
        <p:txBody>
          <a:bodyPr wrap="square" lIns="0" tIns="0" rIns="0" bIns="0" rtlCol="0" anchor="ctr"/>
          <a:lstStyle/>
          <a:p>
            <a:pPr indent="0" marL="0">
              <a:buNone/>
            </a:pPr>
            <a:r>
              <a:rPr lang="en-US" sz="1100" b="1" spc="200" kern="0" dirty="0">
                <a:solidFill>
                  <a:srgbClr val="2D8CFF"/>
                </a:solidFill>
                <a:latin typeface="Calibri" pitchFamily="34" charset="0"/>
                <a:ea typeface="Calibri" pitchFamily="34" charset="-122"/>
                <a:cs typeface="Calibri" pitchFamily="34" charset="-120"/>
              </a:rPr>
              <a:t>SCHEMA AND USERS</a:t>
            </a:r>
            <a:endParaRPr lang="en-US" sz="1100" dirty="0"/>
          </a:p>
        </p:txBody>
      </p:sp>
      <p:sp>
        <p:nvSpPr>
          <p:cNvPr id="3" name="Text 1"/>
          <p:cNvSpPr/>
          <p:nvPr/>
        </p:nvSpPr>
        <p:spPr>
          <a:xfrm>
            <a:off x="548640" y="713232"/>
            <a:ext cx="11064240" cy="685800"/>
          </a:xfrm>
          <a:prstGeom prst="rect">
            <a:avLst/>
          </a:prstGeom>
          <a:noFill/>
          <a:ln/>
        </p:spPr>
        <p:txBody>
          <a:bodyPr wrap="square" lIns="0" tIns="0" rIns="0" bIns="0" rtlCol="0" anchor="ctr"/>
          <a:lstStyle/>
          <a:p>
            <a:pPr indent="0" marL="0">
              <a:buNone/>
            </a:pPr>
            <a:r>
              <a:rPr lang="en-US" sz="3400" b="1" dirty="0">
                <a:solidFill>
                  <a:srgbClr val="1B1D22"/>
                </a:solidFill>
                <a:latin typeface="Calibri" pitchFamily="34" charset="0"/>
                <a:ea typeface="Calibri" pitchFamily="34" charset="-122"/>
                <a:cs typeface="Calibri" pitchFamily="34" charset="-120"/>
              </a:rPr>
              <a:t>Build, copy and administer</a:t>
            </a:r>
            <a:endParaRPr lang="en-US" sz="3400" dirty="0"/>
          </a:p>
        </p:txBody>
      </p:sp>
      <p:sp>
        <p:nvSpPr>
          <p:cNvPr id="4" name="Shape 2"/>
          <p:cNvSpPr/>
          <p:nvPr/>
        </p:nvSpPr>
        <p:spPr>
          <a:xfrm>
            <a:off x="548640" y="1645920"/>
            <a:ext cx="3520440" cy="2103120"/>
          </a:xfrm>
          <a:prstGeom prst="roundRect">
            <a:avLst>
              <a:gd name="adj" fmla="val 2609"/>
            </a:avLst>
          </a:prstGeom>
          <a:solidFill>
            <a:srgbClr val="F4F6F8"/>
          </a:solidFill>
          <a:ln w="9525">
            <a:solidFill>
              <a:srgbClr val="DCE2EA"/>
            </a:solidFill>
            <a:prstDash val="solid"/>
          </a:ln>
        </p:spPr>
      </p:sp>
      <p:sp>
        <p:nvSpPr>
          <p:cNvPr id="5" name="Shape 3"/>
          <p:cNvSpPr/>
          <p:nvPr/>
        </p:nvSpPr>
        <p:spPr>
          <a:xfrm>
            <a:off x="749808" y="1847088"/>
            <a:ext cx="155448" cy="155448"/>
          </a:xfrm>
          <a:prstGeom prst="roundRect">
            <a:avLst>
              <a:gd name="adj" fmla="val 23529"/>
            </a:avLst>
          </a:prstGeom>
          <a:solidFill>
            <a:srgbClr val="2D8CFF"/>
          </a:solidFill>
          <a:ln w="12700">
            <a:solidFill>
              <a:srgbClr val="2D8CFF"/>
            </a:solidFill>
            <a:prstDash val="solid"/>
          </a:ln>
        </p:spPr>
      </p:sp>
      <p:sp>
        <p:nvSpPr>
          <p:cNvPr id="6" name="Text 4"/>
          <p:cNvSpPr/>
          <p:nvPr/>
        </p:nvSpPr>
        <p:spPr>
          <a:xfrm>
            <a:off x="1005840" y="1773936"/>
            <a:ext cx="2880360" cy="292608"/>
          </a:xfrm>
          <a:prstGeom prst="rect">
            <a:avLst/>
          </a:prstGeom>
          <a:noFill/>
          <a:ln/>
        </p:spPr>
        <p:txBody>
          <a:bodyPr wrap="square" lIns="0" tIns="0" rIns="0" bIns="0" rtlCol="0" anchor="ctr"/>
          <a:lstStyle/>
          <a:p>
            <a:pPr indent="0" marL="0">
              <a:buNone/>
            </a:pPr>
            <a:r>
              <a:rPr lang="en-US" sz="1300" b="1" dirty="0">
                <a:solidFill>
                  <a:srgbClr val="1B1D22"/>
                </a:solidFill>
                <a:latin typeface="Calibri" pitchFamily="34" charset="0"/>
                <a:ea typeface="Calibri" pitchFamily="34" charset="-122"/>
                <a:cs typeface="Calibri" pitchFamily="34" charset="-120"/>
              </a:rPr>
              <a:t>Table designer</a:t>
            </a:r>
            <a:endParaRPr lang="en-US" sz="1300" dirty="0"/>
          </a:p>
        </p:txBody>
      </p:sp>
      <p:sp>
        <p:nvSpPr>
          <p:cNvPr id="7" name="Text 5"/>
          <p:cNvSpPr/>
          <p:nvPr/>
        </p:nvSpPr>
        <p:spPr>
          <a:xfrm>
            <a:off x="749808" y="2121408"/>
            <a:ext cx="3118104" cy="1499616"/>
          </a:xfrm>
          <a:prstGeom prst="rect">
            <a:avLst/>
          </a:prstGeom>
          <a:noFill/>
          <a:ln/>
        </p:spPr>
        <p:txBody>
          <a:bodyPr wrap="square" lIns="0" tIns="0" rIns="0" bIns="0" rtlCol="0" anchor="t"/>
          <a:lstStyle/>
          <a:p>
            <a:pPr indent="0" marL="0">
              <a:lnSpc>
                <a:spcPct val="105000"/>
              </a:lnSpc>
              <a:buNone/>
            </a:pPr>
            <a:r>
              <a:rPr lang="en-US" sz="1050" dirty="0">
                <a:solidFill>
                  <a:srgbClr val="5A6472"/>
                </a:solidFill>
                <a:latin typeface="Calibri" pitchFamily="34" charset="0"/>
                <a:ea typeface="Calibri" pitchFamily="34" charset="-122"/>
                <a:cs typeface="Calibri" pitchFamily="34" charset="-120"/>
              </a:rPr>
              <a:t>Define columns in a grid — name, type, length, nullability, primary key and default — then generate CREATE TABLE, or ALTER TABLE ADD for new columns.</a:t>
            </a:r>
            <a:endParaRPr lang="en-US" sz="1050" dirty="0"/>
          </a:p>
        </p:txBody>
      </p:sp>
      <p:sp>
        <p:nvSpPr>
          <p:cNvPr id="8" name="Shape 6"/>
          <p:cNvSpPr/>
          <p:nvPr/>
        </p:nvSpPr>
        <p:spPr>
          <a:xfrm>
            <a:off x="4343400" y="1645920"/>
            <a:ext cx="3520440" cy="2103120"/>
          </a:xfrm>
          <a:prstGeom prst="roundRect">
            <a:avLst>
              <a:gd name="adj" fmla="val 2609"/>
            </a:avLst>
          </a:prstGeom>
          <a:solidFill>
            <a:srgbClr val="F4F6F8"/>
          </a:solidFill>
          <a:ln w="9525">
            <a:solidFill>
              <a:srgbClr val="DCE2EA"/>
            </a:solidFill>
            <a:prstDash val="solid"/>
          </a:ln>
        </p:spPr>
      </p:sp>
      <p:sp>
        <p:nvSpPr>
          <p:cNvPr id="9" name="Shape 7"/>
          <p:cNvSpPr/>
          <p:nvPr/>
        </p:nvSpPr>
        <p:spPr>
          <a:xfrm>
            <a:off x="4544568" y="1847088"/>
            <a:ext cx="155448" cy="155448"/>
          </a:xfrm>
          <a:prstGeom prst="roundRect">
            <a:avLst>
              <a:gd name="adj" fmla="val 23529"/>
            </a:avLst>
          </a:prstGeom>
          <a:solidFill>
            <a:srgbClr val="4FD6E6"/>
          </a:solidFill>
          <a:ln w="12700">
            <a:solidFill>
              <a:srgbClr val="4FD6E6"/>
            </a:solidFill>
            <a:prstDash val="solid"/>
          </a:ln>
        </p:spPr>
      </p:sp>
      <p:sp>
        <p:nvSpPr>
          <p:cNvPr id="10" name="Text 8"/>
          <p:cNvSpPr/>
          <p:nvPr/>
        </p:nvSpPr>
        <p:spPr>
          <a:xfrm>
            <a:off x="4800600" y="1773936"/>
            <a:ext cx="2880360" cy="292608"/>
          </a:xfrm>
          <a:prstGeom prst="rect">
            <a:avLst/>
          </a:prstGeom>
          <a:noFill/>
          <a:ln/>
        </p:spPr>
        <p:txBody>
          <a:bodyPr wrap="square" lIns="0" tIns="0" rIns="0" bIns="0" rtlCol="0" anchor="ctr"/>
          <a:lstStyle/>
          <a:p>
            <a:pPr indent="0" marL="0">
              <a:buNone/>
            </a:pPr>
            <a:r>
              <a:rPr lang="en-US" sz="1300" b="1" dirty="0">
                <a:solidFill>
                  <a:srgbClr val="1B1D22"/>
                </a:solidFill>
                <a:latin typeface="Calibri" pitchFamily="34" charset="0"/>
                <a:ea typeface="Calibri" pitchFamily="34" charset="-122"/>
                <a:cs typeface="Calibri" pitchFamily="34" charset="-120"/>
              </a:rPr>
              <a:t>Clone table</a:t>
            </a:r>
            <a:endParaRPr lang="en-US" sz="1300" dirty="0"/>
          </a:p>
        </p:txBody>
      </p:sp>
      <p:sp>
        <p:nvSpPr>
          <p:cNvPr id="11" name="Text 9"/>
          <p:cNvSpPr/>
          <p:nvPr/>
        </p:nvSpPr>
        <p:spPr>
          <a:xfrm>
            <a:off x="4544568" y="2121408"/>
            <a:ext cx="3118104" cy="1499616"/>
          </a:xfrm>
          <a:prstGeom prst="rect">
            <a:avLst/>
          </a:prstGeom>
          <a:noFill/>
          <a:ln/>
        </p:spPr>
        <p:txBody>
          <a:bodyPr wrap="square" lIns="0" tIns="0" rIns="0" bIns="0" rtlCol="0" anchor="t"/>
          <a:lstStyle/>
          <a:p>
            <a:pPr indent="0" marL="0">
              <a:lnSpc>
                <a:spcPct val="105000"/>
              </a:lnSpc>
              <a:buNone/>
            </a:pPr>
            <a:r>
              <a:rPr lang="en-US" sz="1050" dirty="0">
                <a:solidFill>
                  <a:srgbClr val="5A6472"/>
                </a:solidFill>
                <a:latin typeface="Calibri" pitchFamily="34" charset="0"/>
                <a:ea typeface="Calibri" pitchFamily="34" charset="-122"/>
                <a:cs typeface="Calibri" pitchFamily="34" charset="-120"/>
              </a:rPr>
              <a:t>Produces the right script for the engine: SELECT INTO on SQL Server, CREATE TABLE AS SELECT on Oracle, copying structure and data.</a:t>
            </a:r>
            <a:endParaRPr lang="en-US" sz="1050" dirty="0"/>
          </a:p>
        </p:txBody>
      </p:sp>
      <p:sp>
        <p:nvSpPr>
          <p:cNvPr id="12" name="Shape 10"/>
          <p:cNvSpPr/>
          <p:nvPr/>
        </p:nvSpPr>
        <p:spPr>
          <a:xfrm>
            <a:off x="8138160" y="1645920"/>
            <a:ext cx="3520440" cy="2103120"/>
          </a:xfrm>
          <a:prstGeom prst="roundRect">
            <a:avLst>
              <a:gd name="adj" fmla="val 2609"/>
            </a:avLst>
          </a:prstGeom>
          <a:solidFill>
            <a:srgbClr val="F4F6F8"/>
          </a:solidFill>
          <a:ln w="9525">
            <a:solidFill>
              <a:srgbClr val="DCE2EA"/>
            </a:solidFill>
            <a:prstDash val="solid"/>
          </a:ln>
        </p:spPr>
      </p:sp>
      <p:sp>
        <p:nvSpPr>
          <p:cNvPr id="13" name="Shape 11"/>
          <p:cNvSpPr/>
          <p:nvPr/>
        </p:nvSpPr>
        <p:spPr>
          <a:xfrm>
            <a:off x="8339328" y="1847088"/>
            <a:ext cx="155448" cy="155448"/>
          </a:xfrm>
          <a:prstGeom prst="roundRect">
            <a:avLst>
              <a:gd name="adj" fmla="val 23529"/>
            </a:avLst>
          </a:prstGeom>
          <a:solidFill>
            <a:srgbClr val="2D8CFF"/>
          </a:solidFill>
          <a:ln w="12700">
            <a:solidFill>
              <a:srgbClr val="2D8CFF"/>
            </a:solidFill>
            <a:prstDash val="solid"/>
          </a:ln>
        </p:spPr>
      </p:sp>
      <p:sp>
        <p:nvSpPr>
          <p:cNvPr id="14" name="Text 12"/>
          <p:cNvSpPr/>
          <p:nvPr/>
        </p:nvSpPr>
        <p:spPr>
          <a:xfrm>
            <a:off x="8595360" y="1773936"/>
            <a:ext cx="2880360" cy="292608"/>
          </a:xfrm>
          <a:prstGeom prst="rect">
            <a:avLst/>
          </a:prstGeom>
          <a:noFill/>
          <a:ln/>
        </p:spPr>
        <p:txBody>
          <a:bodyPr wrap="square" lIns="0" tIns="0" rIns="0" bIns="0" rtlCol="0" anchor="ctr"/>
          <a:lstStyle/>
          <a:p>
            <a:pPr indent="0" marL="0">
              <a:buNone/>
            </a:pPr>
            <a:r>
              <a:rPr lang="en-US" sz="1300" b="1" dirty="0">
                <a:solidFill>
                  <a:srgbClr val="1B1D22"/>
                </a:solidFill>
                <a:latin typeface="Calibri" pitchFamily="34" charset="0"/>
                <a:ea typeface="Calibri" pitchFamily="34" charset="-122"/>
                <a:cs typeface="Calibri" pitchFamily="34" charset="-120"/>
              </a:rPr>
              <a:t>User management</a:t>
            </a:r>
            <a:endParaRPr lang="en-US" sz="1300" dirty="0"/>
          </a:p>
        </p:txBody>
      </p:sp>
      <p:sp>
        <p:nvSpPr>
          <p:cNvPr id="15" name="Text 13"/>
          <p:cNvSpPr/>
          <p:nvPr/>
        </p:nvSpPr>
        <p:spPr>
          <a:xfrm>
            <a:off x="8339328" y="2121408"/>
            <a:ext cx="3118104" cy="1499616"/>
          </a:xfrm>
          <a:prstGeom prst="rect">
            <a:avLst/>
          </a:prstGeom>
          <a:noFill/>
          <a:ln/>
        </p:spPr>
        <p:txBody>
          <a:bodyPr wrap="square" lIns="0" tIns="0" rIns="0" bIns="0" rtlCol="0" anchor="t"/>
          <a:lstStyle/>
          <a:p>
            <a:pPr indent="0" marL="0">
              <a:lnSpc>
                <a:spcPct val="105000"/>
              </a:lnSpc>
              <a:buNone/>
            </a:pPr>
            <a:r>
              <a:rPr lang="en-US" sz="1050" dirty="0">
                <a:solidFill>
                  <a:srgbClr val="5A6472"/>
                </a:solidFill>
                <a:latin typeface="Calibri" pitchFamily="34" charset="0"/>
                <a:ea typeface="Calibri" pitchFamily="34" charset="-122"/>
                <a:cs typeface="Calibri" pitchFamily="34" charset="-120"/>
              </a:rPr>
              <a:t>A full user editor: account settings, granted roles, system privileges and tablespace quotas, with a live SQL preview.</a:t>
            </a:r>
            <a:endParaRPr lang="en-US" sz="1050" dirty="0"/>
          </a:p>
        </p:txBody>
      </p:sp>
      <p:sp>
        <p:nvSpPr>
          <p:cNvPr id="16" name="Shape 14"/>
          <p:cNvSpPr/>
          <p:nvPr/>
        </p:nvSpPr>
        <p:spPr>
          <a:xfrm>
            <a:off x="548640" y="4114800"/>
            <a:ext cx="11064240" cy="1600200"/>
          </a:xfrm>
          <a:prstGeom prst="roundRect">
            <a:avLst>
              <a:gd name="adj" fmla="val 3429"/>
            </a:avLst>
          </a:prstGeom>
          <a:solidFill>
            <a:srgbClr val="F4F6F8"/>
          </a:solidFill>
          <a:ln w="9525">
            <a:solidFill>
              <a:srgbClr val="DCE2EA"/>
            </a:solidFill>
            <a:prstDash val="solid"/>
          </a:ln>
        </p:spPr>
      </p:sp>
      <p:sp>
        <p:nvSpPr>
          <p:cNvPr id="17" name="Text 15"/>
          <p:cNvSpPr/>
          <p:nvPr/>
        </p:nvSpPr>
        <p:spPr>
          <a:xfrm>
            <a:off x="868680" y="4279392"/>
            <a:ext cx="7315200" cy="320040"/>
          </a:xfrm>
          <a:prstGeom prst="rect">
            <a:avLst/>
          </a:prstGeom>
          <a:noFill/>
          <a:ln/>
        </p:spPr>
        <p:txBody>
          <a:bodyPr wrap="square" lIns="0" tIns="0" rIns="0" bIns="0" rtlCol="0" anchor="ctr"/>
          <a:lstStyle/>
          <a:p>
            <a:pPr indent="0" marL="0">
              <a:buNone/>
            </a:pPr>
            <a:r>
              <a:rPr lang="en-US" sz="1500" b="1" dirty="0">
                <a:solidFill>
                  <a:srgbClr val="1B1D22"/>
                </a:solidFill>
                <a:latin typeface="Calibri" pitchFamily="34" charset="0"/>
                <a:ea typeface="Calibri" pitchFamily="34" charset="-122"/>
                <a:cs typeface="Calibri" pitchFamily="34" charset="-120"/>
              </a:rPr>
              <a:t>You always see the SQL before it runs</a:t>
            </a:r>
            <a:endParaRPr lang="en-US" sz="1500" dirty="0"/>
          </a:p>
        </p:txBody>
      </p:sp>
      <p:sp>
        <p:nvSpPr>
          <p:cNvPr id="18" name="Text 16"/>
          <p:cNvSpPr/>
          <p:nvPr/>
        </p:nvSpPr>
        <p:spPr>
          <a:xfrm>
            <a:off x="868680" y="4681728"/>
            <a:ext cx="10424160" cy="914400"/>
          </a:xfrm>
          <a:prstGeom prst="rect">
            <a:avLst/>
          </a:prstGeom>
          <a:noFill/>
          <a:ln/>
        </p:spPr>
        <p:txBody>
          <a:bodyPr wrap="square" lIns="0" tIns="0" rIns="0" bIns="0" rtlCol="0" anchor="t"/>
          <a:lstStyle/>
          <a:p>
            <a:pPr indent="0" marL="0">
              <a:buNone/>
            </a:pPr>
            <a:r>
              <a:rPr lang="en-US" sz="1300" dirty="0">
                <a:solidFill>
                  <a:srgbClr val="5A6472"/>
                </a:solidFill>
                <a:latin typeface="Calibri" pitchFamily="34" charset="0"/>
                <a:ea typeface="Calibri" pitchFamily="34" charset="-122"/>
                <a:cs typeface="Calibri" pitchFamily="34" charset="-120"/>
              </a:rPr>
              <a:t>Designer and clone scripts open in a query tab for you to review and run yourself. The user editor generates statements only for what you actually changed, shows the complete script, and asks you to confirm before applying it.</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7315200" cy="256032"/>
          </a:xfrm>
          <a:prstGeom prst="rect">
            <a:avLst/>
          </a:prstGeom>
          <a:noFill/>
          <a:ln/>
        </p:spPr>
        <p:txBody>
          <a:bodyPr wrap="square" lIns="0" tIns="0" rIns="0" bIns="0" rtlCol="0" anchor="ctr"/>
          <a:lstStyle/>
          <a:p>
            <a:pPr indent="0" marL="0">
              <a:buNone/>
            </a:pPr>
            <a:r>
              <a:rPr lang="en-US" sz="1100" b="1" spc="200" kern="0" dirty="0">
                <a:solidFill>
                  <a:srgbClr val="2D8CFF"/>
                </a:solidFill>
                <a:latin typeface="Calibri" pitchFamily="34" charset="0"/>
                <a:ea typeface="Calibri" pitchFamily="34" charset="-122"/>
                <a:cs typeface="Calibri" pitchFamily="34" charset="-120"/>
              </a:rPr>
              <a:t>LIBRARY AND THEMES</a:t>
            </a:r>
            <a:endParaRPr lang="en-US" sz="1100" dirty="0"/>
          </a:p>
        </p:txBody>
      </p:sp>
      <p:sp>
        <p:nvSpPr>
          <p:cNvPr id="3" name="Text 1"/>
          <p:cNvSpPr/>
          <p:nvPr/>
        </p:nvSpPr>
        <p:spPr>
          <a:xfrm>
            <a:off x="548640" y="713232"/>
            <a:ext cx="11064240" cy="685800"/>
          </a:xfrm>
          <a:prstGeom prst="rect">
            <a:avLst/>
          </a:prstGeom>
          <a:noFill/>
          <a:ln/>
        </p:spPr>
        <p:txBody>
          <a:bodyPr wrap="square" lIns="0" tIns="0" rIns="0" bIns="0" rtlCol="0" anchor="ctr"/>
          <a:lstStyle/>
          <a:p>
            <a:pPr indent="0" marL="0">
              <a:buNone/>
            </a:pPr>
            <a:r>
              <a:rPr lang="en-US" sz="3400" b="1" dirty="0">
                <a:solidFill>
                  <a:srgbClr val="1B1D22"/>
                </a:solidFill>
                <a:latin typeface="Calibri" pitchFamily="34" charset="0"/>
                <a:ea typeface="Calibri" pitchFamily="34" charset="-122"/>
                <a:cs typeface="Calibri" pitchFamily="34" charset="-120"/>
              </a:rPr>
              <a:t>Keep your SQL close at hand</a:t>
            </a:r>
            <a:endParaRPr lang="en-US" sz="3400" dirty="0"/>
          </a:p>
        </p:txBody>
      </p:sp>
      <p:sp>
        <p:nvSpPr>
          <p:cNvPr id="4" name="Text 2"/>
          <p:cNvSpPr/>
          <p:nvPr/>
        </p:nvSpPr>
        <p:spPr>
          <a:xfrm>
            <a:off x="548640" y="1645920"/>
            <a:ext cx="5486400" cy="320040"/>
          </a:xfrm>
          <a:prstGeom prst="rect">
            <a:avLst/>
          </a:prstGeom>
          <a:noFill/>
          <a:ln/>
        </p:spPr>
        <p:txBody>
          <a:bodyPr wrap="square" lIns="0" tIns="0" rIns="0" bIns="0" rtlCol="0" anchor="ctr"/>
          <a:lstStyle/>
          <a:p>
            <a:pPr indent="0" marL="0">
              <a:buNone/>
            </a:pPr>
            <a:r>
              <a:rPr lang="en-US" sz="1600" b="1" dirty="0">
                <a:solidFill>
                  <a:srgbClr val="1B1D22"/>
                </a:solidFill>
                <a:latin typeface="Calibri" pitchFamily="34" charset="0"/>
                <a:ea typeface="Calibri" pitchFamily="34" charset="-122"/>
                <a:cs typeface="Calibri" pitchFamily="34" charset="-120"/>
              </a:rPr>
              <a:t>A searchable query library</a:t>
            </a:r>
            <a:endParaRPr lang="en-US" sz="1600" dirty="0"/>
          </a:p>
        </p:txBody>
      </p:sp>
      <p:sp>
        <p:nvSpPr>
          <p:cNvPr id="5" name="Text 3"/>
          <p:cNvSpPr/>
          <p:nvPr/>
        </p:nvSpPr>
        <p:spPr>
          <a:xfrm>
            <a:off x="548640" y="2057400"/>
            <a:ext cx="5394960" cy="210312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rgbClr val="5A6472"/>
                </a:solidFill>
                <a:latin typeface="Calibri" pitchFamily="34" charset="0"/>
                <a:ea typeface="Calibri" pitchFamily="34" charset="-122"/>
                <a:cs typeface="Calibri" pitchFamily="34" charset="-120"/>
              </a:rPr>
              <a:t>Save the current tab with a name and tags</a:t>
            </a:r>
            <a:endParaRPr lang="en-US" sz="1400" dirty="0"/>
          </a:p>
          <a:p>
            <a:pPr marL="342900" indent="-342900">
              <a:spcAft>
                <a:spcPts val="800"/>
              </a:spcAft>
              <a:buSzPct val="100000"/>
              <a:buChar char="•"/>
            </a:pPr>
            <a:r>
              <a:rPr lang="en-US" sz="1400" dirty="0">
                <a:solidFill>
                  <a:srgbClr val="5A6472"/>
                </a:solidFill>
                <a:latin typeface="Calibri" pitchFamily="34" charset="0"/>
                <a:ea typeface="Calibri" pitchFamily="34" charset="-122"/>
                <a:cs typeface="Calibri" pitchFamily="34" charset="-120"/>
              </a:rPr>
              <a:t>Type any part of a name or tag to filter the list</a:t>
            </a:r>
            <a:endParaRPr lang="en-US" sz="1400" dirty="0"/>
          </a:p>
          <a:p>
            <a:pPr marL="342900" indent="-342900">
              <a:spcAft>
                <a:spcPts val="800"/>
              </a:spcAft>
              <a:buSzPct val="100000"/>
              <a:buChar char="•"/>
            </a:pPr>
            <a:r>
              <a:rPr lang="en-US" sz="1400" dirty="0">
                <a:solidFill>
                  <a:srgbClr val="5A6472"/>
                </a:solidFill>
                <a:latin typeface="Calibri" pitchFamily="34" charset="0"/>
                <a:ea typeface="Calibri" pitchFamily="34" charset="-122"/>
                <a:cs typeface="Calibri" pitchFamily="34" charset="-120"/>
              </a:rPr>
              <a:t>Selecting one opens it in a new tab, so nothing is overwritten</a:t>
            </a:r>
            <a:endParaRPr lang="en-US" sz="1400" dirty="0"/>
          </a:p>
        </p:txBody>
      </p:sp>
      <p:sp>
        <p:nvSpPr>
          <p:cNvPr id="6" name="Text 4"/>
          <p:cNvSpPr/>
          <p:nvPr/>
        </p:nvSpPr>
        <p:spPr>
          <a:xfrm>
            <a:off x="548640" y="3566160"/>
            <a:ext cx="5486400" cy="320040"/>
          </a:xfrm>
          <a:prstGeom prst="rect">
            <a:avLst/>
          </a:prstGeom>
          <a:noFill/>
          <a:ln/>
        </p:spPr>
        <p:txBody>
          <a:bodyPr wrap="square" lIns="0" tIns="0" rIns="0" bIns="0" rtlCol="0" anchor="ctr"/>
          <a:lstStyle/>
          <a:p>
            <a:pPr indent="0" marL="0">
              <a:buNone/>
            </a:pPr>
            <a:r>
              <a:rPr lang="en-US" sz="1600" b="1" dirty="0">
                <a:solidFill>
                  <a:srgbClr val="1B1D22"/>
                </a:solidFill>
                <a:latin typeface="Calibri" pitchFamily="34" charset="0"/>
                <a:ea typeface="Calibri" pitchFamily="34" charset="-122"/>
                <a:cs typeface="Calibri" pitchFamily="34" charset="-120"/>
              </a:rPr>
              <a:t>Dark and light themes</a:t>
            </a:r>
            <a:endParaRPr lang="en-US" sz="1600" dirty="0"/>
          </a:p>
        </p:txBody>
      </p:sp>
      <p:sp>
        <p:nvSpPr>
          <p:cNvPr id="7" name="Text 5"/>
          <p:cNvSpPr/>
          <p:nvPr/>
        </p:nvSpPr>
        <p:spPr>
          <a:xfrm>
            <a:off x="548640" y="3977640"/>
            <a:ext cx="5394960" cy="1005840"/>
          </a:xfrm>
          <a:prstGeom prst="rect">
            <a:avLst/>
          </a:prstGeom>
          <a:noFill/>
          <a:ln/>
        </p:spPr>
        <p:txBody>
          <a:bodyPr wrap="square" lIns="0" tIns="0" rIns="0" bIns="0" rtlCol="0" anchor="t"/>
          <a:lstStyle/>
          <a:p>
            <a:pPr indent="0" marL="0">
              <a:buNone/>
            </a:pPr>
            <a:r>
              <a:rPr lang="en-US" sz="1300" dirty="0">
                <a:solidFill>
                  <a:srgbClr val="5A6472"/>
                </a:solidFill>
                <a:latin typeface="Calibri" pitchFamily="34" charset="0"/>
                <a:ea typeface="Calibri" pitchFamily="34" charset="-122"/>
                <a:cs typeface="Calibri" pitchFamily="34" charset="-120"/>
              </a:rPr>
              <a:t>Switch from the View menu. The change applies instantly across the whole application — including SQL syntax colours — and is remembered next time you start.</a:t>
            </a:r>
            <a:endParaRPr lang="en-US" sz="1300" dirty="0"/>
          </a:p>
        </p:txBody>
      </p:sp>
      <p:sp>
        <p:nvSpPr>
          <p:cNvPr id="8" name="Shape 6"/>
          <p:cNvSpPr/>
          <p:nvPr/>
        </p:nvSpPr>
        <p:spPr>
          <a:xfrm>
            <a:off x="6400800" y="1737360"/>
            <a:ext cx="2651760" cy="2286000"/>
          </a:xfrm>
          <a:prstGeom prst="roundRect">
            <a:avLst>
              <a:gd name="adj" fmla="val 2400"/>
            </a:avLst>
          </a:prstGeom>
          <a:solidFill>
            <a:srgbClr val="1B1D22"/>
          </a:solidFill>
          <a:ln w="12700">
            <a:solidFill>
              <a:srgbClr val="39404A"/>
            </a:solidFill>
            <a:prstDash val="solid"/>
          </a:ln>
        </p:spPr>
      </p:sp>
      <p:sp>
        <p:nvSpPr>
          <p:cNvPr id="9" name="Text 7"/>
          <p:cNvSpPr/>
          <p:nvPr/>
        </p:nvSpPr>
        <p:spPr>
          <a:xfrm>
            <a:off x="6583680" y="1874520"/>
            <a:ext cx="2286000" cy="274320"/>
          </a:xfrm>
          <a:prstGeom prst="rect">
            <a:avLst/>
          </a:prstGeom>
          <a:noFill/>
          <a:ln/>
        </p:spPr>
        <p:txBody>
          <a:bodyPr wrap="square" lIns="0" tIns="0" rIns="0" bIns="0" rtlCol="0" anchor="ctr"/>
          <a:lstStyle/>
          <a:p>
            <a:pPr indent="0" marL="0">
              <a:buNone/>
            </a:pPr>
            <a:r>
              <a:rPr lang="en-US" sz="1200" b="1" dirty="0">
                <a:solidFill>
                  <a:srgbClr val="4FD6E6"/>
                </a:solidFill>
                <a:latin typeface="Calibri" pitchFamily="34" charset="0"/>
                <a:ea typeface="Calibri" pitchFamily="34" charset="-122"/>
                <a:cs typeface="Calibri" pitchFamily="34" charset="-120"/>
              </a:rPr>
              <a:t>Dark</a:t>
            </a:r>
            <a:endParaRPr lang="en-US" sz="1200" dirty="0"/>
          </a:p>
        </p:txBody>
      </p:sp>
      <p:sp>
        <p:nvSpPr>
          <p:cNvPr id="10" name="Text 8"/>
          <p:cNvSpPr/>
          <p:nvPr/>
        </p:nvSpPr>
        <p:spPr>
          <a:xfrm>
            <a:off x="6583680" y="2286000"/>
            <a:ext cx="2377440" cy="1463040"/>
          </a:xfrm>
          <a:prstGeom prst="rect">
            <a:avLst/>
          </a:prstGeom>
          <a:noFill/>
          <a:ln/>
        </p:spPr>
        <p:txBody>
          <a:bodyPr wrap="square" lIns="0" tIns="0" rIns="0" bIns="0" rtlCol="0" anchor="t"/>
          <a:lstStyle/>
          <a:p>
            <a:pPr indent="0" marL="0">
              <a:buNone/>
            </a:pPr>
            <a:r>
              <a:rPr lang="en-US" sz="1100" dirty="0">
                <a:solidFill>
                  <a:srgbClr val="4FD6E6"/>
                </a:solidFill>
                <a:latin typeface="Courier New" pitchFamily="34" charset="0"/>
                <a:ea typeface="Courier New" pitchFamily="34" charset="-122"/>
                <a:cs typeface="Courier New" pitchFamily="34" charset="-120"/>
              </a:rPr>
              <a:t>SELECT</a:t>
            </a:r>
            <a:endParaRPr lang="en-US" sz="1100" dirty="0"/>
          </a:p>
          <a:p>
            <a:pPr indent="0" marL="0">
              <a:buNone/>
            </a:pPr>
            <a:r>
              <a:rPr lang="en-US" sz="1100" dirty="0">
                <a:solidFill>
                  <a:srgbClr val="D6DCE4"/>
                </a:solidFill>
                <a:latin typeface="Courier New" pitchFamily="34" charset="0"/>
                <a:ea typeface="Courier New" pitchFamily="34" charset="-122"/>
                <a:cs typeface="Courier New" pitchFamily="34" charset="-120"/>
              </a:rPr>
              <a:t>  name, status</a:t>
            </a:r>
            <a:endParaRPr lang="en-US" sz="1100" dirty="0"/>
          </a:p>
          <a:p>
            <a:pPr indent="0" marL="0">
              <a:buNone/>
            </a:pPr>
            <a:r>
              <a:rPr lang="en-US" sz="1100" dirty="0">
                <a:solidFill>
                  <a:srgbClr val="4FD6E6"/>
                </a:solidFill>
                <a:latin typeface="Courier New" pitchFamily="34" charset="0"/>
                <a:ea typeface="Courier New" pitchFamily="34" charset="-122"/>
                <a:cs typeface="Courier New" pitchFamily="34" charset="-120"/>
              </a:rPr>
              <a:t>FROM   well</a:t>
            </a:r>
            <a:endParaRPr lang="en-US" sz="1100" dirty="0"/>
          </a:p>
          <a:p>
            <a:pPr indent="0" marL="0">
              <a:buNone/>
            </a:pPr>
            <a:r>
              <a:rPr lang="en-US" sz="1100" dirty="0">
                <a:solidFill>
                  <a:srgbClr val="4FD6E6"/>
                </a:solidFill>
                <a:latin typeface="Courier New" pitchFamily="34" charset="0"/>
                <a:ea typeface="Courier New" pitchFamily="34" charset="-122"/>
                <a:cs typeface="Courier New" pitchFamily="34" charset="-120"/>
              </a:rPr>
              <a:t>WHERE  active = 1</a:t>
            </a:r>
            <a:endParaRPr lang="en-US" sz="1100" dirty="0"/>
          </a:p>
        </p:txBody>
      </p:sp>
      <p:sp>
        <p:nvSpPr>
          <p:cNvPr id="11" name="Shape 9"/>
          <p:cNvSpPr/>
          <p:nvPr/>
        </p:nvSpPr>
        <p:spPr>
          <a:xfrm>
            <a:off x="9235440" y="1737360"/>
            <a:ext cx="2377440" cy="2286000"/>
          </a:xfrm>
          <a:prstGeom prst="roundRect">
            <a:avLst>
              <a:gd name="adj" fmla="val 2400"/>
            </a:avLst>
          </a:prstGeom>
          <a:solidFill>
            <a:srgbClr val="FFFFFF"/>
          </a:solidFill>
          <a:ln w="12700">
            <a:solidFill>
              <a:srgbClr val="DCE2EA"/>
            </a:solidFill>
            <a:prstDash val="solid"/>
          </a:ln>
        </p:spPr>
      </p:sp>
      <p:sp>
        <p:nvSpPr>
          <p:cNvPr id="12" name="Text 10"/>
          <p:cNvSpPr/>
          <p:nvPr/>
        </p:nvSpPr>
        <p:spPr>
          <a:xfrm>
            <a:off x="9418320" y="1874520"/>
            <a:ext cx="2011680" cy="274320"/>
          </a:xfrm>
          <a:prstGeom prst="rect">
            <a:avLst/>
          </a:prstGeom>
          <a:noFill/>
          <a:ln/>
        </p:spPr>
        <p:txBody>
          <a:bodyPr wrap="square" lIns="0" tIns="0" rIns="0" bIns="0" rtlCol="0" anchor="ctr"/>
          <a:lstStyle/>
          <a:p>
            <a:pPr indent="0" marL="0">
              <a:buNone/>
            </a:pPr>
            <a:r>
              <a:rPr lang="en-US" sz="1200" b="1" dirty="0">
                <a:solidFill>
                  <a:srgbClr val="2D8CFF"/>
                </a:solidFill>
                <a:latin typeface="Calibri" pitchFamily="34" charset="0"/>
                <a:ea typeface="Calibri" pitchFamily="34" charset="-122"/>
                <a:cs typeface="Calibri" pitchFamily="34" charset="-120"/>
              </a:rPr>
              <a:t>Light</a:t>
            </a:r>
            <a:endParaRPr lang="en-US" sz="1200" dirty="0"/>
          </a:p>
        </p:txBody>
      </p:sp>
      <p:sp>
        <p:nvSpPr>
          <p:cNvPr id="13" name="Text 11"/>
          <p:cNvSpPr/>
          <p:nvPr/>
        </p:nvSpPr>
        <p:spPr>
          <a:xfrm>
            <a:off x="9418320" y="2286000"/>
            <a:ext cx="2103120" cy="1463040"/>
          </a:xfrm>
          <a:prstGeom prst="rect">
            <a:avLst/>
          </a:prstGeom>
          <a:noFill/>
          <a:ln/>
        </p:spPr>
        <p:txBody>
          <a:bodyPr wrap="square" lIns="0" tIns="0" rIns="0" bIns="0" rtlCol="0" anchor="t"/>
          <a:lstStyle/>
          <a:p>
            <a:pPr indent="0" marL="0">
              <a:buNone/>
            </a:pPr>
            <a:r>
              <a:rPr lang="en-US" sz="1100" dirty="0">
                <a:solidFill>
                  <a:srgbClr val="0055AA"/>
                </a:solidFill>
                <a:latin typeface="Courier New" pitchFamily="34" charset="0"/>
                <a:ea typeface="Courier New" pitchFamily="34" charset="-122"/>
                <a:cs typeface="Courier New" pitchFamily="34" charset="-120"/>
              </a:rPr>
              <a:t>SELECT</a:t>
            </a:r>
            <a:endParaRPr lang="en-US" sz="1100" dirty="0"/>
          </a:p>
          <a:p>
            <a:pPr indent="0" marL="0">
              <a:buNone/>
            </a:pPr>
            <a:r>
              <a:rPr lang="en-US" sz="1100" dirty="0">
                <a:solidFill>
                  <a:srgbClr val="1B1D22"/>
                </a:solidFill>
                <a:latin typeface="Courier New" pitchFamily="34" charset="0"/>
                <a:ea typeface="Courier New" pitchFamily="34" charset="-122"/>
                <a:cs typeface="Courier New" pitchFamily="34" charset="-120"/>
              </a:rPr>
              <a:t>  name, status</a:t>
            </a:r>
            <a:endParaRPr lang="en-US" sz="1100" dirty="0"/>
          </a:p>
          <a:p>
            <a:pPr indent="0" marL="0">
              <a:buNone/>
            </a:pPr>
            <a:r>
              <a:rPr lang="en-US" sz="1100" dirty="0">
                <a:solidFill>
                  <a:srgbClr val="0055AA"/>
                </a:solidFill>
                <a:latin typeface="Courier New" pitchFamily="34" charset="0"/>
                <a:ea typeface="Courier New" pitchFamily="34" charset="-122"/>
                <a:cs typeface="Courier New" pitchFamily="34" charset="-120"/>
              </a:rPr>
              <a:t>FROM   well</a:t>
            </a:r>
            <a:endParaRPr lang="en-US" sz="1100" dirty="0"/>
          </a:p>
          <a:p>
            <a:pPr indent="0" marL="0">
              <a:buNone/>
            </a:pPr>
            <a:r>
              <a:rPr lang="en-US" sz="1100" dirty="0">
                <a:solidFill>
                  <a:srgbClr val="0055AA"/>
                </a:solidFill>
                <a:latin typeface="Courier New" pitchFamily="34" charset="0"/>
                <a:ea typeface="Courier New" pitchFamily="34" charset="-122"/>
                <a:cs typeface="Courier New" pitchFamily="34" charset="-120"/>
              </a:rPr>
              <a:t>WHERE  active = 1</a:t>
            </a:r>
            <a:endParaRPr lang="en-US" sz="11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7315200" cy="256032"/>
          </a:xfrm>
          <a:prstGeom prst="rect">
            <a:avLst/>
          </a:prstGeom>
          <a:noFill/>
          <a:ln/>
        </p:spPr>
        <p:txBody>
          <a:bodyPr wrap="square" lIns="0" tIns="0" rIns="0" bIns="0" rtlCol="0" anchor="ctr"/>
          <a:lstStyle/>
          <a:p>
            <a:pPr indent="0" marL="0">
              <a:buNone/>
            </a:pPr>
            <a:r>
              <a:rPr lang="en-US" sz="1100" b="1" spc="200" kern="0" dirty="0">
                <a:solidFill>
                  <a:srgbClr val="2D8CFF"/>
                </a:solidFill>
                <a:latin typeface="Calibri" pitchFamily="34" charset="0"/>
                <a:ea typeface="Calibri" pitchFamily="34" charset="-122"/>
                <a:cs typeface="Calibri" pitchFamily="34" charset="-120"/>
              </a:rPr>
              <a:t>QUERY SYNC</a:t>
            </a:r>
            <a:endParaRPr lang="en-US" sz="1100" dirty="0"/>
          </a:p>
        </p:txBody>
      </p:sp>
      <p:sp>
        <p:nvSpPr>
          <p:cNvPr id="3" name="Text 1"/>
          <p:cNvSpPr/>
          <p:nvPr/>
        </p:nvSpPr>
        <p:spPr>
          <a:xfrm>
            <a:off x="548640" y="713232"/>
            <a:ext cx="11064240" cy="685800"/>
          </a:xfrm>
          <a:prstGeom prst="rect">
            <a:avLst/>
          </a:prstGeom>
          <a:noFill/>
          <a:ln/>
        </p:spPr>
        <p:txBody>
          <a:bodyPr wrap="square" lIns="0" tIns="0" rIns="0" bIns="0" rtlCol="0" anchor="ctr"/>
          <a:lstStyle/>
          <a:p>
            <a:pPr indent="0" marL="0">
              <a:buNone/>
            </a:pPr>
            <a:r>
              <a:rPr lang="en-US" sz="3400" b="1" dirty="0">
                <a:solidFill>
                  <a:srgbClr val="1B1D22"/>
                </a:solidFill>
                <a:latin typeface="Calibri" pitchFamily="34" charset="0"/>
                <a:ea typeface="Calibri" pitchFamily="34" charset="-122"/>
                <a:cs typeface="Calibri" pitchFamily="34" charset="-120"/>
              </a:rPr>
              <a:t>One library, every machine</a:t>
            </a:r>
            <a:endParaRPr lang="en-US" sz="3400" dirty="0"/>
          </a:p>
        </p:txBody>
      </p:sp>
      <p:sp>
        <p:nvSpPr>
          <p:cNvPr id="4" name="Text 2"/>
          <p:cNvSpPr/>
          <p:nvPr/>
        </p:nvSpPr>
        <p:spPr>
          <a:xfrm>
            <a:off x="548640" y="1600200"/>
            <a:ext cx="10972800" cy="365760"/>
          </a:xfrm>
          <a:prstGeom prst="rect">
            <a:avLst/>
          </a:prstGeom>
          <a:noFill/>
          <a:ln/>
        </p:spPr>
        <p:txBody>
          <a:bodyPr wrap="square" lIns="0" tIns="0" rIns="0" bIns="0" rtlCol="0" anchor="ctr"/>
          <a:lstStyle/>
          <a:p>
            <a:pPr indent="0" marL="0">
              <a:buNone/>
            </a:pPr>
            <a:r>
              <a:rPr lang="en-US" sz="1500" dirty="0">
                <a:solidFill>
                  <a:srgbClr val="5A6472"/>
                </a:solidFill>
                <a:latin typeface="Calibri" pitchFamily="34" charset="0"/>
                <a:ea typeface="Calibri" pitchFamily="34" charset="-122"/>
                <a:cs typeface="Calibri" pitchFamily="34" charset="-120"/>
              </a:rPr>
              <a:t>Press Sync. Your new queries go up, everyone else’s come down.</a:t>
            </a:r>
            <a:endParaRPr lang="en-US" sz="1500" dirty="0"/>
          </a:p>
        </p:txBody>
      </p:sp>
      <p:sp>
        <p:nvSpPr>
          <p:cNvPr id="5" name="Shape 3"/>
          <p:cNvSpPr/>
          <p:nvPr/>
        </p:nvSpPr>
        <p:spPr>
          <a:xfrm>
            <a:off x="548640" y="2148840"/>
            <a:ext cx="3520440" cy="1783080"/>
          </a:xfrm>
          <a:prstGeom prst="roundRect">
            <a:avLst>
              <a:gd name="adj" fmla="val 3077"/>
            </a:avLst>
          </a:prstGeom>
          <a:solidFill>
            <a:srgbClr val="F4F6F8"/>
          </a:solidFill>
          <a:ln w="9525">
            <a:solidFill>
              <a:srgbClr val="DCE2EA"/>
            </a:solidFill>
            <a:prstDash val="solid"/>
          </a:ln>
        </p:spPr>
      </p:sp>
      <p:sp>
        <p:nvSpPr>
          <p:cNvPr id="6" name="Shape 4"/>
          <p:cNvSpPr/>
          <p:nvPr/>
        </p:nvSpPr>
        <p:spPr>
          <a:xfrm>
            <a:off x="749808" y="2350008"/>
            <a:ext cx="155448" cy="155448"/>
          </a:xfrm>
          <a:prstGeom prst="roundRect">
            <a:avLst>
              <a:gd name="adj" fmla="val 23529"/>
            </a:avLst>
          </a:prstGeom>
          <a:solidFill>
            <a:srgbClr val="2D8CFF"/>
          </a:solidFill>
          <a:ln w="12700">
            <a:solidFill>
              <a:srgbClr val="2D8CFF"/>
            </a:solidFill>
            <a:prstDash val="solid"/>
          </a:ln>
        </p:spPr>
      </p:sp>
      <p:sp>
        <p:nvSpPr>
          <p:cNvPr id="7" name="Text 5"/>
          <p:cNvSpPr/>
          <p:nvPr/>
        </p:nvSpPr>
        <p:spPr>
          <a:xfrm>
            <a:off x="1005840" y="2276856"/>
            <a:ext cx="2880360" cy="292608"/>
          </a:xfrm>
          <a:prstGeom prst="rect">
            <a:avLst/>
          </a:prstGeom>
          <a:noFill/>
          <a:ln/>
        </p:spPr>
        <p:txBody>
          <a:bodyPr wrap="square" lIns="0" tIns="0" rIns="0" bIns="0" rtlCol="0" anchor="ctr"/>
          <a:lstStyle/>
          <a:p>
            <a:pPr indent="0" marL="0">
              <a:buNone/>
            </a:pPr>
            <a:r>
              <a:rPr lang="en-US" sz="1300" b="1" dirty="0">
                <a:solidFill>
                  <a:srgbClr val="1B1D22"/>
                </a:solidFill>
                <a:latin typeface="Calibri" pitchFamily="34" charset="0"/>
                <a:ea typeface="Calibri" pitchFamily="34" charset="-122"/>
                <a:cs typeface="Calibri" pitchFamily="34" charset="-120"/>
              </a:rPr>
              <a:t>Both directions at once</a:t>
            </a:r>
            <a:endParaRPr lang="en-US" sz="1300" dirty="0"/>
          </a:p>
        </p:txBody>
      </p:sp>
      <p:sp>
        <p:nvSpPr>
          <p:cNvPr id="8" name="Text 6"/>
          <p:cNvSpPr/>
          <p:nvPr/>
        </p:nvSpPr>
        <p:spPr>
          <a:xfrm>
            <a:off x="749808" y="2624328"/>
            <a:ext cx="3118104" cy="1179576"/>
          </a:xfrm>
          <a:prstGeom prst="rect">
            <a:avLst/>
          </a:prstGeom>
          <a:noFill/>
          <a:ln/>
        </p:spPr>
        <p:txBody>
          <a:bodyPr wrap="square" lIns="0" tIns="0" rIns="0" bIns="0" rtlCol="0" anchor="t"/>
          <a:lstStyle/>
          <a:p>
            <a:pPr indent="0" marL="0">
              <a:lnSpc>
                <a:spcPct val="105000"/>
              </a:lnSpc>
              <a:buNone/>
            </a:pPr>
            <a:r>
              <a:rPr lang="en-US" sz="1050" dirty="0">
                <a:solidFill>
                  <a:srgbClr val="5A6472"/>
                </a:solidFill>
                <a:latin typeface="Calibri" pitchFamily="34" charset="0"/>
                <a:ea typeface="Calibri" pitchFamily="34" charset="-122"/>
                <a:cs typeface="Calibri" pitchFamily="34" charset="-120"/>
              </a:rPr>
              <a:t>A single step uploads what you changed and downloads what the team added. The status bar reports exactly what moved.</a:t>
            </a:r>
            <a:endParaRPr lang="en-US" sz="1050" dirty="0"/>
          </a:p>
        </p:txBody>
      </p:sp>
      <p:sp>
        <p:nvSpPr>
          <p:cNvPr id="9" name="Shape 7"/>
          <p:cNvSpPr/>
          <p:nvPr/>
        </p:nvSpPr>
        <p:spPr>
          <a:xfrm>
            <a:off x="4343400" y="2148840"/>
            <a:ext cx="3520440" cy="1783080"/>
          </a:xfrm>
          <a:prstGeom prst="roundRect">
            <a:avLst>
              <a:gd name="adj" fmla="val 3077"/>
            </a:avLst>
          </a:prstGeom>
          <a:solidFill>
            <a:srgbClr val="F4F6F8"/>
          </a:solidFill>
          <a:ln w="9525">
            <a:solidFill>
              <a:srgbClr val="DCE2EA"/>
            </a:solidFill>
            <a:prstDash val="solid"/>
          </a:ln>
        </p:spPr>
      </p:sp>
      <p:sp>
        <p:nvSpPr>
          <p:cNvPr id="10" name="Shape 8"/>
          <p:cNvSpPr/>
          <p:nvPr/>
        </p:nvSpPr>
        <p:spPr>
          <a:xfrm>
            <a:off x="4544568" y="2350008"/>
            <a:ext cx="155448" cy="155448"/>
          </a:xfrm>
          <a:prstGeom prst="roundRect">
            <a:avLst>
              <a:gd name="adj" fmla="val 23529"/>
            </a:avLst>
          </a:prstGeom>
          <a:solidFill>
            <a:srgbClr val="4FD6E6"/>
          </a:solidFill>
          <a:ln w="12700">
            <a:solidFill>
              <a:srgbClr val="4FD6E6"/>
            </a:solidFill>
            <a:prstDash val="solid"/>
          </a:ln>
        </p:spPr>
      </p:sp>
      <p:sp>
        <p:nvSpPr>
          <p:cNvPr id="11" name="Text 9"/>
          <p:cNvSpPr/>
          <p:nvPr/>
        </p:nvSpPr>
        <p:spPr>
          <a:xfrm>
            <a:off x="4800600" y="2276856"/>
            <a:ext cx="2880360" cy="292608"/>
          </a:xfrm>
          <a:prstGeom prst="rect">
            <a:avLst/>
          </a:prstGeom>
          <a:noFill/>
          <a:ln/>
        </p:spPr>
        <p:txBody>
          <a:bodyPr wrap="square" lIns="0" tIns="0" rIns="0" bIns="0" rtlCol="0" anchor="ctr"/>
          <a:lstStyle/>
          <a:p>
            <a:pPr indent="0" marL="0">
              <a:buNone/>
            </a:pPr>
            <a:r>
              <a:rPr lang="en-US" sz="1300" b="1" dirty="0">
                <a:solidFill>
                  <a:srgbClr val="1B1D22"/>
                </a:solidFill>
                <a:latin typeface="Calibri" pitchFamily="34" charset="0"/>
                <a:ea typeface="Calibri" pitchFamily="34" charset="-122"/>
                <a:cs typeface="Calibri" pitchFamily="34" charset="-120"/>
              </a:rPr>
              <a:t>Conflicts and deletions</a:t>
            </a:r>
            <a:endParaRPr lang="en-US" sz="1300" dirty="0"/>
          </a:p>
        </p:txBody>
      </p:sp>
      <p:sp>
        <p:nvSpPr>
          <p:cNvPr id="12" name="Text 10"/>
          <p:cNvSpPr/>
          <p:nvPr/>
        </p:nvSpPr>
        <p:spPr>
          <a:xfrm>
            <a:off x="4544568" y="2624328"/>
            <a:ext cx="3118104" cy="1179576"/>
          </a:xfrm>
          <a:prstGeom prst="rect">
            <a:avLst/>
          </a:prstGeom>
          <a:noFill/>
          <a:ln/>
        </p:spPr>
        <p:txBody>
          <a:bodyPr wrap="square" lIns="0" tIns="0" rIns="0" bIns="0" rtlCol="0" anchor="t"/>
          <a:lstStyle/>
          <a:p>
            <a:pPr indent="0" marL="0">
              <a:lnSpc>
                <a:spcPct val="105000"/>
              </a:lnSpc>
              <a:buNone/>
            </a:pPr>
            <a:r>
              <a:rPr lang="en-US" sz="1050" dirty="0">
                <a:solidFill>
                  <a:srgbClr val="5A6472"/>
                </a:solidFill>
                <a:latin typeface="Calibri" pitchFamily="34" charset="0"/>
                <a:ea typeface="Calibri" pitchFamily="34" charset="-122"/>
                <a:cs typeface="Calibri" pitchFamily="34" charset="-120"/>
              </a:rPr>
              <a:t>Edited in two places? The most recent edit wins. Delete a query and it disappears everywhere on the next sync.</a:t>
            </a:r>
            <a:endParaRPr lang="en-US" sz="1050" dirty="0"/>
          </a:p>
        </p:txBody>
      </p:sp>
      <p:sp>
        <p:nvSpPr>
          <p:cNvPr id="13" name="Shape 11"/>
          <p:cNvSpPr/>
          <p:nvPr/>
        </p:nvSpPr>
        <p:spPr>
          <a:xfrm>
            <a:off x="8138160" y="2148840"/>
            <a:ext cx="3520440" cy="1783080"/>
          </a:xfrm>
          <a:prstGeom prst="roundRect">
            <a:avLst>
              <a:gd name="adj" fmla="val 3077"/>
            </a:avLst>
          </a:prstGeom>
          <a:solidFill>
            <a:srgbClr val="F4F6F8"/>
          </a:solidFill>
          <a:ln w="9525">
            <a:solidFill>
              <a:srgbClr val="DCE2EA"/>
            </a:solidFill>
            <a:prstDash val="solid"/>
          </a:ln>
        </p:spPr>
      </p:sp>
      <p:sp>
        <p:nvSpPr>
          <p:cNvPr id="14" name="Shape 12"/>
          <p:cNvSpPr/>
          <p:nvPr/>
        </p:nvSpPr>
        <p:spPr>
          <a:xfrm>
            <a:off x="8339328" y="2350008"/>
            <a:ext cx="155448" cy="155448"/>
          </a:xfrm>
          <a:prstGeom prst="roundRect">
            <a:avLst>
              <a:gd name="adj" fmla="val 23529"/>
            </a:avLst>
          </a:prstGeom>
          <a:solidFill>
            <a:srgbClr val="2D8CFF"/>
          </a:solidFill>
          <a:ln w="12700">
            <a:solidFill>
              <a:srgbClr val="2D8CFF"/>
            </a:solidFill>
            <a:prstDash val="solid"/>
          </a:ln>
        </p:spPr>
      </p:sp>
      <p:sp>
        <p:nvSpPr>
          <p:cNvPr id="15" name="Text 13"/>
          <p:cNvSpPr/>
          <p:nvPr/>
        </p:nvSpPr>
        <p:spPr>
          <a:xfrm>
            <a:off x="8595360" y="2276856"/>
            <a:ext cx="2880360" cy="292608"/>
          </a:xfrm>
          <a:prstGeom prst="rect">
            <a:avLst/>
          </a:prstGeom>
          <a:noFill/>
          <a:ln/>
        </p:spPr>
        <p:txBody>
          <a:bodyPr wrap="square" lIns="0" tIns="0" rIns="0" bIns="0" rtlCol="0" anchor="ctr"/>
          <a:lstStyle/>
          <a:p>
            <a:pPr indent="0" marL="0">
              <a:buNone/>
            </a:pPr>
            <a:r>
              <a:rPr lang="en-US" sz="1300" b="1" dirty="0">
                <a:solidFill>
                  <a:srgbClr val="1B1D22"/>
                </a:solidFill>
                <a:latin typeface="Calibri" pitchFamily="34" charset="0"/>
                <a:ea typeface="Calibri" pitchFamily="34" charset="-122"/>
                <a:cs typeface="Calibri" pitchFamily="34" charset="-120"/>
              </a:rPr>
              <a:t>Your server or ours</a:t>
            </a:r>
            <a:endParaRPr lang="en-US" sz="1300" dirty="0"/>
          </a:p>
        </p:txBody>
      </p:sp>
      <p:sp>
        <p:nvSpPr>
          <p:cNvPr id="16" name="Text 14"/>
          <p:cNvSpPr/>
          <p:nvPr/>
        </p:nvSpPr>
        <p:spPr>
          <a:xfrm>
            <a:off x="8339328" y="2624328"/>
            <a:ext cx="3118104" cy="1179576"/>
          </a:xfrm>
          <a:prstGeom prst="rect">
            <a:avLst/>
          </a:prstGeom>
          <a:noFill/>
          <a:ln/>
        </p:spPr>
        <p:txBody>
          <a:bodyPr wrap="square" lIns="0" tIns="0" rIns="0" bIns="0" rtlCol="0" anchor="t"/>
          <a:lstStyle/>
          <a:p>
            <a:pPr indent="0" marL="0">
              <a:lnSpc>
                <a:spcPct val="105000"/>
              </a:lnSpc>
              <a:buNone/>
            </a:pPr>
            <a:r>
              <a:rPr lang="en-US" sz="1050" dirty="0">
                <a:solidFill>
                  <a:srgbClr val="5A6472"/>
                </a:solidFill>
                <a:latin typeface="Calibri" pitchFamily="34" charset="0"/>
                <a:ea typeface="Calibri" pitchFamily="34" charset="-122"/>
                <a:cs typeface="Calibri" pitchFamily="34" charset="-120"/>
              </a:rPr>
              <a:t>Defaults to oillie.cloud. Point it at your own server, with an optional API key, from Sync settings.</a:t>
            </a:r>
            <a:endParaRPr lang="en-US" sz="1050" dirty="0"/>
          </a:p>
        </p:txBody>
      </p:sp>
      <p:sp>
        <p:nvSpPr>
          <p:cNvPr id="17" name="Shape 15"/>
          <p:cNvSpPr/>
          <p:nvPr/>
        </p:nvSpPr>
        <p:spPr>
          <a:xfrm>
            <a:off x="548640" y="4251960"/>
            <a:ext cx="11064240" cy="1463040"/>
          </a:xfrm>
          <a:prstGeom prst="roundRect">
            <a:avLst>
              <a:gd name="adj" fmla="val 3750"/>
            </a:avLst>
          </a:prstGeom>
          <a:solidFill>
            <a:srgbClr val="F4F6F8"/>
          </a:solidFill>
          <a:ln w="9525">
            <a:solidFill>
              <a:srgbClr val="DCE2EA"/>
            </a:solidFill>
            <a:prstDash val="solid"/>
          </a:ln>
        </p:spPr>
      </p:sp>
      <p:sp>
        <p:nvSpPr>
          <p:cNvPr id="18" name="Text 16"/>
          <p:cNvSpPr/>
          <p:nvPr/>
        </p:nvSpPr>
        <p:spPr>
          <a:xfrm>
            <a:off x="868680" y="4416552"/>
            <a:ext cx="7315200" cy="320040"/>
          </a:xfrm>
          <a:prstGeom prst="rect">
            <a:avLst/>
          </a:prstGeom>
          <a:noFill/>
          <a:ln/>
        </p:spPr>
        <p:txBody>
          <a:bodyPr wrap="square" lIns="0" tIns="0" rIns="0" bIns="0" rtlCol="0" anchor="ctr"/>
          <a:lstStyle/>
          <a:p>
            <a:pPr indent="0" marL="0">
              <a:buNone/>
            </a:pPr>
            <a:r>
              <a:rPr lang="en-US" sz="1500" b="1" dirty="0">
                <a:solidFill>
                  <a:srgbClr val="1B1D22"/>
                </a:solidFill>
                <a:latin typeface="Calibri" pitchFamily="34" charset="0"/>
                <a:ea typeface="Calibri" pitchFamily="34" charset="-122"/>
                <a:cs typeface="Calibri" pitchFamily="34" charset="-120"/>
              </a:rPr>
              <a:t>Runs on your own Linux box</a:t>
            </a:r>
            <a:endParaRPr lang="en-US" sz="1500" dirty="0"/>
          </a:p>
        </p:txBody>
      </p:sp>
      <p:sp>
        <p:nvSpPr>
          <p:cNvPr id="19" name="Text 17"/>
          <p:cNvSpPr/>
          <p:nvPr/>
        </p:nvSpPr>
        <p:spPr>
          <a:xfrm>
            <a:off x="868680" y="4800600"/>
            <a:ext cx="10424160" cy="822960"/>
          </a:xfrm>
          <a:prstGeom prst="rect">
            <a:avLst/>
          </a:prstGeom>
          <a:noFill/>
          <a:ln/>
        </p:spPr>
        <p:txBody>
          <a:bodyPr wrap="square" lIns="0" tIns="0" rIns="0" bIns="0" rtlCol="0" anchor="t"/>
          <a:lstStyle/>
          <a:p>
            <a:pPr indent="0" marL="0">
              <a:buNone/>
            </a:pPr>
            <a:r>
              <a:rPr lang="en-US" sz="1300" dirty="0">
                <a:solidFill>
                  <a:srgbClr val="5A6472"/>
                </a:solidFill>
                <a:latin typeface="Calibri" pitchFamily="34" charset="0"/>
                <a:ea typeface="Calibri" pitchFamily="34" charset="-122"/>
                <a:cs typeface="Calibri" pitchFamily="34" charset="-120"/>
              </a:rPr>
              <a:t>A Makefile does the work: make sdk, make publish, sudo make service. The result is one self-contained binary — no .NET install and no database server. Set an API key, put nginx in front, and back the whole library up by copying one file.</a:t>
            </a:r>
            <a:endParaRPr lang="en-US" sz="13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7315200" cy="256032"/>
          </a:xfrm>
          <a:prstGeom prst="rect">
            <a:avLst/>
          </a:prstGeom>
          <a:noFill/>
          <a:ln/>
        </p:spPr>
        <p:txBody>
          <a:bodyPr wrap="square" lIns="0" tIns="0" rIns="0" bIns="0" rtlCol="0" anchor="ctr"/>
          <a:lstStyle/>
          <a:p>
            <a:pPr indent="0" marL="0">
              <a:buNone/>
            </a:pPr>
            <a:r>
              <a:rPr lang="en-US" sz="1100" b="1" spc="200" kern="0" dirty="0">
                <a:solidFill>
                  <a:srgbClr val="2D8CFF"/>
                </a:solidFill>
                <a:latin typeface="Calibri" pitchFamily="34" charset="0"/>
                <a:ea typeface="Calibri" pitchFamily="34" charset="-122"/>
                <a:cs typeface="Calibri" pitchFamily="34" charset="-120"/>
              </a:rPr>
              <a:t>QUERY ENCRYPTION</a:t>
            </a:r>
            <a:endParaRPr lang="en-US" sz="1100" dirty="0"/>
          </a:p>
        </p:txBody>
      </p:sp>
      <p:sp>
        <p:nvSpPr>
          <p:cNvPr id="3" name="Text 1"/>
          <p:cNvSpPr/>
          <p:nvPr/>
        </p:nvSpPr>
        <p:spPr>
          <a:xfrm>
            <a:off x="548640" y="713232"/>
            <a:ext cx="11064240" cy="685800"/>
          </a:xfrm>
          <a:prstGeom prst="rect">
            <a:avLst/>
          </a:prstGeom>
          <a:noFill/>
          <a:ln/>
        </p:spPr>
        <p:txBody>
          <a:bodyPr wrap="square" lIns="0" tIns="0" rIns="0" bIns="0" rtlCol="0" anchor="ctr"/>
          <a:lstStyle/>
          <a:p>
            <a:pPr indent="0" marL="0">
              <a:buNone/>
            </a:pPr>
            <a:r>
              <a:rPr lang="en-US" sz="3400" b="1" dirty="0">
                <a:solidFill>
                  <a:srgbClr val="1B1D22"/>
                </a:solidFill>
                <a:latin typeface="Calibri" pitchFamily="34" charset="0"/>
                <a:ea typeface="Calibri" pitchFamily="34" charset="-122"/>
                <a:cs typeface="Calibri" pitchFamily="34" charset="-120"/>
              </a:rPr>
              <a:t>Your SQL stays yours</a:t>
            </a:r>
            <a:endParaRPr lang="en-US" sz="3400" dirty="0"/>
          </a:p>
        </p:txBody>
      </p:sp>
      <p:sp>
        <p:nvSpPr>
          <p:cNvPr id="4" name="Text 2"/>
          <p:cNvSpPr/>
          <p:nvPr/>
        </p:nvSpPr>
        <p:spPr>
          <a:xfrm>
            <a:off x="548640" y="1600200"/>
            <a:ext cx="10972800" cy="365760"/>
          </a:xfrm>
          <a:prstGeom prst="rect">
            <a:avLst/>
          </a:prstGeom>
          <a:noFill/>
          <a:ln/>
        </p:spPr>
        <p:txBody>
          <a:bodyPr wrap="square" lIns="0" tIns="0" rIns="0" bIns="0" rtlCol="0" anchor="ctr"/>
          <a:lstStyle/>
          <a:p>
            <a:pPr indent="0" marL="0">
              <a:buNone/>
            </a:pPr>
            <a:r>
              <a:rPr lang="en-US" sz="1500" dirty="0">
                <a:solidFill>
                  <a:srgbClr val="5A6472"/>
                </a:solidFill>
                <a:latin typeface="Calibri" pitchFamily="34" charset="0"/>
                <a:ea typeface="Calibri" pitchFamily="34" charset="-122"/>
                <a:cs typeface="Calibri" pitchFamily="34" charset="-120"/>
              </a:rPr>
              <a:t>Queries are encrypted on your machine, before anything is stored or sent.</a:t>
            </a:r>
            <a:endParaRPr lang="en-US" sz="1500" dirty="0"/>
          </a:p>
        </p:txBody>
      </p:sp>
      <p:sp>
        <p:nvSpPr>
          <p:cNvPr id="5" name="Shape 3"/>
          <p:cNvSpPr/>
          <p:nvPr/>
        </p:nvSpPr>
        <p:spPr>
          <a:xfrm>
            <a:off x="548640" y="2148840"/>
            <a:ext cx="3520440" cy="1828800"/>
          </a:xfrm>
          <a:prstGeom prst="roundRect">
            <a:avLst>
              <a:gd name="adj" fmla="val 3000"/>
            </a:avLst>
          </a:prstGeom>
          <a:solidFill>
            <a:srgbClr val="F4F6F8"/>
          </a:solidFill>
          <a:ln w="9525">
            <a:solidFill>
              <a:srgbClr val="DCE2EA"/>
            </a:solidFill>
            <a:prstDash val="solid"/>
          </a:ln>
        </p:spPr>
      </p:sp>
      <p:sp>
        <p:nvSpPr>
          <p:cNvPr id="6" name="Shape 4"/>
          <p:cNvSpPr/>
          <p:nvPr/>
        </p:nvSpPr>
        <p:spPr>
          <a:xfrm>
            <a:off x="749808" y="2350008"/>
            <a:ext cx="155448" cy="155448"/>
          </a:xfrm>
          <a:prstGeom prst="roundRect">
            <a:avLst>
              <a:gd name="adj" fmla="val 23529"/>
            </a:avLst>
          </a:prstGeom>
          <a:solidFill>
            <a:srgbClr val="2D8CFF"/>
          </a:solidFill>
          <a:ln w="12700">
            <a:solidFill>
              <a:srgbClr val="2D8CFF"/>
            </a:solidFill>
            <a:prstDash val="solid"/>
          </a:ln>
        </p:spPr>
      </p:sp>
      <p:sp>
        <p:nvSpPr>
          <p:cNvPr id="7" name="Text 5"/>
          <p:cNvSpPr/>
          <p:nvPr/>
        </p:nvSpPr>
        <p:spPr>
          <a:xfrm>
            <a:off x="1005840" y="2276856"/>
            <a:ext cx="2880360" cy="292608"/>
          </a:xfrm>
          <a:prstGeom prst="rect">
            <a:avLst/>
          </a:prstGeom>
          <a:noFill/>
          <a:ln/>
        </p:spPr>
        <p:txBody>
          <a:bodyPr wrap="square" lIns="0" tIns="0" rIns="0" bIns="0" rtlCol="0" anchor="ctr"/>
          <a:lstStyle/>
          <a:p>
            <a:pPr indent="0" marL="0">
              <a:buNone/>
            </a:pPr>
            <a:r>
              <a:rPr lang="en-US" sz="1300" b="1" dirty="0">
                <a:solidFill>
                  <a:srgbClr val="1B1D22"/>
                </a:solidFill>
                <a:latin typeface="Calibri" pitchFamily="34" charset="0"/>
                <a:ea typeface="Calibri" pitchFamily="34" charset="-122"/>
                <a:cs typeface="Calibri" pitchFamily="34" charset="-120"/>
              </a:rPr>
              <a:t>AES-256 + HMAC</a:t>
            </a:r>
            <a:endParaRPr lang="en-US" sz="1300" dirty="0"/>
          </a:p>
        </p:txBody>
      </p:sp>
      <p:sp>
        <p:nvSpPr>
          <p:cNvPr id="8" name="Text 6"/>
          <p:cNvSpPr/>
          <p:nvPr/>
        </p:nvSpPr>
        <p:spPr>
          <a:xfrm>
            <a:off x="749808" y="2624328"/>
            <a:ext cx="3118104" cy="1225296"/>
          </a:xfrm>
          <a:prstGeom prst="rect">
            <a:avLst/>
          </a:prstGeom>
          <a:noFill/>
          <a:ln/>
        </p:spPr>
        <p:txBody>
          <a:bodyPr wrap="square" lIns="0" tIns="0" rIns="0" bIns="0" rtlCol="0" anchor="t"/>
          <a:lstStyle/>
          <a:p>
            <a:pPr indent="0" marL="0">
              <a:lnSpc>
                <a:spcPct val="105000"/>
              </a:lnSpc>
              <a:buNone/>
            </a:pPr>
            <a:r>
              <a:rPr lang="en-US" sz="1050" dirty="0">
                <a:solidFill>
                  <a:srgbClr val="5A6472"/>
                </a:solidFill>
                <a:latin typeface="Calibri" pitchFamily="34" charset="0"/>
                <a:ea typeface="Calibri" pitchFamily="34" charset="-122"/>
                <a:cs typeface="Calibri" pitchFamily="34" charset="-120"/>
              </a:rPr>
              <a:t>Every query is encrypted and signed. Tampering is detected and rejected rather than quietly accepted.</a:t>
            </a:r>
            <a:endParaRPr lang="en-US" sz="1050" dirty="0"/>
          </a:p>
        </p:txBody>
      </p:sp>
      <p:sp>
        <p:nvSpPr>
          <p:cNvPr id="9" name="Shape 7"/>
          <p:cNvSpPr/>
          <p:nvPr/>
        </p:nvSpPr>
        <p:spPr>
          <a:xfrm>
            <a:off x="4343400" y="2148840"/>
            <a:ext cx="3520440" cy="1828800"/>
          </a:xfrm>
          <a:prstGeom prst="roundRect">
            <a:avLst>
              <a:gd name="adj" fmla="val 3000"/>
            </a:avLst>
          </a:prstGeom>
          <a:solidFill>
            <a:srgbClr val="F4F6F8"/>
          </a:solidFill>
          <a:ln w="9525">
            <a:solidFill>
              <a:srgbClr val="DCE2EA"/>
            </a:solidFill>
            <a:prstDash val="solid"/>
          </a:ln>
        </p:spPr>
      </p:sp>
      <p:sp>
        <p:nvSpPr>
          <p:cNvPr id="10" name="Shape 8"/>
          <p:cNvSpPr/>
          <p:nvPr/>
        </p:nvSpPr>
        <p:spPr>
          <a:xfrm>
            <a:off x="4544568" y="2350008"/>
            <a:ext cx="155448" cy="155448"/>
          </a:xfrm>
          <a:prstGeom prst="roundRect">
            <a:avLst>
              <a:gd name="adj" fmla="val 23529"/>
            </a:avLst>
          </a:prstGeom>
          <a:solidFill>
            <a:srgbClr val="4FD6E6"/>
          </a:solidFill>
          <a:ln w="12700">
            <a:solidFill>
              <a:srgbClr val="4FD6E6"/>
            </a:solidFill>
            <a:prstDash val="solid"/>
          </a:ln>
        </p:spPr>
      </p:sp>
      <p:sp>
        <p:nvSpPr>
          <p:cNvPr id="11" name="Text 9"/>
          <p:cNvSpPr/>
          <p:nvPr/>
        </p:nvSpPr>
        <p:spPr>
          <a:xfrm>
            <a:off x="4800600" y="2276856"/>
            <a:ext cx="2880360" cy="292608"/>
          </a:xfrm>
          <a:prstGeom prst="rect">
            <a:avLst/>
          </a:prstGeom>
          <a:noFill/>
          <a:ln/>
        </p:spPr>
        <p:txBody>
          <a:bodyPr wrap="square" lIns="0" tIns="0" rIns="0" bIns="0" rtlCol="0" anchor="ctr"/>
          <a:lstStyle/>
          <a:p>
            <a:pPr indent="0" marL="0">
              <a:buNone/>
            </a:pPr>
            <a:r>
              <a:rPr lang="en-US" sz="1300" b="1" dirty="0">
                <a:solidFill>
                  <a:srgbClr val="1B1D22"/>
                </a:solidFill>
                <a:latin typeface="Calibri" pitchFamily="34" charset="0"/>
                <a:ea typeface="Calibri" pitchFamily="34" charset="-122"/>
                <a:cs typeface="Calibri" pitchFamily="34" charset="-120"/>
              </a:rPr>
              <a:t>The server cannot read it</a:t>
            </a:r>
            <a:endParaRPr lang="en-US" sz="1300" dirty="0"/>
          </a:p>
        </p:txBody>
      </p:sp>
      <p:sp>
        <p:nvSpPr>
          <p:cNvPr id="12" name="Text 10"/>
          <p:cNvSpPr/>
          <p:nvPr/>
        </p:nvSpPr>
        <p:spPr>
          <a:xfrm>
            <a:off x="4544568" y="2624328"/>
            <a:ext cx="3118104" cy="1225296"/>
          </a:xfrm>
          <a:prstGeom prst="rect">
            <a:avLst/>
          </a:prstGeom>
          <a:noFill/>
          <a:ln/>
        </p:spPr>
        <p:txBody>
          <a:bodyPr wrap="square" lIns="0" tIns="0" rIns="0" bIns="0" rtlCol="0" anchor="t"/>
          <a:lstStyle/>
          <a:p>
            <a:pPr indent="0" marL="0">
              <a:lnSpc>
                <a:spcPct val="105000"/>
              </a:lnSpc>
              <a:buNone/>
            </a:pPr>
            <a:r>
              <a:rPr lang="en-US" sz="1050" dirty="0">
                <a:solidFill>
                  <a:srgbClr val="5A6472"/>
                </a:solidFill>
                <a:latin typeface="Calibri" pitchFamily="34" charset="0"/>
                <a:ea typeface="Calibri" pitchFamily="34" charset="-122"/>
                <a:cs typeface="Calibri" pitchFamily="34" charset="-120"/>
              </a:rPr>
              <a:t>Encryption happens on the client, so the central database holds ciphertext only. A server administrator sees nothing usable.</a:t>
            </a:r>
            <a:endParaRPr lang="en-US" sz="1050" dirty="0"/>
          </a:p>
        </p:txBody>
      </p:sp>
      <p:sp>
        <p:nvSpPr>
          <p:cNvPr id="13" name="Shape 11"/>
          <p:cNvSpPr/>
          <p:nvPr/>
        </p:nvSpPr>
        <p:spPr>
          <a:xfrm>
            <a:off x="8138160" y="2148840"/>
            <a:ext cx="3520440" cy="1828800"/>
          </a:xfrm>
          <a:prstGeom prst="roundRect">
            <a:avLst>
              <a:gd name="adj" fmla="val 3000"/>
            </a:avLst>
          </a:prstGeom>
          <a:solidFill>
            <a:srgbClr val="F4F6F8"/>
          </a:solidFill>
          <a:ln w="9525">
            <a:solidFill>
              <a:srgbClr val="DCE2EA"/>
            </a:solidFill>
            <a:prstDash val="solid"/>
          </a:ln>
        </p:spPr>
      </p:sp>
      <p:sp>
        <p:nvSpPr>
          <p:cNvPr id="14" name="Shape 12"/>
          <p:cNvSpPr/>
          <p:nvPr/>
        </p:nvSpPr>
        <p:spPr>
          <a:xfrm>
            <a:off x="8339328" y="2350008"/>
            <a:ext cx="155448" cy="155448"/>
          </a:xfrm>
          <a:prstGeom prst="roundRect">
            <a:avLst>
              <a:gd name="adj" fmla="val 23529"/>
            </a:avLst>
          </a:prstGeom>
          <a:solidFill>
            <a:srgbClr val="2D8CFF"/>
          </a:solidFill>
          <a:ln w="12700">
            <a:solidFill>
              <a:srgbClr val="2D8CFF"/>
            </a:solidFill>
            <a:prstDash val="solid"/>
          </a:ln>
        </p:spPr>
      </p:sp>
      <p:sp>
        <p:nvSpPr>
          <p:cNvPr id="15" name="Text 13"/>
          <p:cNvSpPr/>
          <p:nvPr/>
        </p:nvSpPr>
        <p:spPr>
          <a:xfrm>
            <a:off x="8595360" y="2276856"/>
            <a:ext cx="2880360" cy="292608"/>
          </a:xfrm>
          <a:prstGeom prst="rect">
            <a:avLst/>
          </a:prstGeom>
          <a:noFill/>
          <a:ln/>
        </p:spPr>
        <p:txBody>
          <a:bodyPr wrap="square" lIns="0" tIns="0" rIns="0" bIns="0" rtlCol="0" anchor="ctr"/>
          <a:lstStyle/>
          <a:p>
            <a:pPr indent="0" marL="0">
              <a:buNone/>
            </a:pPr>
            <a:r>
              <a:rPr lang="en-US" sz="1300" b="1" dirty="0">
                <a:solidFill>
                  <a:srgbClr val="1B1D22"/>
                </a:solidFill>
                <a:latin typeface="Calibri" pitchFamily="34" charset="0"/>
                <a:ea typeface="Calibri" pitchFamily="34" charset="-122"/>
                <a:cs typeface="Calibri" pitchFamily="34" charset="-120"/>
              </a:rPr>
              <a:t>One passphrase, shared</a:t>
            </a:r>
            <a:endParaRPr lang="en-US" sz="1300" dirty="0"/>
          </a:p>
        </p:txBody>
      </p:sp>
      <p:sp>
        <p:nvSpPr>
          <p:cNvPr id="16" name="Text 14"/>
          <p:cNvSpPr/>
          <p:nvPr/>
        </p:nvSpPr>
        <p:spPr>
          <a:xfrm>
            <a:off x="8339328" y="2624328"/>
            <a:ext cx="3118104" cy="1225296"/>
          </a:xfrm>
          <a:prstGeom prst="rect">
            <a:avLst/>
          </a:prstGeom>
          <a:noFill/>
          <a:ln/>
        </p:spPr>
        <p:txBody>
          <a:bodyPr wrap="square" lIns="0" tIns="0" rIns="0" bIns="0" rtlCol="0" anchor="t"/>
          <a:lstStyle/>
          <a:p>
            <a:pPr indent="0" marL="0">
              <a:lnSpc>
                <a:spcPct val="105000"/>
              </a:lnSpc>
              <a:buNone/>
            </a:pPr>
            <a:r>
              <a:rPr lang="en-US" sz="1050" dirty="0">
                <a:solidFill>
                  <a:srgbClr val="5A6472"/>
                </a:solidFill>
                <a:latin typeface="Calibri" pitchFamily="34" charset="0"/>
                <a:ea typeface="Calibri" pitchFamily="34" charset="-122"/>
                <a:cs typeface="Calibri" pitchFamily="34" charset="-120"/>
              </a:rPr>
              <a:t>Anyone with the passphrase reads the library. Anyone without it — including the server — does not. Pair it with a server API key: encryption stops reading, the key stops tampering.</a:t>
            </a:r>
            <a:endParaRPr lang="en-US" sz="1050" dirty="0"/>
          </a:p>
        </p:txBody>
      </p:sp>
      <p:sp>
        <p:nvSpPr>
          <p:cNvPr id="17" name="Shape 15"/>
          <p:cNvSpPr/>
          <p:nvPr/>
        </p:nvSpPr>
        <p:spPr>
          <a:xfrm>
            <a:off x="548640" y="4206240"/>
            <a:ext cx="5394960" cy="1554480"/>
          </a:xfrm>
          <a:prstGeom prst="roundRect">
            <a:avLst>
              <a:gd name="adj" fmla="val 2941"/>
            </a:avLst>
          </a:prstGeom>
          <a:solidFill>
            <a:srgbClr val="11161C"/>
          </a:solidFill>
          <a:ln w="9525">
            <a:solidFill>
              <a:srgbClr val="11161C"/>
            </a:solidFill>
            <a:prstDash val="solid"/>
          </a:ln>
        </p:spPr>
      </p:sp>
      <p:sp>
        <p:nvSpPr>
          <p:cNvPr id="18" name="Text 16"/>
          <p:cNvSpPr/>
          <p:nvPr/>
        </p:nvSpPr>
        <p:spPr>
          <a:xfrm>
            <a:off x="731520" y="4352544"/>
            <a:ext cx="5029200" cy="1261872"/>
          </a:xfrm>
          <a:prstGeom prst="rect">
            <a:avLst/>
          </a:prstGeom>
          <a:noFill/>
          <a:ln/>
        </p:spPr>
        <p:txBody>
          <a:bodyPr wrap="square" lIns="0" tIns="0" rIns="0" bIns="0" rtlCol="0" anchor="t"/>
          <a:lstStyle/>
          <a:p>
            <a:pPr indent="0" marL="0">
              <a:lnSpc>
                <a:spcPct val="115000"/>
              </a:lnSpc>
              <a:buNone/>
            </a:pPr>
            <a:r>
              <a:rPr lang="en-US" sz="1150" dirty="0">
                <a:solidFill>
                  <a:srgbClr val="8A93A0"/>
                </a:solidFill>
                <a:latin typeface="Courier New" pitchFamily="34" charset="0"/>
                <a:ea typeface="Courier New" pitchFamily="34" charset="-122"/>
                <a:cs typeface="Courier New" pitchFamily="34" charset="-120"/>
              </a:rPr>
              <a:t>What the server database holds:</a:t>
            </a:r>
            <a:endParaRPr lang="en-US" sz="1150" dirty="0"/>
          </a:p>
          <a:p>
            <a:pPr indent="0" marL="0">
              <a:lnSpc>
                <a:spcPct val="115000"/>
              </a:lnSpc>
              <a:buNone/>
            </a:pPr>
            <a:r>
              <a:rPr lang="en-US" sz="1150" dirty="0">
                <a:solidFill>
                  <a:srgbClr val="4FD6E6"/>
                </a:solidFill>
                <a:latin typeface="Courier New" pitchFamily="34" charset="0"/>
                <a:ea typeface="Courier New" pitchFamily="34" charset="-122"/>
                <a:cs typeface="Courier New" pitchFamily="34" charset="-120"/>
              </a:rPr>
              <a:t>QP1:2sKT5q0dBCPXJGxam7XRi61I2tXq…</a:t>
            </a:r>
            <a:endParaRPr lang="en-US" sz="1150" dirty="0"/>
          </a:p>
          <a:p>
            <a:pPr indent="0" marL="0">
              <a:lnSpc>
                <a:spcPct val="115000"/>
              </a:lnSpc>
              <a:buNone/>
            </a:pPr>
            <a:r>
              <a:rPr lang="en-US" sz="1150" dirty="0">
                <a:solidFill>
                  <a:srgbClr val="4FD6E6"/>
                </a:solidFill>
                <a:latin typeface="Courier New" pitchFamily="34" charset="0"/>
                <a:ea typeface="Courier New" pitchFamily="34" charset="-122"/>
                <a:cs typeface="Courier New" pitchFamily="34" charset="-120"/>
              </a:rPr>
              <a:t>QP1:IgSzrtgQOcO2rJKNF4Kn2WkG57ui…</a:t>
            </a:r>
            <a:endParaRPr lang="en-US" sz="1150" dirty="0"/>
          </a:p>
        </p:txBody>
      </p:sp>
      <p:sp>
        <p:nvSpPr>
          <p:cNvPr id="19" name="Shape 17"/>
          <p:cNvSpPr/>
          <p:nvPr/>
        </p:nvSpPr>
        <p:spPr>
          <a:xfrm>
            <a:off x="6309360" y="4206240"/>
            <a:ext cx="5303520" cy="1554480"/>
          </a:xfrm>
          <a:prstGeom prst="roundRect">
            <a:avLst>
              <a:gd name="adj" fmla="val 3529"/>
            </a:avLst>
          </a:prstGeom>
          <a:solidFill>
            <a:srgbClr val="FFF6E5"/>
          </a:solidFill>
          <a:ln w="9525">
            <a:solidFill>
              <a:srgbClr val="F0D9A8"/>
            </a:solidFill>
            <a:prstDash val="solid"/>
          </a:ln>
        </p:spPr>
      </p:sp>
      <p:sp>
        <p:nvSpPr>
          <p:cNvPr id="20" name="Text 18"/>
          <p:cNvSpPr/>
          <p:nvPr/>
        </p:nvSpPr>
        <p:spPr>
          <a:xfrm>
            <a:off x="6583680" y="4370832"/>
            <a:ext cx="4937760" cy="292608"/>
          </a:xfrm>
          <a:prstGeom prst="rect">
            <a:avLst/>
          </a:prstGeom>
          <a:noFill/>
          <a:ln/>
        </p:spPr>
        <p:txBody>
          <a:bodyPr wrap="square" lIns="0" tIns="0" rIns="0" bIns="0" rtlCol="0" anchor="ctr"/>
          <a:lstStyle/>
          <a:p>
            <a:pPr indent="0" marL="0">
              <a:buNone/>
            </a:pPr>
            <a:r>
              <a:rPr lang="en-US" sz="1400" b="1" dirty="0">
                <a:solidFill>
                  <a:srgbClr val="8A5A00"/>
                </a:solidFill>
                <a:latin typeface="Calibri" pitchFamily="34" charset="0"/>
                <a:ea typeface="Calibri" pitchFamily="34" charset="-122"/>
                <a:cs typeface="Calibri" pitchFamily="34" charset="-120"/>
              </a:rPr>
              <a:t>There is no recovery</a:t>
            </a:r>
            <a:endParaRPr lang="en-US" sz="1400" dirty="0"/>
          </a:p>
        </p:txBody>
      </p:sp>
      <p:sp>
        <p:nvSpPr>
          <p:cNvPr id="21" name="Text 19"/>
          <p:cNvSpPr/>
          <p:nvPr/>
        </p:nvSpPr>
        <p:spPr>
          <a:xfrm>
            <a:off x="6583680" y="4709160"/>
            <a:ext cx="4937760" cy="914400"/>
          </a:xfrm>
          <a:prstGeom prst="rect">
            <a:avLst/>
          </a:prstGeom>
          <a:noFill/>
          <a:ln/>
        </p:spPr>
        <p:txBody>
          <a:bodyPr wrap="square" lIns="0" tIns="0" rIns="0" bIns="0" rtlCol="0" anchor="t"/>
          <a:lstStyle/>
          <a:p>
            <a:pPr indent="0" marL="0">
              <a:buNone/>
            </a:pPr>
            <a:r>
              <a:rPr lang="en-US" sz="1250" dirty="0">
                <a:solidFill>
                  <a:srgbClr val="6E4A08"/>
                </a:solidFill>
                <a:latin typeface="Calibri" pitchFamily="34" charset="0"/>
                <a:ea typeface="Calibri" pitchFamily="34" charset="-122"/>
                <a:cs typeface="Calibri" pitchFamily="34" charset="-120"/>
              </a:rPr>
              <a:t>Lose the passphrase and every encrypted query is unreadable — on every machine and on the server. Record it before turning encryption on.</a:t>
            </a:r>
            <a:endParaRPr lang="en-US" sz="12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7315200" cy="256032"/>
          </a:xfrm>
          <a:prstGeom prst="rect">
            <a:avLst/>
          </a:prstGeom>
          <a:noFill/>
          <a:ln/>
        </p:spPr>
        <p:txBody>
          <a:bodyPr wrap="square" lIns="0" tIns="0" rIns="0" bIns="0" rtlCol="0" anchor="ctr"/>
          <a:lstStyle/>
          <a:p>
            <a:pPr indent="0" marL="0">
              <a:buNone/>
            </a:pPr>
            <a:r>
              <a:rPr lang="en-US" sz="1100" b="1" spc="200" kern="0" dirty="0">
                <a:solidFill>
                  <a:srgbClr val="2D8CFF"/>
                </a:solidFill>
                <a:latin typeface="Calibri" pitchFamily="34" charset="0"/>
                <a:ea typeface="Calibri" pitchFamily="34" charset="-122"/>
                <a:cs typeface="Calibri" pitchFamily="34" charset="-120"/>
              </a:rPr>
              <a:t>KEYBOARD SHORTCUTS</a:t>
            </a:r>
            <a:endParaRPr lang="en-US" sz="1100" dirty="0"/>
          </a:p>
        </p:txBody>
      </p:sp>
      <p:sp>
        <p:nvSpPr>
          <p:cNvPr id="3" name="Text 1"/>
          <p:cNvSpPr/>
          <p:nvPr/>
        </p:nvSpPr>
        <p:spPr>
          <a:xfrm>
            <a:off x="548640" y="713232"/>
            <a:ext cx="11064240" cy="685800"/>
          </a:xfrm>
          <a:prstGeom prst="rect">
            <a:avLst/>
          </a:prstGeom>
          <a:noFill/>
          <a:ln/>
        </p:spPr>
        <p:txBody>
          <a:bodyPr wrap="square" lIns="0" tIns="0" rIns="0" bIns="0" rtlCol="0" anchor="ctr"/>
          <a:lstStyle/>
          <a:p>
            <a:pPr indent="0" marL="0">
              <a:buNone/>
            </a:pPr>
            <a:r>
              <a:rPr lang="en-US" sz="3400" b="1" dirty="0">
                <a:solidFill>
                  <a:srgbClr val="1B1D22"/>
                </a:solidFill>
                <a:latin typeface="Calibri" pitchFamily="34" charset="0"/>
                <a:ea typeface="Calibri" pitchFamily="34" charset="-122"/>
                <a:cs typeface="Calibri" pitchFamily="34" charset="-120"/>
              </a:rPr>
              <a:t>Worth committing to memory</a:t>
            </a:r>
            <a:endParaRPr lang="en-US" sz="3400" dirty="0"/>
          </a:p>
        </p:txBody>
      </p:sp>
      <p:sp>
        <p:nvSpPr>
          <p:cNvPr id="4" name="Shape 2"/>
          <p:cNvSpPr/>
          <p:nvPr/>
        </p:nvSpPr>
        <p:spPr>
          <a:xfrm>
            <a:off x="548640" y="1783080"/>
            <a:ext cx="1965960" cy="566928"/>
          </a:xfrm>
          <a:prstGeom prst="roundRect">
            <a:avLst>
              <a:gd name="adj" fmla="val 12903"/>
            </a:avLst>
          </a:prstGeom>
          <a:solidFill>
            <a:srgbClr val="1B1D22"/>
          </a:solidFill>
          <a:ln w="12700">
            <a:solidFill>
              <a:srgbClr val="1B1D22"/>
            </a:solidFill>
            <a:prstDash val="solid"/>
          </a:ln>
        </p:spPr>
      </p:sp>
      <p:sp>
        <p:nvSpPr>
          <p:cNvPr id="5" name="Text 3"/>
          <p:cNvSpPr/>
          <p:nvPr/>
        </p:nvSpPr>
        <p:spPr>
          <a:xfrm>
            <a:off x="548640" y="1783080"/>
            <a:ext cx="1965960" cy="566928"/>
          </a:xfrm>
          <a:prstGeom prst="rect">
            <a:avLst/>
          </a:prstGeom>
          <a:noFill/>
          <a:ln/>
        </p:spPr>
        <p:txBody>
          <a:bodyPr wrap="square" lIns="0" tIns="0" rIns="0" bIns="0" rtlCol="0" anchor="ctr"/>
          <a:lstStyle/>
          <a:p>
            <a:pPr algn="ctr" indent="0" marL="0">
              <a:buNone/>
            </a:pPr>
            <a:r>
              <a:rPr lang="en-US" sz="1400" b="1" dirty="0">
                <a:solidFill>
                  <a:srgbClr val="4FD6E6"/>
                </a:solidFill>
                <a:latin typeface="Courier New" pitchFamily="34" charset="0"/>
                <a:ea typeface="Courier New" pitchFamily="34" charset="-122"/>
                <a:cs typeface="Courier New" pitchFamily="34" charset="-120"/>
              </a:rPr>
              <a:t>F5</a:t>
            </a:r>
            <a:endParaRPr lang="en-US" sz="1400" dirty="0"/>
          </a:p>
        </p:txBody>
      </p:sp>
      <p:sp>
        <p:nvSpPr>
          <p:cNvPr id="6" name="Text 4"/>
          <p:cNvSpPr/>
          <p:nvPr/>
        </p:nvSpPr>
        <p:spPr>
          <a:xfrm>
            <a:off x="2743200" y="1783080"/>
            <a:ext cx="3200400" cy="566928"/>
          </a:xfrm>
          <a:prstGeom prst="rect">
            <a:avLst/>
          </a:prstGeom>
          <a:noFill/>
          <a:ln/>
        </p:spPr>
        <p:txBody>
          <a:bodyPr wrap="square" lIns="0" tIns="0" rIns="0" bIns="0" rtlCol="0" anchor="ctr"/>
          <a:lstStyle/>
          <a:p>
            <a:pPr indent="0" marL="0">
              <a:buNone/>
            </a:pPr>
            <a:r>
              <a:rPr lang="en-US" sz="1350" dirty="0">
                <a:solidFill>
                  <a:srgbClr val="5A6472"/>
                </a:solidFill>
                <a:latin typeface="Calibri" pitchFamily="34" charset="0"/>
                <a:ea typeface="Calibri" pitchFamily="34" charset="-122"/>
                <a:cs typeface="Calibri" pitchFamily="34" charset="-120"/>
              </a:rPr>
              <a:t>Run everything in the tab</a:t>
            </a:r>
            <a:endParaRPr lang="en-US" sz="1350" dirty="0"/>
          </a:p>
        </p:txBody>
      </p:sp>
      <p:sp>
        <p:nvSpPr>
          <p:cNvPr id="7" name="Shape 5"/>
          <p:cNvSpPr/>
          <p:nvPr/>
        </p:nvSpPr>
        <p:spPr>
          <a:xfrm>
            <a:off x="6217920" y="1783080"/>
            <a:ext cx="1965960" cy="566928"/>
          </a:xfrm>
          <a:prstGeom prst="roundRect">
            <a:avLst>
              <a:gd name="adj" fmla="val 12903"/>
            </a:avLst>
          </a:prstGeom>
          <a:solidFill>
            <a:srgbClr val="1B1D22"/>
          </a:solidFill>
          <a:ln w="12700">
            <a:solidFill>
              <a:srgbClr val="1B1D22"/>
            </a:solidFill>
            <a:prstDash val="solid"/>
          </a:ln>
        </p:spPr>
      </p:sp>
      <p:sp>
        <p:nvSpPr>
          <p:cNvPr id="8" name="Text 6"/>
          <p:cNvSpPr/>
          <p:nvPr/>
        </p:nvSpPr>
        <p:spPr>
          <a:xfrm>
            <a:off x="6217920" y="1783080"/>
            <a:ext cx="1965960" cy="566928"/>
          </a:xfrm>
          <a:prstGeom prst="rect">
            <a:avLst/>
          </a:prstGeom>
          <a:noFill/>
          <a:ln/>
        </p:spPr>
        <p:txBody>
          <a:bodyPr wrap="square" lIns="0" tIns="0" rIns="0" bIns="0" rtlCol="0" anchor="ctr"/>
          <a:lstStyle/>
          <a:p>
            <a:pPr algn="ctr" indent="0" marL="0">
              <a:buNone/>
            </a:pPr>
            <a:r>
              <a:rPr lang="en-US" sz="1400" b="1" dirty="0">
                <a:solidFill>
                  <a:srgbClr val="4FD6E6"/>
                </a:solidFill>
                <a:latin typeface="Courier New" pitchFamily="34" charset="0"/>
                <a:ea typeface="Courier New" pitchFamily="34" charset="-122"/>
                <a:cs typeface="Courier New" pitchFamily="34" charset="-120"/>
              </a:rPr>
              <a:t>Ctrl + F5</a:t>
            </a:r>
            <a:endParaRPr lang="en-US" sz="1400" dirty="0"/>
          </a:p>
        </p:txBody>
      </p:sp>
      <p:sp>
        <p:nvSpPr>
          <p:cNvPr id="9" name="Text 7"/>
          <p:cNvSpPr/>
          <p:nvPr/>
        </p:nvSpPr>
        <p:spPr>
          <a:xfrm>
            <a:off x="8412480" y="1783080"/>
            <a:ext cx="3200400" cy="566928"/>
          </a:xfrm>
          <a:prstGeom prst="rect">
            <a:avLst/>
          </a:prstGeom>
          <a:noFill/>
          <a:ln/>
        </p:spPr>
        <p:txBody>
          <a:bodyPr wrap="square" lIns="0" tIns="0" rIns="0" bIns="0" rtlCol="0" anchor="ctr"/>
          <a:lstStyle/>
          <a:p>
            <a:pPr indent="0" marL="0">
              <a:buNone/>
            </a:pPr>
            <a:r>
              <a:rPr lang="en-US" sz="1350" dirty="0">
                <a:solidFill>
                  <a:srgbClr val="5A6472"/>
                </a:solidFill>
                <a:latin typeface="Calibri" pitchFamily="34" charset="0"/>
                <a:ea typeface="Calibri" pitchFamily="34" charset="-122"/>
                <a:cs typeface="Calibri" pitchFamily="34" charset="-120"/>
              </a:rPr>
              <a:t>Run only the selected text</a:t>
            </a:r>
            <a:endParaRPr lang="en-US" sz="1350" dirty="0"/>
          </a:p>
        </p:txBody>
      </p:sp>
      <p:sp>
        <p:nvSpPr>
          <p:cNvPr id="10" name="Shape 8"/>
          <p:cNvSpPr/>
          <p:nvPr/>
        </p:nvSpPr>
        <p:spPr>
          <a:xfrm>
            <a:off x="548640" y="3017520"/>
            <a:ext cx="1965960" cy="566928"/>
          </a:xfrm>
          <a:prstGeom prst="roundRect">
            <a:avLst>
              <a:gd name="adj" fmla="val 12903"/>
            </a:avLst>
          </a:prstGeom>
          <a:solidFill>
            <a:srgbClr val="1B1D22"/>
          </a:solidFill>
          <a:ln w="12700">
            <a:solidFill>
              <a:srgbClr val="1B1D22"/>
            </a:solidFill>
            <a:prstDash val="solid"/>
          </a:ln>
        </p:spPr>
      </p:sp>
      <p:sp>
        <p:nvSpPr>
          <p:cNvPr id="11" name="Text 9"/>
          <p:cNvSpPr/>
          <p:nvPr/>
        </p:nvSpPr>
        <p:spPr>
          <a:xfrm>
            <a:off x="548640" y="3017520"/>
            <a:ext cx="1965960" cy="566928"/>
          </a:xfrm>
          <a:prstGeom prst="rect">
            <a:avLst/>
          </a:prstGeom>
          <a:noFill/>
          <a:ln/>
        </p:spPr>
        <p:txBody>
          <a:bodyPr wrap="square" lIns="0" tIns="0" rIns="0" bIns="0" rtlCol="0" anchor="ctr"/>
          <a:lstStyle/>
          <a:p>
            <a:pPr algn="ctr" indent="0" marL="0">
              <a:buNone/>
            </a:pPr>
            <a:r>
              <a:rPr lang="en-US" sz="1400" b="1" dirty="0">
                <a:solidFill>
                  <a:srgbClr val="4FD6E6"/>
                </a:solidFill>
                <a:latin typeface="Courier New" pitchFamily="34" charset="0"/>
                <a:ea typeface="Courier New" pitchFamily="34" charset="-122"/>
                <a:cs typeface="Courier New" pitchFamily="34" charset="-120"/>
              </a:rPr>
              <a:t>Ctrl + Space</a:t>
            </a:r>
            <a:endParaRPr lang="en-US" sz="1400" dirty="0"/>
          </a:p>
        </p:txBody>
      </p:sp>
      <p:sp>
        <p:nvSpPr>
          <p:cNvPr id="12" name="Text 10"/>
          <p:cNvSpPr/>
          <p:nvPr/>
        </p:nvSpPr>
        <p:spPr>
          <a:xfrm>
            <a:off x="2743200" y="3017520"/>
            <a:ext cx="3200400" cy="566928"/>
          </a:xfrm>
          <a:prstGeom prst="rect">
            <a:avLst/>
          </a:prstGeom>
          <a:noFill/>
          <a:ln/>
        </p:spPr>
        <p:txBody>
          <a:bodyPr wrap="square" lIns="0" tIns="0" rIns="0" bIns="0" rtlCol="0" anchor="ctr"/>
          <a:lstStyle/>
          <a:p>
            <a:pPr indent="0" marL="0">
              <a:buNone/>
            </a:pPr>
            <a:r>
              <a:rPr lang="en-US" sz="1350" dirty="0">
                <a:solidFill>
                  <a:srgbClr val="5A6472"/>
                </a:solidFill>
                <a:latin typeface="Calibri" pitchFamily="34" charset="0"/>
                <a:ea typeface="Calibri" pitchFamily="34" charset="-122"/>
                <a:cs typeface="Calibri" pitchFamily="34" charset="-120"/>
              </a:rPr>
              <a:t>Show auto-completion</a:t>
            </a:r>
            <a:endParaRPr lang="en-US" sz="1350" dirty="0"/>
          </a:p>
        </p:txBody>
      </p:sp>
      <p:sp>
        <p:nvSpPr>
          <p:cNvPr id="13" name="Shape 11"/>
          <p:cNvSpPr/>
          <p:nvPr/>
        </p:nvSpPr>
        <p:spPr>
          <a:xfrm>
            <a:off x="6217920" y="3017520"/>
            <a:ext cx="1965960" cy="566928"/>
          </a:xfrm>
          <a:prstGeom prst="roundRect">
            <a:avLst>
              <a:gd name="adj" fmla="val 12903"/>
            </a:avLst>
          </a:prstGeom>
          <a:solidFill>
            <a:srgbClr val="1B1D22"/>
          </a:solidFill>
          <a:ln w="12700">
            <a:solidFill>
              <a:srgbClr val="1B1D22"/>
            </a:solidFill>
            <a:prstDash val="solid"/>
          </a:ln>
        </p:spPr>
      </p:sp>
      <p:sp>
        <p:nvSpPr>
          <p:cNvPr id="14" name="Text 12"/>
          <p:cNvSpPr/>
          <p:nvPr/>
        </p:nvSpPr>
        <p:spPr>
          <a:xfrm>
            <a:off x="6217920" y="3017520"/>
            <a:ext cx="1965960" cy="566928"/>
          </a:xfrm>
          <a:prstGeom prst="rect">
            <a:avLst/>
          </a:prstGeom>
          <a:noFill/>
          <a:ln/>
        </p:spPr>
        <p:txBody>
          <a:bodyPr wrap="square" lIns="0" tIns="0" rIns="0" bIns="0" rtlCol="0" anchor="ctr"/>
          <a:lstStyle/>
          <a:p>
            <a:pPr algn="ctr" indent="0" marL="0">
              <a:buNone/>
            </a:pPr>
            <a:r>
              <a:rPr lang="en-US" sz="1400" b="1" dirty="0">
                <a:solidFill>
                  <a:srgbClr val="4FD6E6"/>
                </a:solidFill>
                <a:latin typeface="Courier New" pitchFamily="34" charset="0"/>
                <a:ea typeface="Courier New" pitchFamily="34" charset="-122"/>
                <a:cs typeface="Courier New" pitchFamily="34" charset="-120"/>
              </a:rPr>
              <a:t>Ctrl + N</a:t>
            </a:r>
            <a:endParaRPr lang="en-US" sz="1400" dirty="0"/>
          </a:p>
        </p:txBody>
      </p:sp>
      <p:sp>
        <p:nvSpPr>
          <p:cNvPr id="15" name="Text 13"/>
          <p:cNvSpPr/>
          <p:nvPr/>
        </p:nvSpPr>
        <p:spPr>
          <a:xfrm>
            <a:off x="8412480" y="3017520"/>
            <a:ext cx="3200400" cy="566928"/>
          </a:xfrm>
          <a:prstGeom prst="rect">
            <a:avLst/>
          </a:prstGeom>
          <a:noFill/>
          <a:ln/>
        </p:spPr>
        <p:txBody>
          <a:bodyPr wrap="square" lIns="0" tIns="0" rIns="0" bIns="0" rtlCol="0" anchor="ctr"/>
          <a:lstStyle/>
          <a:p>
            <a:pPr indent="0" marL="0">
              <a:buNone/>
            </a:pPr>
            <a:r>
              <a:rPr lang="en-US" sz="1350" dirty="0">
                <a:solidFill>
                  <a:srgbClr val="5A6472"/>
                </a:solidFill>
                <a:latin typeface="Calibri" pitchFamily="34" charset="0"/>
                <a:ea typeface="Calibri" pitchFamily="34" charset="-122"/>
                <a:cs typeface="Calibri" pitchFamily="34" charset="-120"/>
              </a:rPr>
              <a:t>New query tab</a:t>
            </a:r>
            <a:endParaRPr lang="en-US" sz="1350" dirty="0"/>
          </a:p>
        </p:txBody>
      </p:sp>
      <p:sp>
        <p:nvSpPr>
          <p:cNvPr id="16" name="Shape 14"/>
          <p:cNvSpPr/>
          <p:nvPr/>
        </p:nvSpPr>
        <p:spPr>
          <a:xfrm>
            <a:off x="548640" y="4251960"/>
            <a:ext cx="1965960" cy="566928"/>
          </a:xfrm>
          <a:prstGeom prst="roundRect">
            <a:avLst>
              <a:gd name="adj" fmla="val 12903"/>
            </a:avLst>
          </a:prstGeom>
          <a:solidFill>
            <a:srgbClr val="1B1D22"/>
          </a:solidFill>
          <a:ln w="12700">
            <a:solidFill>
              <a:srgbClr val="1B1D22"/>
            </a:solidFill>
            <a:prstDash val="solid"/>
          </a:ln>
        </p:spPr>
      </p:sp>
      <p:sp>
        <p:nvSpPr>
          <p:cNvPr id="17" name="Text 15"/>
          <p:cNvSpPr/>
          <p:nvPr/>
        </p:nvSpPr>
        <p:spPr>
          <a:xfrm>
            <a:off x="548640" y="4251960"/>
            <a:ext cx="1965960" cy="566928"/>
          </a:xfrm>
          <a:prstGeom prst="rect">
            <a:avLst/>
          </a:prstGeom>
          <a:noFill/>
          <a:ln/>
        </p:spPr>
        <p:txBody>
          <a:bodyPr wrap="square" lIns="0" tIns="0" rIns="0" bIns="0" rtlCol="0" anchor="ctr"/>
          <a:lstStyle/>
          <a:p>
            <a:pPr algn="ctr" indent="0" marL="0">
              <a:buNone/>
            </a:pPr>
            <a:r>
              <a:rPr lang="en-US" sz="1400" b="1" dirty="0">
                <a:solidFill>
                  <a:srgbClr val="4FD6E6"/>
                </a:solidFill>
                <a:latin typeface="Courier New" pitchFamily="34" charset="0"/>
                <a:ea typeface="Courier New" pitchFamily="34" charset="-122"/>
                <a:cs typeface="Courier New" pitchFamily="34" charset="-120"/>
              </a:rPr>
              <a:t>Ctrl + W</a:t>
            </a:r>
            <a:endParaRPr lang="en-US" sz="1400" dirty="0"/>
          </a:p>
        </p:txBody>
      </p:sp>
      <p:sp>
        <p:nvSpPr>
          <p:cNvPr id="18" name="Text 16"/>
          <p:cNvSpPr/>
          <p:nvPr/>
        </p:nvSpPr>
        <p:spPr>
          <a:xfrm>
            <a:off x="2743200" y="4251960"/>
            <a:ext cx="3200400" cy="566928"/>
          </a:xfrm>
          <a:prstGeom prst="rect">
            <a:avLst/>
          </a:prstGeom>
          <a:noFill/>
          <a:ln/>
        </p:spPr>
        <p:txBody>
          <a:bodyPr wrap="square" lIns="0" tIns="0" rIns="0" bIns="0" rtlCol="0" anchor="ctr"/>
          <a:lstStyle/>
          <a:p>
            <a:pPr indent="0" marL="0">
              <a:buNone/>
            </a:pPr>
            <a:r>
              <a:rPr lang="en-US" sz="1350" dirty="0">
                <a:solidFill>
                  <a:srgbClr val="5A6472"/>
                </a:solidFill>
                <a:latin typeface="Calibri" pitchFamily="34" charset="0"/>
                <a:ea typeface="Calibri" pitchFamily="34" charset="-122"/>
                <a:cs typeface="Calibri" pitchFamily="34" charset="-120"/>
              </a:rPr>
              <a:t>Close the current tab</a:t>
            </a:r>
            <a:endParaRPr lang="en-US" sz="1350" dirty="0"/>
          </a:p>
        </p:txBody>
      </p:sp>
      <p:sp>
        <p:nvSpPr>
          <p:cNvPr id="19" name="Shape 17"/>
          <p:cNvSpPr/>
          <p:nvPr/>
        </p:nvSpPr>
        <p:spPr>
          <a:xfrm>
            <a:off x="6217920" y="4251960"/>
            <a:ext cx="1965960" cy="566928"/>
          </a:xfrm>
          <a:prstGeom prst="roundRect">
            <a:avLst>
              <a:gd name="adj" fmla="val 12903"/>
            </a:avLst>
          </a:prstGeom>
          <a:solidFill>
            <a:srgbClr val="1B1D22"/>
          </a:solidFill>
          <a:ln w="12700">
            <a:solidFill>
              <a:srgbClr val="1B1D22"/>
            </a:solidFill>
            <a:prstDash val="solid"/>
          </a:ln>
        </p:spPr>
      </p:sp>
      <p:sp>
        <p:nvSpPr>
          <p:cNvPr id="20" name="Text 18"/>
          <p:cNvSpPr/>
          <p:nvPr/>
        </p:nvSpPr>
        <p:spPr>
          <a:xfrm>
            <a:off x="6217920" y="4251960"/>
            <a:ext cx="1965960" cy="566928"/>
          </a:xfrm>
          <a:prstGeom prst="rect">
            <a:avLst/>
          </a:prstGeom>
          <a:noFill/>
          <a:ln/>
        </p:spPr>
        <p:txBody>
          <a:bodyPr wrap="square" lIns="0" tIns="0" rIns="0" bIns="0" rtlCol="0" anchor="ctr"/>
          <a:lstStyle/>
          <a:p>
            <a:pPr algn="ctr" indent="0" marL="0">
              <a:buNone/>
            </a:pPr>
            <a:r>
              <a:rPr lang="en-US" sz="1400" b="1" dirty="0">
                <a:solidFill>
                  <a:srgbClr val="4FD6E6"/>
                </a:solidFill>
                <a:latin typeface="Courier New" pitchFamily="34" charset="0"/>
                <a:ea typeface="Courier New" pitchFamily="34" charset="-122"/>
                <a:cs typeface="Courier New" pitchFamily="34" charset="-120"/>
              </a:rPr>
              <a:t>Double-click</a:t>
            </a:r>
            <a:endParaRPr lang="en-US" sz="1400" dirty="0"/>
          </a:p>
        </p:txBody>
      </p:sp>
      <p:sp>
        <p:nvSpPr>
          <p:cNvPr id="21" name="Text 19"/>
          <p:cNvSpPr/>
          <p:nvPr/>
        </p:nvSpPr>
        <p:spPr>
          <a:xfrm>
            <a:off x="8412480" y="4251960"/>
            <a:ext cx="3200400" cy="566928"/>
          </a:xfrm>
          <a:prstGeom prst="rect">
            <a:avLst/>
          </a:prstGeom>
          <a:noFill/>
          <a:ln/>
        </p:spPr>
        <p:txBody>
          <a:bodyPr wrap="square" lIns="0" tIns="0" rIns="0" bIns="0" rtlCol="0" anchor="ctr"/>
          <a:lstStyle/>
          <a:p>
            <a:pPr indent="0" marL="0">
              <a:buNone/>
            </a:pPr>
            <a:r>
              <a:rPr lang="en-US" sz="1350" dirty="0">
                <a:solidFill>
                  <a:srgbClr val="5A6472"/>
                </a:solidFill>
                <a:latin typeface="Calibri" pitchFamily="34" charset="0"/>
                <a:ea typeface="Calibri" pitchFamily="34" charset="-122"/>
                <a:cs typeface="Calibri" pitchFamily="34" charset="-120"/>
              </a:rPr>
              <a:t>Open table details from the explorer</a:t>
            </a:r>
            <a:endParaRPr lang="en-US" sz="13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B1D22"/>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48640" y="1371600"/>
            <a:ext cx="1371600" cy="1371600"/>
          </a:xfrm>
          <a:prstGeom prst="rect">
            <a:avLst/>
          </a:prstGeom>
        </p:spPr>
      </p:pic>
      <p:sp>
        <p:nvSpPr>
          <p:cNvPr id="3" name="Text 0"/>
          <p:cNvSpPr/>
          <p:nvPr/>
        </p:nvSpPr>
        <p:spPr>
          <a:xfrm>
            <a:off x="548640" y="2971800"/>
            <a:ext cx="8229600" cy="731520"/>
          </a:xfrm>
          <a:prstGeom prst="rect">
            <a:avLst/>
          </a:prstGeom>
          <a:noFill/>
          <a:ln/>
        </p:spPr>
        <p:txBody>
          <a:bodyPr wrap="square" lIns="0" tIns="0" rIns="0" bIns="0" rtlCol="0" anchor="ctr"/>
          <a:lstStyle/>
          <a:p>
            <a:pPr indent="0" marL="0">
              <a:buNone/>
            </a:pPr>
            <a:r>
              <a:rPr lang="en-US" sz="4400" b="1" dirty="0">
                <a:solidFill>
                  <a:srgbClr val="FFFFFF"/>
                </a:solidFill>
                <a:latin typeface="Calibri" pitchFamily="34" charset="0"/>
                <a:ea typeface="Calibri" pitchFamily="34" charset="-122"/>
                <a:cs typeface="Calibri" pitchFamily="34" charset="-120"/>
              </a:rPr>
              <a:t>Get started</a:t>
            </a:r>
            <a:endParaRPr lang="en-US" sz="4400" dirty="0"/>
          </a:p>
        </p:txBody>
      </p:sp>
      <p:sp>
        <p:nvSpPr>
          <p:cNvPr id="4" name="Text 1"/>
          <p:cNvSpPr/>
          <p:nvPr/>
        </p:nvSpPr>
        <p:spPr>
          <a:xfrm>
            <a:off x="548640" y="3749040"/>
            <a:ext cx="8229600" cy="411480"/>
          </a:xfrm>
          <a:prstGeom prst="rect">
            <a:avLst/>
          </a:prstGeom>
          <a:noFill/>
          <a:ln/>
        </p:spPr>
        <p:txBody>
          <a:bodyPr wrap="square" lIns="0" tIns="0" rIns="0" bIns="0" rtlCol="0" anchor="ctr"/>
          <a:lstStyle/>
          <a:p>
            <a:pPr indent="0" marL="0">
              <a:buNone/>
            </a:pPr>
            <a:r>
              <a:rPr lang="en-US" sz="1800" dirty="0">
                <a:solidFill>
                  <a:srgbClr val="4FD6E6"/>
                </a:solidFill>
                <a:latin typeface="Calibri" pitchFamily="34" charset="0"/>
                <a:ea typeface="Calibri" pitchFamily="34" charset="-122"/>
                <a:cs typeface="Calibri" pitchFamily="34" charset="-120"/>
              </a:rPr>
              <a:t>Copy Qplus.exe, add a connection, and press F5.</a:t>
            </a:r>
            <a:endParaRPr lang="en-US" sz="1800" dirty="0"/>
          </a:p>
        </p:txBody>
      </p:sp>
      <p:sp>
        <p:nvSpPr>
          <p:cNvPr id="5" name="Text 2"/>
          <p:cNvSpPr/>
          <p:nvPr/>
        </p:nvSpPr>
        <p:spPr>
          <a:xfrm>
            <a:off x="548640" y="4480560"/>
            <a:ext cx="8229600" cy="822960"/>
          </a:xfrm>
          <a:prstGeom prst="rect">
            <a:avLst/>
          </a:prstGeom>
          <a:noFill/>
          <a:ln/>
        </p:spPr>
        <p:txBody>
          <a:bodyPr wrap="square" lIns="0" tIns="0" rIns="0" bIns="0" rtlCol="0" anchor="ctr"/>
          <a:lstStyle/>
          <a:p>
            <a:pPr indent="0" marL="0">
              <a:lnSpc>
                <a:spcPct val="130000"/>
              </a:lnSpc>
              <a:buNone/>
            </a:pPr>
            <a:r>
              <a:rPr lang="en-US" sz="1300" dirty="0">
                <a:solidFill>
                  <a:srgbClr val="9AA3AE"/>
                </a:solidFill>
                <a:latin typeface="Calibri" pitchFamily="34" charset="0"/>
                <a:ea typeface="Calibri" pitchFamily="34" charset="-122"/>
                <a:cs typeface="Calibri" pitchFamily="34" charset="-120"/>
              </a:rPr>
              <a:t>Full documentation:</a:t>
            </a:r>
            <a:endParaRPr lang="en-US" sz="1300" dirty="0"/>
          </a:p>
          <a:p>
            <a:pPr indent="0" marL="0">
              <a:lnSpc>
                <a:spcPct val="130000"/>
              </a:lnSpc>
              <a:buNone/>
            </a:pPr>
            <a:r>
              <a:rPr lang="en-US" sz="1300" dirty="0">
                <a:solidFill>
                  <a:srgbClr val="D6DCE4"/>
                </a:solidFill>
                <a:latin typeface="Calibri" pitchFamily="34" charset="0"/>
                <a:ea typeface="Calibri" pitchFamily="34" charset="-122"/>
                <a:cs typeface="Calibri" pitchFamily="34" charset="-120"/>
              </a:rPr>
              <a:t>Qplus User Guide  ·  Qplus Technical Documentation</a:t>
            </a:r>
            <a:endParaRPr lang="en-US" sz="1300" dirty="0"/>
          </a:p>
        </p:txBody>
      </p:sp>
      <p:sp>
        <p:nvSpPr>
          <p:cNvPr id="6" name="Text 3"/>
          <p:cNvSpPr/>
          <p:nvPr/>
        </p:nvSpPr>
        <p:spPr>
          <a:xfrm>
            <a:off x="548640" y="5943600"/>
            <a:ext cx="5486400" cy="320040"/>
          </a:xfrm>
          <a:prstGeom prst="rect">
            <a:avLst/>
          </a:prstGeom>
          <a:noFill/>
          <a:ln/>
        </p:spPr>
        <p:txBody>
          <a:bodyPr wrap="square" lIns="0" tIns="0" rIns="0" bIns="0" rtlCol="0" anchor="ctr"/>
          <a:lstStyle/>
          <a:p>
            <a:pPr indent="0" marL="0">
              <a:buNone/>
            </a:pPr>
            <a:r>
              <a:rPr lang="en-US" sz="1200" dirty="0">
                <a:solidFill>
                  <a:srgbClr val="9AA3AE"/>
                </a:solidFill>
                <a:latin typeface="Calibri" pitchFamily="34" charset="0"/>
                <a:ea typeface="Calibri" pitchFamily="34" charset="-122"/>
                <a:cs typeface="Calibri" pitchFamily="34" charset="-120"/>
              </a:rPr>
              <a:t>Version 0.3.0</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Qplus Feature Overview</dc:title>
  <dc:subject>PptxGenJS Presentation</dc:subject>
  <dc:creator>Qplus</dc:creator>
  <cp:lastModifiedBy>Qplus</cp:lastModifiedBy>
  <cp:revision>1</cp:revision>
  <dcterms:created xsi:type="dcterms:W3CDTF">2026-07-22T00:58:40Z</dcterms:created>
  <dcterms:modified xsi:type="dcterms:W3CDTF">2026-07-22T00:58:40Z</dcterms:modified>
</cp:coreProperties>
</file>