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is a Windows desktop client that combines the everyday functions of SQL Server Management Studio and Oracle SQL Developer into one lightweight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feature set on one slide. The rest of the deck walks through each area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portability: one executable that talks to both engines natively, with nothing to install on the target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Portable by design. The only thing left behind on a machine is the small SQLite catalog in the user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encryption is tied to the Windows account, passwords must be re-entered if the catalog is moved to another machine 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Highlighting colours adapt to the active theme so keywords stay readable in both dark and light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list is fetched once per connection in the background, so the first suggestion may take a moment after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batch that only prints progress messages will show them in the Messages pane rather than producing an empty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Double-click any table or view in the Object Explorer to open this. Refresh all re-reads every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restriction is deliberate: without a key, an UPDATE generated from the grid could match more rows than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never alters schema or user accounts silently — every change is a script you can read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themes are fully styled, including menus, toolbars, grids and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is a single round trip. Downloads are driven by a server-assigned revision counter so no change can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by design: the server never receives key material, so it cannot decrypt even in principle. Tested by scanning the server database for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and Ctrl+F5 mirror SQL Server Management Studio, so the muscle memory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last two rows. Qplus has no execution plans and no DBA or BI tooling, and neither is planned. It wins on reach, portability and the shared encrypted library; it does not try to replace the deep engine-specific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this question, so answer it before it is asked: nobody is uninstalling SSMS or SQL Developer. Qplus is the tool you keep open all day; those are the ones you open for a specific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people at the User Guide for day-to-day use and the Technical Documentation for architecture and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965960"/>
            <a:ext cx="1737360" cy="1737360"/>
          </a:xfrm>
          <a:prstGeom prst="rect">
            <a:avLst/>
          </a:prstGeom>
        </p:spPr>
      </p:pic>
      <p:sp>
        <p:nvSpPr>
          <p:cNvPr id="3" name="Text 0"/>
          <p:cNvSpPr/>
          <p:nvPr/>
        </p:nvSpPr>
        <p:spPr>
          <a:xfrm>
            <a:off x="2651760" y="2011680"/>
            <a:ext cx="8229600" cy="100584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Qplus</a:t>
            </a:r>
            <a:endParaRPr lang="en-US" sz="6600" dirty="0"/>
          </a:p>
        </p:txBody>
      </p:sp>
      <p:sp>
        <p:nvSpPr>
          <p:cNvPr id="4" name="Text 1"/>
          <p:cNvSpPr/>
          <p:nvPr/>
        </p:nvSpPr>
        <p:spPr>
          <a:xfrm>
            <a:off x="2697480" y="3035808"/>
            <a:ext cx="8686800" cy="457200"/>
          </a:xfrm>
          <a:prstGeom prst="rect">
            <a:avLst/>
          </a:prstGeom>
          <a:noFill/>
          <a:ln/>
        </p:spPr>
        <p:txBody>
          <a:bodyPr wrap="square" lIns="0" tIns="0" rIns="0" bIns="0" rtlCol="0" anchor="ctr"/>
          <a:lstStyle/>
          <a:p>
            <a:pPr indent="0" marL="0">
              <a:buNone/>
            </a:pPr>
            <a:r>
              <a:rPr lang="en-US" sz="2100" dirty="0">
                <a:solidFill>
                  <a:srgbClr val="4FD6E6"/>
                </a:solidFill>
                <a:latin typeface="Calibri" pitchFamily="34" charset="0"/>
                <a:ea typeface="Calibri" pitchFamily="34" charset="-122"/>
                <a:cs typeface="Calibri" pitchFamily="34" charset="-120"/>
              </a:rPr>
              <a:t>One client for SQL Server and Oracle</a:t>
            </a:r>
            <a:endParaRPr lang="en-US" sz="2100" dirty="0"/>
          </a:p>
        </p:txBody>
      </p:sp>
      <p:sp>
        <p:nvSpPr>
          <p:cNvPr id="5" name="Text 2"/>
          <p:cNvSpPr/>
          <p:nvPr/>
        </p:nvSpPr>
        <p:spPr>
          <a:xfrm>
            <a:off x="2697480" y="3584448"/>
            <a:ext cx="8412480" cy="457200"/>
          </a:xfrm>
          <a:prstGeom prst="rect">
            <a:avLst/>
          </a:prstGeom>
          <a:noFill/>
          <a:ln/>
        </p:spPr>
        <p:txBody>
          <a:bodyPr wrap="square" lIns="0" tIns="0" rIns="0" bIns="0" rtlCol="0" anchor="ctr"/>
          <a:lstStyle/>
          <a:p>
            <a:pPr indent="0" marL="0">
              <a:buNone/>
            </a:pPr>
            <a:r>
              <a:rPr lang="en-US" sz="1350" dirty="0">
                <a:solidFill>
                  <a:srgbClr val="9AA3AE"/>
                </a:solidFill>
                <a:latin typeface="Calibri" pitchFamily="34" charset="0"/>
                <a:ea typeface="Calibri" pitchFamily="34" charset="-122"/>
                <a:cs typeface="Calibri" pitchFamily="34" charset="-120"/>
              </a:rPr>
              <a:t>Browse, query, edit and administer both databases from a single portable application.</a:t>
            </a:r>
            <a:endParaRPr lang="en-US" sz="1350" dirty="0"/>
          </a:p>
        </p:txBody>
      </p:sp>
      <p:sp>
        <p:nvSpPr>
          <p:cNvPr id="6" name="Text 3"/>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0.4.0  ·  Feature Overview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OVERVIEW</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Everything Qplus does</a:t>
            </a:r>
            <a:endParaRPr lang="en-US" sz="3400" dirty="0"/>
          </a:p>
        </p:txBody>
      </p:sp>
      <p:sp>
        <p:nvSpPr>
          <p:cNvPr id="4" name="Shape 2"/>
          <p:cNvSpPr/>
          <p:nvPr/>
        </p:nvSpPr>
        <p:spPr>
          <a:xfrm>
            <a:off x="548640" y="1572768"/>
            <a:ext cx="2560320" cy="1371600"/>
          </a:xfrm>
          <a:prstGeom prst="roundRect">
            <a:avLst>
              <a:gd name="adj" fmla="val 4000"/>
            </a:avLst>
          </a:prstGeom>
          <a:solidFill>
            <a:srgbClr val="F4F6F8"/>
          </a:solidFill>
          <a:ln w="9525">
            <a:solidFill>
              <a:srgbClr val="DCE2EA"/>
            </a:solidFill>
            <a:prstDash val="solid"/>
          </a:ln>
        </p:spPr>
      </p:sp>
      <p:sp>
        <p:nvSpPr>
          <p:cNvPr id="5" name="Shape 3"/>
          <p:cNvSpPr/>
          <p:nvPr/>
        </p:nvSpPr>
        <p:spPr>
          <a:xfrm>
            <a:off x="749808" y="1773936"/>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Connections</a:t>
            </a:r>
            <a:endParaRPr lang="en-US" sz="1300" dirty="0"/>
          </a:p>
        </p:txBody>
      </p:sp>
      <p:sp>
        <p:nvSpPr>
          <p:cNvPr id="7" name="Text 5"/>
          <p:cNvSpPr/>
          <p:nvPr/>
        </p:nvSpPr>
        <p:spPr>
          <a:xfrm>
            <a:off x="74980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Save, test and manage SQL Server and Oracle connections. Passwords encrypted.</a:t>
            </a:r>
            <a:endParaRPr lang="en-US" sz="1050" dirty="0"/>
          </a:p>
        </p:txBody>
      </p:sp>
      <p:sp>
        <p:nvSpPr>
          <p:cNvPr id="8" name="Shape 6"/>
          <p:cNvSpPr/>
          <p:nvPr/>
        </p:nvSpPr>
        <p:spPr>
          <a:xfrm>
            <a:off x="3383280" y="1572768"/>
            <a:ext cx="2560320" cy="1371600"/>
          </a:xfrm>
          <a:prstGeom prst="roundRect">
            <a:avLst>
              <a:gd name="adj" fmla="val 4000"/>
            </a:avLst>
          </a:prstGeom>
          <a:solidFill>
            <a:srgbClr val="F4F6F8"/>
          </a:solidFill>
          <a:ln w="9525">
            <a:solidFill>
              <a:srgbClr val="DCE2EA"/>
            </a:solidFill>
            <a:prstDash val="solid"/>
          </a:ln>
        </p:spPr>
      </p:sp>
      <p:sp>
        <p:nvSpPr>
          <p:cNvPr id="9" name="Shape 7"/>
          <p:cNvSpPr/>
          <p:nvPr/>
        </p:nvSpPr>
        <p:spPr>
          <a:xfrm>
            <a:off x="3584448" y="1773936"/>
            <a:ext cx="155448" cy="155448"/>
          </a:xfrm>
          <a:prstGeom prst="roundRect">
            <a:avLst>
              <a:gd name="adj" fmla="val 23529"/>
            </a:avLst>
          </a:prstGeom>
          <a:solidFill>
            <a:srgbClr val="2D8CFF"/>
          </a:solidFill>
          <a:ln w="12700">
            <a:solidFill>
              <a:srgbClr val="2D8CFF"/>
            </a:solidFill>
            <a:prstDash val="solid"/>
          </a:ln>
        </p:spPr>
      </p:sp>
      <p:sp>
        <p:nvSpPr>
          <p:cNvPr id="10" name="Text 8"/>
          <p:cNvSpPr/>
          <p:nvPr/>
        </p:nvSpPr>
        <p:spPr>
          <a:xfrm>
            <a:off x="384048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Object Explorer</a:t>
            </a:r>
            <a:endParaRPr lang="en-US" sz="1300" dirty="0"/>
          </a:p>
        </p:txBody>
      </p:sp>
      <p:sp>
        <p:nvSpPr>
          <p:cNvPr id="11" name="Text 9"/>
          <p:cNvSpPr/>
          <p:nvPr/>
        </p:nvSpPr>
        <p:spPr>
          <a:xfrm>
            <a:off x="358444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Browse schemas, tables, views and columns in a lazy-loading tree.</a:t>
            </a:r>
            <a:endParaRPr lang="en-US" sz="1050" dirty="0"/>
          </a:p>
        </p:txBody>
      </p:sp>
      <p:sp>
        <p:nvSpPr>
          <p:cNvPr id="12" name="Shape 10"/>
          <p:cNvSpPr/>
          <p:nvPr/>
        </p:nvSpPr>
        <p:spPr>
          <a:xfrm>
            <a:off x="6217920" y="1572768"/>
            <a:ext cx="2560320" cy="1371600"/>
          </a:xfrm>
          <a:prstGeom prst="roundRect">
            <a:avLst>
              <a:gd name="adj" fmla="val 4000"/>
            </a:avLst>
          </a:prstGeom>
          <a:solidFill>
            <a:srgbClr val="F4F6F8"/>
          </a:solidFill>
          <a:ln w="9525">
            <a:solidFill>
              <a:srgbClr val="DCE2EA"/>
            </a:solidFill>
            <a:prstDash val="solid"/>
          </a:ln>
        </p:spPr>
      </p:sp>
      <p:sp>
        <p:nvSpPr>
          <p:cNvPr id="13" name="Shape 11"/>
          <p:cNvSpPr/>
          <p:nvPr/>
        </p:nvSpPr>
        <p:spPr>
          <a:xfrm>
            <a:off x="6419088" y="1773936"/>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667512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editor</a:t>
            </a:r>
            <a:endParaRPr lang="en-US" sz="1300" dirty="0"/>
          </a:p>
        </p:txBody>
      </p:sp>
      <p:sp>
        <p:nvSpPr>
          <p:cNvPr id="15" name="Text 13"/>
          <p:cNvSpPr/>
          <p:nvPr/>
        </p:nvSpPr>
        <p:spPr>
          <a:xfrm>
            <a:off x="641908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Multiple tabs, syntax highlighting, a separate connection per tab.</a:t>
            </a:r>
            <a:endParaRPr lang="en-US" sz="1050" dirty="0"/>
          </a:p>
        </p:txBody>
      </p:sp>
      <p:sp>
        <p:nvSpPr>
          <p:cNvPr id="16" name="Shape 14"/>
          <p:cNvSpPr/>
          <p:nvPr/>
        </p:nvSpPr>
        <p:spPr>
          <a:xfrm>
            <a:off x="9052560" y="1572768"/>
            <a:ext cx="2560320" cy="1371600"/>
          </a:xfrm>
          <a:prstGeom prst="roundRect">
            <a:avLst>
              <a:gd name="adj" fmla="val 4000"/>
            </a:avLst>
          </a:prstGeom>
          <a:solidFill>
            <a:srgbClr val="F4F6F8"/>
          </a:solidFill>
          <a:ln w="9525">
            <a:solidFill>
              <a:srgbClr val="DCE2EA"/>
            </a:solidFill>
            <a:prstDash val="solid"/>
          </a:ln>
        </p:spPr>
      </p:sp>
      <p:sp>
        <p:nvSpPr>
          <p:cNvPr id="17" name="Shape 15"/>
          <p:cNvSpPr/>
          <p:nvPr/>
        </p:nvSpPr>
        <p:spPr>
          <a:xfrm>
            <a:off x="9253728" y="1773936"/>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950976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Auto-completion</a:t>
            </a:r>
            <a:endParaRPr lang="en-US" sz="1300" dirty="0"/>
          </a:p>
        </p:txBody>
      </p:sp>
      <p:sp>
        <p:nvSpPr>
          <p:cNvPr id="19" name="Text 17"/>
          <p:cNvSpPr/>
          <p:nvPr/>
        </p:nvSpPr>
        <p:spPr>
          <a:xfrm>
            <a:off x="925372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Table names after FROM; column names after WHERE, scoped to your query.</a:t>
            </a:r>
            <a:endParaRPr lang="en-US" sz="1050" dirty="0"/>
          </a:p>
        </p:txBody>
      </p:sp>
      <p:sp>
        <p:nvSpPr>
          <p:cNvPr id="20" name="Shape 18"/>
          <p:cNvSpPr/>
          <p:nvPr/>
        </p:nvSpPr>
        <p:spPr>
          <a:xfrm>
            <a:off x="548640" y="3200400"/>
            <a:ext cx="2560320" cy="1371600"/>
          </a:xfrm>
          <a:prstGeom prst="roundRect">
            <a:avLst>
              <a:gd name="adj" fmla="val 4000"/>
            </a:avLst>
          </a:prstGeom>
          <a:solidFill>
            <a:srgbClr val="F4F6F8"/>
          </a:solidFill>
          <a:ln w="9525">
            <a:solidFill>
              <a:srgbClr val="DCE2EA"/>
            </a:solidFill>
            <a:prstDash val="solid"/>
          </a:ln>
        </p:spPr>
      </p:sp>
      <p:sp>
        <p:nvSpPr>
          <p:cNvPr id="21" name="Shape 19"/>
          <p:cNvSpPr/>
          <p:nvPr/>
        </p:nvSpPr>
        <p:spPr>
          <a:xfrm>
            <a:off x="749808" y="3401568"/>
            <a:ext cx="155448" cy="155448"/>
          </a:xfrm>
          <a:prstGeom prst="roundRect">
            <a:avLst>
              <a:gd name="adj" fmla="val 23529"/>
            </a:avLst>
          </a:prstGeom>
          <a:solidFill>
            <a:srgbClr val="4FD6E6"/>
          </a:solidFill>
          <a:ln w="12700">
            <a:solidFill>
              <a:srgbClr val="4FD6E6"/>
            </a:solidFill>
            <a:prstDash val="solid"/>
          </a:ln>
        </p:spPr>
      </p:sp>
      <p:sp>
        <p:nvSpPr>
          <p:cNvPr id="22" name="Text 20"/>
          <p:cNvSpPr/>
          <p:nvPr/>
        </p:nvSpPr>
        <p:spPr>
          <a:xfrm>
            <a:off x="100584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Results</a:t>
            </a:r>
            <a:endParaRPr lang="en-US" sz="1300" dirty="0"/>
          </a:p>
        </p:txBody>
      </p:sp>
      <p:sp>
        <p:nvSpPr>
          <p:cNvPr id="23" name="Text 21"/>
          <p:cNvSpPr/>
          <p:nvPr/>
        </p:nvSpPr>
        <p:spPr>
          <a:xfrm>
            <a:off x="74980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Grid or text output, multiple result sets, and a Messages pane.</a:t>
            </a:r>
            <a:endParaRPr lang="en-US" sz="1050" dirty="0"/>
          </a:p>
        </p:txBody>
      </p:sp>
      <p:sp>
        <p:nvSpPr>
          <p:cNvPr id="24" name="Shape 22"/>
          <p:cNvSpPr/>
          <p:nvPr/>
        </p:nvSpPr>
        <p:spPr>
          <a:xfrm>
            <a:off x="3383280" y="3200400"/>
            <a:ext cx="2560320" cy="1371600"/>
          </a:xfrm>
          <a:prstGeom prst="roundRect">
            <a:avLst>
              <a:gd name="adj" fmla="val 4000"/>
            </a:avLst>
          </a:prstGeom>
          <a:solidFill>
            <a:srgbClr val="F4F6F8"/>
          </a:solidFill>
          <a:ln w="9525">
            <a:solidFill>
              <a:srgbClr val="DCE2EA"/>
            </a:solidFill>
            <a:prstDash val="solid"/>
          </a:ln>
        </p:spPr>
      </p:sp>
      <p:sp>
        <p:nvSpPr>
          <p:cNvPr id="25" name="Shape 23"/>
          <p:cNvSpPr/>
          <p:nvPr/>
        </p:nvSpPr>
        <p:spPr>
          <a:xfrm>
            <a:off x="3584448" y="340156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384048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CSV export</a:t>
            </a:r>
            <a:endParaRPr lang="en-US" sz="1300" dirty="0"/>
          </a:p>
        </p:txBody>
      </p:sp>
      <p:sp>
        <p:nvSpPr>
          <p:cNvPr id="27" name="Text 25"/>
          <p:cNvSpPr/>
          <p:nvPr/>
        </p:nvSpPr>
        <p:spPr>
          <a:xfrm>
            <a:off x="358444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Send any result grid straight to a correctly quoted CSV file.</a:t>
            </a:r>
            <a:endParaRPr lang="en-US" sz="1050" dirty="0"/>
          </a:p>
        </p:txBody>
      </p:sp>
      <p:sp>
        <p:nvSpPr>
          <p:cNvPr id="28" name="Shape 26"/>
          <p:cNvSpPr/>
          <p:nvPr/>
        </p:nvSpPr>
        <p:spPr>
          <a:xfrm>
            <a:off x="6217920" y="3200400"/>
            <a:ext cx="2560320" cy="1371600"/>
          </a:xfrm>
          <a:prstGeom prst="roundRect">
            <a:avLst>
              <a:gd name="adj" fmla="val 4000"/>
            </a:avLst>
          </a:prstGeom>
          <a:solidFill>
            <a:srgbClr val="F4F6F8"/>
          </a:solidFill>
          <a:ln w="9525">
            <a:solidFill>
              <a:srgbClr val="DCE2EA"/>
            </a:solidFill>
            <a:prstDash val="solid"/>
          </a:ln>
        </p:spPr>
      </p:sp>
      <p:sp>
        <p:nvSpPr>
          <p:cNvPr id="29" name="Shape 27"/>
          <p:cNvSpPr/>
          <p:nvPr/>
        </p:nvSpPr>
        <p:spPr>
          <a:xfrm>
            <a:off x="6419088" y="340156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667512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details</a:t>
            </a:r>
            <a:endParaRPr lang="en-US" sz="1300" dirty="0"/>
          </a:p>
        </p:txBody>
      </p:sp>
      <p:sp>
        <p:nvSpPr>
          <p:cNvPr id="31" name="Text 29"/>
          <p:cNvSpPr/>
          <p:nvPr/>
        </p:nvSpPr>
        <p:spPr>
          <a:xfrm>
            <a:off x="641908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Columns, Constraints, Indexes, Triggers, Grants, Statistics and DDL.</a:t>
            </a:r>
            <a:endParaRPr lang="en-US" sz="1050" dirty="0"/>
          </a:p>
        </p:txBody>
      </p:sp>
      <p:sp>
        <p:nvSpPr>
          <p:cNvPr id="32" name="Shape 30"/>
          <p:cNvSpPr/>
          <p:nvPr/>
        </p:nvSpPr>
        <p:spPr>
          <a:xfrm>
            <a:off x="9052560" y="3200400"/>
            <a:ext cx="2560320" cy="1371600"/>
          </a:xfrm>
          <a:prstGeom prst="roundRect">
            <a:avLst>
              <a:gd name="adj" fmla="val 4000"/>
            </a:avLst>
          </a:prstGeom>
          <a:solidFill>
            <a:srgbClr val="F4F6F8"/>
          </a:solidFill>
          <a:ln w="9525">
            <a:solidFill>
              <a:srgbClr val="DCE2EA"/>
            </a:solidFill>
            <a:prstDash val="solid"/>
          </a:ln>
        </p:spPr>
      </p:sp>
      <p:sp>
        <p:nvSpPr>
          <p:cNvPr id="33" name="Shape 31"/>
          <p:cNvSpPr/>
          <p:nvPr/>
        </p:nvSpPr>
        <p:spPr>
          <a:xfrm>
            <a:off x="9253728" y="3401568"/>
            <a:ext cx="155448" cy="155448"/>
          </a:xfrm>
          <a:prstGeom prst="roundRect">
            <a:avLst>
              <a:gd name="adj" fmla="val 23529"/>
            </a:avLst>
          </a:prstGeom>
          <a:solidFill>
            <a:srgbClr val="2D8CFF"/>
          </a:solidFill>
          <a:ln w="12700">
            <a:solidFill>
              <a:srgbClr val="2D8CFF"/>
            </a:solidFill>
            <a:prstDash val="solid"/>
          </a:ln>
        </p:spPr>
      </p:sp>
      <p:sp>
        <p:nvSpPr>
          <p:cNvPr id="34" name="Text 32"/>
          <p:cNvSpPr/>
          <p:nvPr/>
        </p:nvSpPr>
        <p:spPr>
          <a:xfrm>
            <a:off x="950976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 editing</a:t>
            </a:r>
            <a:endParaRPr lang="en-US" sz="1300" dirty="0"/>
          </a:p>
        </p:txBody>
      </p:sp>
      <p:sp>
        <p:nvSpPr>
          <p:cNvPr id="35" name="Text 33"/>
          <p:cNvSpPr/>
          <p:nvPr/>
        </p:nvSpPr>
        <p:spPr>
          <a:xfrm>
            <a:off x="925372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 insert and delete rows in the grid, with confirmation before writing.</a:t>
            </a:r>
            <a:endParaRPr lang="en-US" sz="1050" dirty="0"/>
          </a:p>
        </p:txBody>
      </p:sp>
      <p:sp>
        <p:nvSpPr>
          <p:cNvPr id="36" name="Shape 34"/>
          <p:cNvSpPr/>
          <p:nvPr/>
        </p:nvSpPr>
        <p:spPr>
          <a:xfrm>
            <a:off x="548640" y="4828032"/>
            <a:ext cx="2560320" cy="1371600"/>
          </a:xfrm>
          <a:prstGeom prst="roundRect">
            <a:avLst>
              <a:gd name="adj" fmla="val 4000"/>
            </a:avLst>
          </a:prstGeom>
          <a:solidFill>
            <a:srgbClr val="F4F6F8"/>
          </a:solidFill>
          <a:ln w="9525">
            <a:solidFill>
              <a:srgbClr val="DCE2EA"/>
            </a:solidFill>
            <a:prstDash val="solid"/>
          </a:ln>
        </p:spPr>
      </p:sp>
      <p:sp>
        <p:nvSpPr>
          <p:cNvPr id="37" name="Shape 35"/>
          <p:cNvSpPr/>
          <p:nvPr/>
        </p:nvSpPr>
        <p:spPr>
          <a:xfrm>
            <a:off x="749808" y="5029200"/>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100584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Designer &amp; clone</a:t>
            </a:r>
            <a:endParaRPr lang="en-US" sz="1300" dirty="0"/>
          </a:p>
        </p:txBody>
      </p:sp>
      <p:sp>
        <p:nvSpPr>
          <p:cNvPr id="39" name="Text 37"/>
          <p:cNvSpPr/>
          <p:nvPr/>
        </p:nvSpPr>
        <p:spPr>
          <a:xfrm>
            <a:off x="74980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Build CREATE TABLE scripts, or copy a table with its data.</a:t>
            </a:r>
            <a:endParaRPr lang="en-US" sz="1050" dirty="0"/>
          </a:p>
        </p:txBody>
      </p:sp>
      <p:sp>
        <p:nvSpPr>
          <p:cNvPr id="40" name="Shape 38"/>
          <p:cNvSpPr/>
          <p:nvPr/>
        </p:nvSpPr>
        <p:spPr>
          <a:xfrm>
            <a:off x="3383280" y="4828032"/>
            <a:ext cx="2560320" cy="1371600"/>
          </a:xfrm>
          <a:prstGeom prst="roundRect">
            <a:avLst>
              <a:gd name="adj" fmla="val 4000"/>
            </a:avLst>
          </a:prstGeom>
          <a:solidFill>
            <a:srgbClr val="F4F6F8"/>
          </a:solidFill>
          <a:ln w="9525">
            <a:solidFill>
              <a:srgbClr val="DCE2EA"/>
            </a:solidFill>
            <a:prstDash val="solid"/>
          </a:ln>
        </p:spPr>
      </p:sp>
      <p:sp>
        <p:nvSpPr>
          <p:cNvPr id="41" name="Shape 39"/>
          <p:cNvSpPr/>
          <p:nvPr/>
        </p:nvSpPr>
        <p:spPr>
          <a:xfrm>
            <a:off x="3584448" y="5029200"/>
            <a:ext cx="155448" cy="155448"/>
          </a:xfrm>
          <a:prstGeom prst="roundRect">
            <a:avLst>
              <a:gd name="adj" fmla="val 23529"/>
            </a:avLst>
          </a:prstGeom>
          <a:solidFill>
            <a:srgbClr val="4FD6E6"/>
          </a:solidFill>
          <a:ln w="12700">
            <a:solidFill>
              <a:srgbClr val="4FD6E6"/>
            </a:solidFill>
            <a:prstDash val="solid"/>
          </a:ln>
        </p:spPr>
      </p:sp>
      <p:sp>
        <p:nvSpPr>
          <p:cNvPr id="42" name="Text 40"/>
          <p:cNvSpPr/>
          <p:nvPr/>
        </p:nvSpPr>
        <p:spPr>
          <a:xfrm>
            <a:off x="384048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43" name="Text 41"/>
          <p:cNvSpPr/>
          <p:nvPr/>
        </p:nvSpPr>
        <p:spPr>
          <a:xfrm>
            <a:off x="358444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Full editor for roles, system privileges, quotas and account settings.</a:t>
            </a:r>
            <a:endParaRPr lang="en-US" sz="1050" dirty="0"/>
          </a:p>
        </p:txBody>
      </p:sp>
      <p:sp>
        <p:nvSpPr>
          <p:cNvPr id="44" name="Shape 42"/>
          <p:cNvSpPr/>
          <p:nvPr/>
        </p:nvSpPr>
        <p:spPr>
          <a:xfrm>
            <a:off x="6217920" y="4828032"/>
            <a:ext cx="2560320" cy="1371600"/>
          </a:xfrm>
          <a:prstGeom prst="roundRect">
            <a:avLst>
              <a:gd name="adj" fmla="val 4000"/>
            </a:avLst>
          </a:prstGeom>
          <a:solidFill>
            <a:srgbClr val="F4F6F8"/>
          </a:solidFill>
          <a:ln w="9525">
            <a:solidFill>
              <a:srgbClr val="DCE2EA"/>
            </a:solidFill>
            <a:prstDash val="solid"/>
          </a:ln>
        </p:spPr>
      </p:sp>
      <p:sp>
        <p:nvSpPr>
          <p:cNvPr id="45" name="Shape 43"/>
          <p:cNvSpPr/>
          <p:nvPr/>
        </p:nvSpPr>
        <p:spPr>
          <a:xfrm>
            <a:off x="6419088" y="5029200"/>
            <a:ext cx="155448" cy="155448"/>
          </a:xfrm>
          <a:prstGeom prst="roundRect">
            <a:avLst>
              <a:gd name="adj" fmla="val 23529"/>
            </a:avLst>
          </a:prstGeom>
          <a:solidFill>
            <a:srgbClr val="4FD6E6"/>
          </a:solidFill>
          <a:ln w="12700">
            <a:solidFill>
              <a:srgbClr val="4FD6E6"/>
            </a:solidFill>
            <a:prstDash val="solid"/>
          </a:ln>
        </p:spPr>
      </p:sp>
      <p:sp>
        <p:nvSpPr>
          <p:cNvPr id="46" name="Text 44"/>
          <p:cNvSpPr/>
          <p:nvPr/>
        </p:nvSpPr>
        <p:spPr>
          <a:xfrm>
            <a:off x="667512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library</a:t>
            </a:r>
            <a:endParaRPr lang="en-US" sz="1300" dirty="0"/>
          </a:p>
        </p:txBody>
      </p:sp>
      <p:sp>
        <p:nvSpPr>
          <p:cNvPr id="47" name="Text 45"/>
          <p:cNvSpPr/>
          <p:nvPr/>
        </p:nvSpPr>
        <p:spPr>
          <a:xfrm>
            <a:off x="641908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File queries into folders, search, retag, delete and restore, and share them with the team.</a:t>
            </a:r>
            <a:endParaRPr lang="en-US" sz="1050" dirty="0"/>
          </a:p>
        </p:txBody>
      </p:sp>
      <p:sp>
        <p:nvSpPr>
          <p:cNvPr id="48" name="Shape 46"/>
          <p:cNvSpPr/>
          <p:nvPr/>
        </p:nvSpPr>
        <p:spPr>
          <a:xfrm>
            <a:off x="9052560" y="4828032"/>
            <a:ext cx="2560320" cy="1371600"/>
          </a:xfrm>
          <a:prstGeom prst="roundRect">
            <a:avLst>
              <a:gd name="adj" fmla="val 4000"/>
            </a:avLst>
          </a:prstGeom>
          <a:solidFill>
            <a:srgbClr val="F4F6F8"/>
          </a:solidFill>
          <a:ln w="9525">
            <a:solidFill>
              <a:srgbClr val="DCE2EA"/>
            </a:solidFill>
            <a:prstDash val="solid"/>
          </a:ln>
        </p:spPr>
      </p:sp>
      <p:sp>
        <p:nvSpPr>
          <p:cNvPr id="49" name="Shape 47"/>
          <p:cNvSpPr/>
          <p:nvPr/>
        </p:nvSpPr>
        <p:spPr>
          <a:xfrm>
            <a:off x="9253728" y="5029200"/>
            <a:ext cx="155448" cy="155448"/>
          </a:xfrm>
          <a:prstGeom prst="roundRect">
            <a:avLst>
              <a:gd name="adj" fmla="val 23529"/>
            </a:avLst>
          </a:prstGeom>
          <a:solidFill>
            <a:srgbClr val="4FD6E6"/>
          </a:solidFill>
          <a:ln w="12700">
            <a:solidFill>
              <a:srgbClr val="4FD6E6"/>
            </a:solidFill>
            <a:prstDash val="solid"/>
          </a:ln>
        </p:spPr>
      </p:sp>
      <p:sp>
        <p:nvSpPr>
          <p:cNvPr id="50" name="Text 48"/>
          <p:cNvSpPr/>
          <p:nvPr/>
        </p:nvSpPr>
        <p:spPr>
          <a:xfrm>
            <a:off x="950976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encryption</a:t>
            </a:r>
            <a:endParaRPr lang="en-US" sz="1300" dirty="0"/>
          </a:p>
        </p:txBody>
      </p:sp>
      <p:sp>
        <p:nvSpPr>
          <p:cNvPr id="51" name="Text 49"/>
          <p:cNvSpPr/>
          <p:nvPr/>
        </p:nvSpPr>
        <p:spPr>
          <a:xfrm>
            <a:off x="925372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AES-256 so neither database exposes your SQL to anyone else.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AT A GLANCE</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Two databases, one tool, no install</a:t>
            </a:r>
            <a:endParaRPr lang="en-US" sz="3400" dirty="0"/>
          </a:p>
        </p:txBody>
      </p:sp>
      <p:sp>
        <p:nvSpPr>
          <p:cNvPr id="4" name="Text 2"/>
          <p:cNvSpPr/>
          <p:nvPr/>
        </p:nvSpPr>
        <p:spPr>
          <a:xfrm>
            <a:off x="5486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2</a:t>
            </a:r>
            <a:endParaRPr lang="en-US" sz="6000" dirty="0"/>
          </a:p>
        </p:txBody>
      </p:sp>
      <p:sp>
        <p:nvSpPr>
          <p:cNvPr id="5" name="Text 3"/>
          <p:cNvSpPr/>
          <p:nvPr/>
        </p:nvSpPr>
        <p:spPr>
          <a:xfrm>
            <a:off x="5486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Database engines — SQL Server and Oracle, both native</a:t>
            </a:r>
            <a:endParaRPr lang="en-US" sz="1300" dirty="0"/>
          </a:p>
        </p:txBody>
      </p:sp>
      <p:sp>
        <p:nvSpPr>
          <p:cNvPr id="6" name="Text 4"/>
          <p:cNvSpPr/>
          <p:nvPr/>
        </p:nvSpPr>
        <p:spPr>
          <a:xfrm>
            <a:off x="4206240" y="1737360"/>
            <a:ext cx="3291840" cy="914400"/>
          </a:xfrm>
          <a:prstGeom prst="rect">
            <a:avLst/>
          </a:prstGeom>
          <a:noFill/>
          <a:ln/>
        </p:spPr>
        <p:txBody>
          <a:bodyPr wrap="square" lIns="0" tIns="0" rIns="0" bIns="0" rtlCol="0" anchor="ctr"/>
          <a:lstStyle/>
          <a:p>
            <a:pPr algn="l" indent="0" marL="0">
              <a:buNone/>
            </a:pPr>
            <a:r>
              <a:rPr lang="en-US" sz="6000" b="1" dirty="0">
                <a:solidFill>
                  <a:srgbClr val="4FD6E6"/>
                </a:solidFill>
                <a:latin typeface="Calibri" pitchFamily="34" charset="0"/>
                <a:ea typeface="Calibri" pitchFamily="34" charset="-122"/>
                <a:cs typeface="Calibri" pitchFamily="34" charset="-120"/>
              </a:rPr>
              <a:t>0</a:t>
            </a:r>
            <a:endParaRPr lang="en-US" sz="6000" dirty="0"/>
          </a:p>
        </p:txBody>
      </p:sp>
      <p:sp>
        <p:nvSpPr>
          <p:cNvPr id="7" name="Text 5"/>
          <p:cNvSpPr/>
          <p:nvPr/>
        </p:nvSpPr>
        <p:spPr>
          <a:xfrm>
            <a:off x="42062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Installers, ODBC DSNs or database clients required</a:t>
            </a:r>
            <a:endParaRPr lang="en-US" sz="1300" dirty="0"/>
          </a:p>
        </p:txBody>
      </p:sp>
      <p:sp>
        <p:nvSpPr>
          <p:cNvPr id="8" name="Text 6"/>
          <p:cNvSpPr/>
          <p:nvPr/>
        </p:nvSpPr>
        <p:spPr>
          <a:xfrm>
            <a:off x="78638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1</a:t>
            </a:r>
            <a:endParaRPr lang="en-US" sz="6000" dirty="0"/>
          </a:p>
        </p:txBody>
      </p:sp>
      <p:sp>
        <p:nvSpPr>
          <p:cNvPr id="9" name="Text 7"/>
          <p:cNvSpPr/>
          <p:nvPr/>
        </p:nvSpPr>
        <p:spPr>
          <a:xfrm>
            <a:off x="78638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Single portable .exe — copy it and run it</a:t>
            </a:r>
            <a:endParaRPr lang="en-US" sz="1300" dirty="0"/>
          </a:p>
        </p:txBody>
      </p:sp>
      <p:sp>
        <p:nvSpPr>
          <p:cNvPr id="10" name="Shape 8"/>
          <p:cNvSpPr/>
          <p:nvPr/>
        </p:nvSpPr>
        <p:spPr>
          <a:xfrm>
            <a:off x="548640" y="3977640"/>
            <a:ext cx="11064240" cy="2148840"/>
          </a:xfrm>
          <a:prstGeom prst="roundRect">
            <a:avLst>
              <a:gd name="adj" fmla="val 2553"/>
            </a:avLst>
          </a:prstGeom>
          <a:solidFill>
            <a:srgbClr val="F4F6F8"/>
          </a:solidFill>
          <a:ln w="9525">
            <a:solidFill>
              <a:srgbClr val="DCE2EA"/>
            </a:solidFill>
            <a:prstDash val="solid"/>
          </a:ln>
        </p:spPr>
      </p:sp>
      <p:sp>
        <p:nvSpPr>
          <p:cNvPr id="11" name="Text 9"/>
          <p:cNvSpPr/>
          <p:nvPr/>
        </p:nvSpPr>
        <p:spPr>
          <a:xfrm>
            <a:off x="868680" y="416052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What that means in practice</a:t>
            </a:r>
            <a:endParaRPr lang="en-US" sz="1500" dirty="0"/>
          </a:p>
        </p:txBody>
      </p:sp>
      <p:sp>
        <p:nvSpPr>
          <p:cNvPr id="12" name="Text 10"/>
          <p:cNvSpPr/>
          <p:nvPr/>
        </p:nvSpPr>
        <p:spPr>
          <a:xfrm>
            <a:off x="86868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Oracle client and no tnsnames.ora to configure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SQL Server client tools to install</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needed on the target machine</a:t>
            </a:r>
            <a:endParaRPr lang="en-US" sz="1300" dirty="0"/>
          </a:p>
        </p:txBody>
      </p:sp>
      <p:sp>
        <p:nvSpPr>
          <p:cNvPr id="13" name="Text 11"/>
          <p:cNvSpPr/>
          <p:nvPr/>
        </p:nvSpPr>
        <p:spPr>
          <a:xfrm>
            <a:off x="640080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Runs from a network share or a USB stick</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Share your query library across the team</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Encrypt queries so only your team can read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Copy one file and run it</a:t>
            </a:r>
            <a:endParaRPr lang="en-US" sz="3400" dirty="0"/>
          </a:p>
        </p:txBody>
      </p:sp>
      <p:sp>
        <p:nvSpPr>
          <p:cNvPr id="4" name="Text 2"/>
          <p:cNvSpPr/>
          <p:nvPr/>
        </p:nvSpPr>
        <p:spPr>
          <a:xfrm>
            <a:off x="548640" y="16916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Copy Qplus.exe anywhere you have access to</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Double-click it — there is no installer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 connection, and start working</a:t>
            </a:r>
            <a:endParaRPr lang="en-US" sz="1500" dirty="0"/>
          </a:p>
        </p:txBody>
      </p:sp>
      <p:sp>
        <p:nvSpPr>
          <p:cNvPr id="5" name="Text 3"/>
          <p:cNvSpPr/>
          <p:nvPr/>
        </p:nvSpPr>
        <p:spPr>
          <a:xfrm>
            <a:off x="548640" y="39776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Requirements</a:t>
            </a:r>
            <a:endParaRPr lang="en-US" sz="1500" dirty="0"/>
          </a:p>
        </p:txBody>
      </p:sp>
      <p:sp>
        <p:nvSpPr>
          <p:cNvPr id="6" name="Text 4"/>
          <p:cNvSpPr/>
          <p:nvPr/>
        </p:nvSpPr>
        <p:spPr>
          <a:xfrm>
            <a:off x="548640" y="4343400"/>
            <a:ext cx="5669280" cy="16459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64-bit Windows 10 (1607) or later</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 it is built into the executable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database client software of any kind</a:t>
            </a:r>
            <a:endParaRPr lang="en-US" sz="1300" dirty="0"/>
          </a:p>
        </p:txBody>
      </p:sp>
      <p:sp>
        <p:nvSpPr>
          <p:cNvPr id="7" name="Shape 5"/>
          <p:cNvSpPr/>
          <p:nvPr/>
        </p:nvSpPr>
        <p:spPr>
          <a:xfrm>
            <a:off x="6492240" y="1691640"/>
            <a:ext cx="5120640" cy="2011680"/>
          </a:xfrm>
          <a:prstGeom prst="roundRect">
            <a:avLst>
              <a:gd name="adj" fmla="val 2273"/>
            </a:avLst>
          </a:prstGeom>
          <a:solidFill>
            <a:srgbClr val="11161C"/>
          </a:solidFill>
          <a:ln w="9525">
            <a:solidFill>
              <a:srgbClr val="11161C"/>
            </a:solidFill>
            <a:prstDash val="solid"/>
          </a:ln>
        </p:spPr>
      </p:sp>
      <p:sp>
        <p:nvSpPr>
          <p:cNvPr id="8" name="Text 6"/>
          <p:cNvSpPr/>
          <p:nvPr/>
        </p:nvSpPr>
        <p:spPr>
          <a:xfrm>
            <a:off x="6675120" y="1837944"/>
            <a:ext cx="4754880" cy="171907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Qplus.exe</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~75 MB  ·  self-contained</a:t>
            </a:r>
            <a:endParaRPr lang="en-US" sz="1150" dirty="0"/>
          </a:p>
          <a:p>
            <a:pPr indent="0" marL="0">
              <a:lnSpc>
                <a:spcPct val="115000"/>
              </a:lnSpc>
              <a:buNone/>
            </a:pP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%AppData%\Qplus\qplus.db</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connections · saved queries · settings</a:t>
            </a:r>
            <a:endParaRPr lang="en-US" sz="1150" dirty="0"/>
          </a:p>
        </p:txBody>
      </p:sp>
      <p:sp>
        <p:nvSpPr>
          <p:cNvPr id="9" name="Text 7"/>
          <p:cNvSpPr/>
          <p:nvPr/>
        </p:nvSpPr>
        <p:spPr>
          <a:xfrm>
            <a:off x="6492240" y="3977640"/>
            <a:ext cx="5120640" cy="109728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Everything Qplus remembers lives in that single catalog file — back it up and your whole setup travels with you.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CONNECTIONS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Connect to either engine</a:t>
            </a:r>
            <a:endParaRPr lang="en-US" sz="3400" dirty="0"/>
          </a:p>
        </p:txBody>
      </p:sp>
      <p:sp>
        <p:nvSpPr>
          <p:cNvPr id="4" name="Shape 2"/>
          <p:cNvSpPr/>
          <p:nvPr/>
        </p:nvSpPr>
        <p:spPr>
          <a:xfrm>
            <a:off x="548640" y="1645920"/>
            <a:ext cx="5394960" cy="1920240"/>
          </a:xfrm>
          <a:prstGeom prst="roundRect">
            <a:avLst>
              <a:gd name="adj" fmla="val 285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Microsoft SQL Server</a:t>
            </a:r>
            <a:endParaRPr lang="en-US" sz="1300" dirty="0"/>
          </a:p>
        </p:txBody>
      </p:sp>
      <p:sp>
        <p:nvSpPr>
          <p:cNvPr id="7" name="Text 5"/>
          <p:cNvSpPr/>
          <p:nvPr/>
        </p:nvSpPr>
        <p:spPr>
          <a:xfrm>
            <a:off x="74980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Server and instance, optional port, initial catalog. Choose Windows integrated authentication or a SQL login. Trust-server-certificate option for self-signed certificates.</a:t>
            </a:r>
            <a:endParaRPr lang="en-US" sz="1050" dirty="0"/>
          </a:p>
        </p:txBody>
      </p:sp>
      <p:sp>
        <p:nvSpPr>
          <p:cNvPr id="8" name="Shape 6"/>
          <p:cNvSpPr/>
          <p:nvPr/>
        </p:nvSpPr>
        <p:spPr>
          <a:xfrm>
            <a:off x="6217920" y="1645920"/>
            <a:ext cx="5394960" cy="1920240"/>
          </a:xfrm>
          <a:prstGeom prst="roundRect">
            <a:avLst>
              <a:gd name="adj" fmla="val 2857"/>
            </a:avLst>
          </a:prstGeom>
          <a:solidFill>
            <a:srgbClr val="F4F6F8"/>
          </a:solidFill>
          <a:ln w="9525">
            <a:solidFill>
              <a:srgbClr val="DCE2EA"/>
            </a:solidFill>
            <a:prstDash val="solid"/>
          </a:ln>
        </p:spPr>
      </p:sp>
      <p:sp>
        <p:nvSpPr>
          <p:cNvPr id="9" name="Shape 7"/>
          <p:cNvSpPr/>
          <p:nvPr/>
        </p:nvSpPr>
        <p:spPr>
          <a:xfrm>
            <a:off x="641908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667512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Oracle</a:t>
            </a:r>
            <a:endParaRPr lang="en-US" sz="1300" dirty="0"/>
          </a:p>
        </p:txBody>
      </p:sp>
      <p:sp>
        <p:nvSpPr>
          <p:cNvPr id="11" name="Text 9"/>
          <p:cNvSpPr/>
          <p:nvPr/>
        </p:nvSpPr>
        <p:spPr>
          <a:xfrm>
            <a:off x="641908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Host, port and service name — or tick Treat as SID. Connects with a native EZCONNECT descriptor, so no Oracle client and no tnsnames.ora are required.</a:t>
            </a:r>
            <a:endParaRPr lang="en-US" sz="1050" dirty="0"/>
          </a:p>
        </p:txBody>
      </p:sp>
      <p:sp>
        <p:nvSpPr>
          <p:cNvPr id="12" name="Shape 10"/>
          <p:cNvSpPr/>
          <p:nvPr/>
        </p:nvSpPr>
        <p:spPr>
          <a:xfrm>
            <a:off x="548640" y="3886200"/>
            <a:ext cx="11064240" cy="1737360"/>
          </a:xfrm>
          <a:prstGeom prst="roundRect">
            <a:avLst>
              <a:gd name="adj" fmla="val 3158"/>
            </a:avLst>
          </a:prstGeom>
          <a:solidFill>
            <a:srgbClr val="F4F6F8"/>
          </a:solidFill>
          <a:ln w="9525">
            <a:solidFill>
              <a:srgbClr val="DCE2EA"/>
            </a:solidFill>
            <a:prstDash val="solid"/>
          </a:ln>
        </p:spPr>
      </p:sp>
      <p:sp>
        <p:nvSpPr>
          <p:cNvPr id="13" name="Text 11"/>
          <p:cNvSpPr/>
          <p:nvPr/>
        </p:nvSpPr>
        <p:spPr>
          <a:xfrm>
            <a:off x="868680" y="406908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Passwords are encrypted, never stored as text</a:t>
            </a:r>
            <a:endParaRPr lang="en-US" sz="1500" dirty="0"/>
          </a:p>
        </p:txBody>
      </p:sp>
      <p:sp>
        <p:nvSpPr>
          <p:cNvPr id="14" name="Text 12"/>
          <p:cNvSpPr/>
          <p:nvPr/>
        </p:nvSpPr>
        <p:spPr>
          <a:xfrm>
            <a:off x="868680" y="4480560"/>
            <a:ext cx="104241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Qplus protects every stored password with Windows Data Protection, tied to your Windows account. The encrypted value is meaningless to any other user or on any other machine. Use Test before saving to confirm the details are right.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EXPLORER AND EDITOR</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Browse on the left, work on the right</a:t>
            </a:r>
            <a:endParaRPr lang="en-US" sz="3400" dirty="0"/>
          </a:p>
        </p:txBody>
      </p:sp>
      <p:sp>
        <p:nvSpPr>
          <p:cNvPr id="4" name="Text 2"/>
          <p:cNvSpPr/>
          <p:nvPr/>
        </p:nvSpPr>
        <p:spPr>
          <a:xfrm>
            <a:off x="548640" y="1691640"/>
            <a:ext cx="539496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Expand a connection to reach schemas, tables, views and columns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Everything loads on demand — large databases stay responsive</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Double-click a table to open its details tab</a:t>
            </a:r>
            <a:endParaRPr lang="en-US" sz="1400" dirty="0"/>
          </a:p>
        </p:txBody>
      </p:sp>
      <p:sp>
        <p:nvSpPr>
          <p:cNvPr id="5" name="Text 3"/>
          <p:cNvSpPr/>
          <p:nvPr/>
        </p:nvSpPr>
        <p:spPr>
          <a:xfrm>
            <a:off x="548640" y="406908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Every query tab is independent</a:t>
            </a:r>
            <a:endParaRPr lang="en-US" sz="1500" dirty="0"/>
          </a:p>
        </p:txBody>
      </p:sp>
      <p:sp>
        <p:nvSpPr>
          <p:cNvPr id="6" name="Text 4"/>
          <p:cNvSpPr/>
          <p:nvPr/>
        </p:nvSpPr>
        <p:spPr>
          <a:xfrm>
            <a:off x="548640" y="4434840"/>
            <a:ext cx="5394960" cy="118872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Each tab keeps its own SQL, its own connection and its own results — so you can point two tabs at two databases and compare them side by side.</a:t>
            </a:r>
            <a:endParaRPr lang="en-US" sz="1300" dirty="0"/>
          </a:p>
        </p:txBody>
      </p:sp>
      <p:sp>
        <p:nvSpPr>
          <p:cNvPr id="7" name="Shape 5"/>
          <p:cNvSpPr/>
          <p:nvPr/>
        </p:nvSpPr>
        <p:spPr>
          <a:xfrm>
            <a:off x="6309360" y="1691640"/>
            <a:ext cx="5303520" cy="3931920"/>
          </a:xfrm>
          <a:prstGeom prst="roundRect">
            <a:avLst>
              <a:gd name="adj" fmla="val 1163"/>
            </a:avLst>
          </a:prstGeom>
          <a:solidFill>
            <a:srgbClr val="11161C"/>
          </a:solidFill>
          <a:ln w="9525">
            <a:solidFill>
              <a:srgbClr val="11161C"/>
            </a:solidFill>
            <a:prstDash val="solid"/>
          </a:ln>
        </p:spPr>
      </p:sp>
      <p:sp>
        <p:nvSpPr>
          <p:cNvPr id="8" name="Text 6"/>
          <p:cNvSpPr/>
          <p:nvPr/>
        </p:nvSpPr>
        <p:spPr>
          <a:xfrm>
            <a:off x="6492240" y="1837944"/>
            <a:ext cx="4937760" cy="363931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SELECT</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c.customer_id,</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c.name,</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o.order_date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FROM   customer c</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JOIN   orders   o</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ON   o.customer_id = c.customer_id</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WHERE  o.order_date &gt; :since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ORDER  BY o.order_date DESC;</a:t>
            </a:r>
            <a:endParaRPr lang="en-US" sz="1150" dirty="0"/>
          </a:p>
          <a:p>
            <a:pPr indent="0" marL="0">
              <a:lnSpc>
                <a:spcPct val="115000"/>
              </a:lnSpc>
              <a:buNone/>
            </a:pP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F5 runs the tab</a:t>
            </a: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Ctrl+F5 runs the selection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AUTO-COMPLETION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Suggestions that understand your query</a:t>
            </a:r>
            <a:endParaRPr lang="en-US" sz="3400" dirty="0"/>
          </a:p>
        </p:txBody>
      </p:sp>
      <p:sp>
        <p:nvSpPr>
          <p:cNvPr id="4" name="Shape 2"/>
          <p:cNvSpPr/>
          <p:nvPr/>
        </p:nvSpPr>
        <p:spPr>
          <a:xfrm>
            <a:off x="548640" y="1645920"/>
            <a:ext cx="3520440" cy="1691640"/>
          </a:xfrm>
          <a:prstGeom prst="roundRect">
            <a:avLst>
              <a:gd name="adj" fmla="val 3243"/>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FROM or JOIN</a:t>
            </a:r>
            <a:endParaRPr lang="en-US" sz="1300" dirty="0"/>
          </a:p>
        </p:txBody>
      </p:sp>
      <p:sp>
        <p:nvSpPr>
          <p:cNvPr id="7" name="Text 5"/>
          <p:cNvSpPr/>
          <p:nvPr/>
        </p:nvSpPr>
        <p:spPr>
          <a:xfrm>
            <a:off x="74980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tables and views, filtered as you type. Choosing one replaces the partial name.</a:t>
            </a:r>
            <a:endParaRPr lang="en-US" sz="1050" dirty="0"/>
          </a:p>
        </p:txBody>
      </p:sp>
      <p:sp>
        <p:nvSpPr>
          <p:cNvPr id="8" name="Shape 6"/>
          <p:cNvSpPr/>
          <p:nvPr/>
        </p:nvSpPr>
        <p:spPr>
          <a:xfrm>
            <a:off x="4343400" y="1645920"/>
            <a:ext cx="3520440" cy="1691640"/>
          </a:xfrm>
          <a:prstGeom prst="roundRect">
            <a:avLst>
              <a:gd name="adj" fmla="val 3243"/>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WHERE or SELECT</a:t>
            </a:r>
            <a:endParaRPr lang="en-US" sz="1300" dirty="0"/>
          </a:p>
        </p:txBody>
      </p:sp>
      <p:sp>
        <p:nvSpPr>
          <p:cNvPr id="11" name="Text 9"/>
          <p:cNvSpPr/>
          <p:nvPr/>
        </p:nvSpPr>
        <p:spPr>
          <a:xfrm>
            <a:off x="454456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columns from the tables in that statement's FROM clause — not every column in the database.</a:t>
            </a:r>
            <a:endParaRPr lang="en-US" sz="1050" dirty="0"/>
          </a:p>
        </p:txBody>
      </p:sp>
      <p:sp>
        <p:nvSpPr>
          <p:cNvPr id="12" name="Shape 10"/>
          <p:cNvSpPr/>
          <p:nvPr/>
        </p:nvSpPr>
        <p:spPr>
          <a:xfrm>
            <a:off x="8138160" y="1645920"/>
            <a:ext cx="3520440" cy="1691640"/>
          </a:xfrm>
          <a:prstGeom prst="roundRect">
            <a:avLst>
              <a:gd name="adj" fmla="val 3243"/>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alias. or schema.</a:t>
            </a:r>
            <a:endParaRPr lang="en-US" sz="1300" dirty="0"/>
          </a:p>
        </p:txBody>
      </p:sp>
      <p:sp>
        <p:nvSpPr>
          <p:cNvPr id="15" name="Text 13"/>
          <p:cNvSpPr/>
          <p:nvPr/>
        </p:nvSpPr>
        <p:spPr>
          <a:xfrm>
            <a:off x="833932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Narrows to that one table's columns, or to the objects in that schema.</a:t>
            </a:r>
            <a:endParaRPr lang="en-US" sz="1050" dirty="0"/>
          </a:p>
        </p:txBody>
      </p:sp>
      <p:sp>
        <p:nvSpPr>
          <p:cNvPr id="16" name="Text 14"/>
          <p:cNvSpPr/>
          <p:nvPr/>
        </p:nvSpPr>
        <p:spPr>
          <a:xfrm>
            <a:off x="548640" y="374904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It reads the statement, not just the last word</a:t>
            </a:r>
            <a:endParaRPr lang="en-US" sz="1500" dirty="0"/>
          </a:p>
        </p:txBody>
      </p:sp>
      <p:sp>
        <p:nvSpPr>
          <p:cNvPr id="17" name="Text 15"/>
          <p:cNvSpPr/>
          <p:nvPr/>
        </p:nvSpPr>
        <p:spPr>
          <a:xfrm>
            <a:off x="548640" y="4160520"/>
            <a:ext cx="5394960" cy="17373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Table aliases are resolved, so c. gives you customer columns</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Words inside strings and comments are ignored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Only the statement under the cursor is considered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Ctrl+Space forces the list open at any time</a:t>
            </a:r>
            <a:endParaRPr lang="en-US" sz="1300" dirty="0"/>
          </a:p>
        </p:txBody>
      </p:sp>
      <p:sp>
        <p:nvSpPr>
          <p:cNvPr id="18" name="Shape 16"/>
          <p:cNvSpPr/>
          <p:nvPr/>
        </p:nvSpPr>
        <p:spPr>
          <a:xfrm>
            <a:off x="6309360" y="3977640"/>
            <a:ext cx="5303520" cy="1691640"/>
          </a:xfrm>
          <a:prstGeom prst="roundRect">
            <a:avLst>
              <a:gd name="adj" fmla="val 2703"/>
            </a:avLst>
          </a:prstGeom>
          <a:solidFill>
            <a:srgbClr val="11161C"/>
          </a:solidFill>
          <a:ln w="9525">
            <a:solidFill>
              <a:srgbClr val="11161C"/>
            </a:solidFill>
            <a:prstDash val="solid"/>
          </a:ln>
        </p:spPr>
      </p:sp>
      <p:sp>
        <p:nvSpPr>
          <p:cNvPr id="19" name="Text 17"/>
          <p:cNvSpPr/>
          <p:nvPr/>
        </p:nvSpPr>
        <p:spPr>
          <a:xfrm>
            <a:off x="6492240" y="4123944"/>
            <a:ext cx="4937760" cy="1399032"/>
          </a:xfrm>
          <a:prstGeom prst="rect">
            <a:avLst/>
          </a:prstGeom>
          <a:noFill/>
          <a:ln/>
        </p:spPr>
        <p:txBody>
          <a:bodyPr wrap="square" lIns="0" tIns="0" rIns="0" bIns="0" rtlCol="0" anchor="t"/>
          <a:lstStyle/>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SELECT * FROM cd_w</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 cd_well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cd_well_source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cd_wellbore      │</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Read results the way that suits the job</a:t>
            </a:r>
            <a:endParaRPr lang="en-US" sz="3400" dirty="0"/>
          </a:p>
        </p:txBody>
      </p:sp>
      <p:sp>
        <p:nvSpPr>
          <p:cNvPr id="4" name="Shape 2"/>
          <p:cNvSpPr/>
          <p:nvPr/>
        </p:nvSpPr>
        <p:spPr>
          <a:xfrm>
            <a:off x="548640" y="1645920"/>
            <a:ext cx="3520440" cy="2011680"/>
          </a:xfrm>
          <a:prstGeom prst="roundRect">
            <a:avLst>
              <a:gd name="adj" fmla="val 272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Grid view</a:t>
            </a:r>
            <a:endParaRPr lang="en-US" sz="1300" dirty="0"/>
          </a:p>
        </p:txBody>
      </p:sp>
      <p:sp>
        <p:nvSpPr>
          <p:cNvPr id="7" name="Text 5"/>
          <p:cNvSpPr/>
          <p:nvPr/>
        </p:nvSpPr>
        <p:spPr>
          <a:xfrm>
            <a:off x="74980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Each result set gets its own sortable tab. Click any column header to sort.</a:t>
            </a:r>
            <a:endParaRPr lang="en-US" sz="1050" dirty="0"/>
          </a:p>
        </p:txBody>
      </p:sp>
      <p:sp>
        <p:nvSpPr>
          <p:cNvPr id="8" name="Shape 6"/>
          <p:cNvSpPr/>
          <p:nvPr/>
        </p:nvSpPr>
        <p:spPr>
          <a:xfrm>
            <a:off x="4343400" y="1645920"/>
            <a:ext cx="3520440" cy="2011680"/>
          </a:xfrm>
          <a:prstGeom prst="roundRect">
            <a:avLst>
              <a:gd name="adj" fmla="val 2727"/>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Text view</a:t>
            </a:r>
            <a:endParaRPr lang="en-US" sz="1300" dirty="0"/>
          </a:p>
        </p:txBody>
      </p:sp>
      <p:sp>
        <p:nvSpPr>
          <p:cNvPr id="11" name="Text 9"/>
          <p:cNvSpPr/>
          <p:nvPr/>
        </p:nvSpPr>
        <p:spPr>
          <a:xfrm>
            <a:off x="454456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Tick Results as text for aligned monospaced output that pastes cleanly into a ticket or an email.</a:t>
            </a:r>
            <a:endParaRPr lang="en-US" sz="1050" dirty="0"/>
          </a:p>
        </p:txBody>
      </p:sp>
      <p:sp>
        <p:nvSpPr>
          <p:cNvPr id="12" name="Shape 10"/>
          <p:cNvSpPr/>
          <p:nvPr/>
        </p:nvSpPr>
        <p:spPr>
          <a:xfrm>
            <a:off x="8138160" y="1645920"/>
            <a:ext cx="3520440" cy="2011680"/>
          </a:xfrm>
          <a:prstGeom prst="roundRect">
            <a:avLst>
              <a:gd name="adj" fmla="val 2727"/>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Messages</a:t>
            </a:r>
            <a:endParaRPr lang="en-US" sz="1300" dirty="0"/>
          </a:p>
        </p:txBody>
      </p:sp>
      <p:sp>
        <p:nvSpPr>
          <p:cNvPr id="15" name="Text 13"/>
          <p:cNvSpPr/>
          <p:nvPr/>
        </p:nvSpPr>
        <p:spPr>
          <a:xfrm>
            <a:off x="833932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and server output, including PRINT and RAISERROR messages as a script runs.</a:t>
            </a:r>
            <a:endParaRPr lang="en-US" sz="1050" dirty="0"/>
          </a:p>
        </p:txBody>
      </p:sp>
      <p:sp>
        <p:nvSpPr>
          <p:cNvPr id="16" name="Shape 14"/>
          <p:cNvSpPr/>
          <p:nvPr/>
        </p:nvSpPr>
        <p:spPr>
          <a:xfrm>
            <a:off x="548640" y="4023360"/>
            <a:ext cx="11064240" cy="1645920"/>
          </a:xfrm>
          <a:prstGeom prst="roundRect">
            <a:avLst>
              <a:gd name="adj" fmla="val 3333"/>
            </a:avLst>
          </a:prstGeom>
          <a:solidFill>
            <a:srgbClr val="F4F6F8"/>
          </a:solidFill>
          <a:ln w="9525">
            <a:solidFill>
              <a:srgbClr val="DCE2EA"/>
            </a:solidFill>
            <a:prstDash val="solid"/>
          </a:ln>
        </p:spPr>
      </p:sp>
      <p:sp>
        <p:nvSpPr>
          <p:cNvPr id="17" name="Text 15"/>
          <p:cNvSpPr/>
          <p:nvPr/>
        </p:nvSpPr>
        <p:spPr>
          <a:xfrm>
            <a:off x="868680" y="42062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Export to CSV</a:t>
            </a:r>
            <a:endParaRPr lang="en-US" sz="1500" dirty="0"/>
          </a:p>
        </p:txBody>
      </p:sp>
      <p:sp>
        <p:nvSpPr>
          <p:cNvPr id="18" name="Text 16"/>
          <p:cNvSpPr/>
          <p:nvPr/>
        </p:nvSpPr>
        <p:spPr>
          <a:xfrm>
            <a:off x="868680" y="4617720"/>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Send any result grid to a file with one click. Values containing commas, quotes or line breaks are quoted correctly, and the file is written as UTF-8 so Excel opens it with the right characters.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TABLE DETAILS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Nine views of any table</a:t>
            </a:r>
            <a:endParaRPr lang="en-US" sz="3400" dirty="0"/>
          </a:p>
        </p:txBody>
      </p:sp>
      <p:sp>
        <p:nvSpPr>
          <p:cNvPr id="4" name="Shape 2"/>
          <p:cNvSpPr/>
          <p:nvPr/>
        </p:nvSpPr>
        <p:spPr>
          <a:xfrm>
            <a:off x="548640" y="1600200"/>
            <a:ext cx="3520440" cy="1078992"/>
          </a:xfrm>
          <a:prstGeom prst="roundRect">
            <a:avLst>
              <a:gd name="adj" fmla="val 5085"/>
            </a:avLst>
          </a:prstGeom>
          <a:solidFill>
            <a:srgbClr val="F4F6F8"/>
          </a:solidFill>
          <a:ln w="9525">
            <a:solidFill>
              <a:srgbClr val="DCE2EA"/>
            </a:solidFill>
            <a:prstDash val="solid"/>
          </a:ln>
        </p:spPr>
      </p:sp>
      <p:sp>
        <p:nvSpPr>
          <p:cNvPr id="5" name="Shape 3"/>
          <p:cNvSpPr/>
          <p:nvPr/>
        </p:nvSpPr>
        <p:spPr>
          <a:xfrm>
            <a:off x="749808" y="180136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Columns</a:t>
            </a:r>
            <a:endParaRPr lang="en-US" sz="1300" dirty="0"/>
          </a:p>
        </p:txBody>
      </p:sp>
      <p:sp>
        <p:nvSpPr>
          <p:cNvPr id="7" name="Text 5"/>
          <p:cNvSpPr/>
          <p:nvPr/>
        </p:nvSpPr>
        <p:spPr>
          <a:xfrm>
            <a:off x="74980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Types, nullability, defaults, identity, comments</a:t>
            </a:r>
            <a:endParaRPr lang="en-US" sz="1050" dirty="0"/>
          </a:p>
        </p:txBody>
      </p:sp>
      <p:sp>
        <p:nvSpPr>
          <p:cNvPr id="8" name="Shape 6"/>
          <p:cNvSpPr/>
          <p:nvPr/>
        </p:nvSpPr>
        <p:spPr>
          <a:xfrm>
            <a:off x="4343400" y="1600200"/>
            <a:ext cx="3520440" cy="1078992"/>
          </a:xfrm>
          <a:prstGeom prst="roundRect">
            <a:avLst>
              <a:gd name="adj" fmla="val 5085"/>
            </a:avLst>
          </a:prstGeom>
          <a:solidFill>
            <a:srgbClr val="F4F6F8"/>
          </a:solidFill>
          <a:ln w="9525">
            <a:solidFill>
              <a:srgbClr val="DCE2EA"/>
            </a:solidFill>
            <a:prstDash val="solid"/>
          </a:ln>
        </p:spPr>
      </p:sp>
      <p:sp>
        <p:nvSpPr>
          <p:cNvPr id="9" name="Shape 7"/>
          <p:cNvSpPr/>
          <p:nvPr/>
        </p:nvSpPr>
        <p:spPr>
          <a:xfrm>
            <a:off x="4544568" y="180136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a:t>
            </a:r>
            <a:endParaRPr lang="en-US" sz="1300" dirty="0"/>
          </a:p>
        </p:txBody>
      </p:sp>
      <p:sp>
        <p:nvSpPr>
          <p:cNvPr id="11" name="Text 9"/>
          <p:cNvSpPr/>
          <p:nvPr/>
        </p:nvSpPr>
        <p:spPr>
          <a:xfrm>
            <a:off x="454456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The rows themselves — and editable</a:t>
            </a:r>
            <a:endParaRPr lang="en-US" sz="1050" dirty="0"/>
          </a:p>
        </p:txBody>
      </p:sp>
      <p:sp>
        <p:nvSpPr>
          <p:cNvPr id="12" name="Shape 10"/>
          <p:cNvSpPr/>
          <p:nvPr/>
        </p:nvSpPr>
        <p:spPr>
          <a:xfrm>
            <a:off x="8138160" y="1600200"/>
            <a:ext cx="3520440" cy="1078992"/>
          </a:xfrm>
          <a:prstGeom prst="roundRect">
            <a:avLst>
              <a:gd name="adj" fmla="val 5085"/>
            </a:avLst>
          </a:prstGeom>
          <a:solidFill>
            <a:srgbClr val="F4F6F8"/>
          </a:solidFill>
          <a:ln w="9525">
            <a:solidFill>
              <a:srgbClr val="DCE2EA"/>
            </a:solidFill>
            <a:prstDash val="solid"/>
          </a:ln>
        </p:spPr>
      </p:sp>
      <p:sp>
        <p:nvSpPr>
          <p:cNvPr id="13" name="Shape 11"/>
          <p:cNvSpPr/>
          <p:nvPr/>
        </p:nvSpPr>
        <p:spPr>
          <a:xfrm>
            <a:off x="8339328" y="180136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Constraints</a:t>
            </a:r>
            <a:endParaRPr lang="en-US" sz="1300" dirty="0"/>
          </a:p>
        </p:txBody>
      </p:sp>
      <p:sp>
        <p:nvSpPr>
          <p:cNvPr id="15" name="Text 13"/>
          <p:cNvSpPr/>
          <p:nvPr/>
        </p:nvSpPr>
        <p:spPr>
          <a:xfrm>
            <a:off x="833932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Primary, foreign, unique and check</a:t>
            </a:r>
            <a:endParaRPr lang="en-US" sz="1050" dirty="0"/>
          </a:p>
        </p:txBody>
      </p:sp>
      <p:sp>
        <p:nvSpPr>
          <p:cNvPr id="16" name="Shape 14"/>
          <p:cNvSpPr/>
          <p:nvPr/>
        </p:nvSpPr>
        <p:spPr>
          <a:xfrm>
            <a:off x="548640" y="2880360"/>
            <a:ext cx="3520440" cy="1078992"/>
          </a:xfrm>
          <a:prstGeom prst="roundRect">
            <a:avLst>
              <a:gd name="adj" fmla="val 5085"/>
            </a:avLst>
          </a:prstGeom>
          <a:solidFill>
            <a:srgbClr val="F4F6F8"/>
          </a:solidFill>
          <a:ln w="9525">
            <a:solidFill>
              <a:srgbClr val="DCE2EA"/>
            </a:solidFill>
            <a:prstDash val="solid"/>
          </a:ln>
        </p:spPr>
      </p:sp>
      <p:sp>
        <p:nvSpPr>
          <p:cNvPr id="17" name="Shape 15"/>
          <p:cNvSpPr/>
          <p:nvPr/>
        </p:nvSpPr>
        <p:spPr>
          <a:xfrm>
            <a:off x="749808" y="3081528"/>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100584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Indexes</a:t>
            </a:r>
            <a:endParaRPr lang="en-US" sz="1300" dirty="0"/>
          </a:p>
        </p:txBody>
      </p:sp>
      <p:sp>
        <p:nvSpPr>
          <p:cNvPr id="19" name="Text 17"/>
          <p:cNvSpPr/>
          <p:nvPr/>
        </p:nvSpPr>
        <p:spPr>
          <a:xfrm>
            <a:off x="74980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 uniqueness and covered columns</a:t>
            </a:r>
            <a:endParaRPr lang="en-US" sz="1050" dirty="0"/>
          </a:p>
        </p:txBody>
      </p:sp>
      <p:sp>
        <p:nvSpPr>
          <p:cNvPr id="20" name="Shape 18"/>
          <p:cNvSpPr/>
          <p:nvPr/>
        </p:nvSpPr>
        <p:spPr>
          <a:xfrm>
            <a:off x="4343400" y="2880360"/>
            <a:ext cx="3520440" cy="1078992"/>
          </a:xfrm>
          <a:prstGeom prst="roundRect">
            <a:avLst>
              <a:gd name="adj" fmla="val 5085"/>
            </a:avLst>
          </a:prstGeom>
          <a:solidFill>
            <a:srgbClr val="F4F6F8"/>
          </a:solidFill>
          <a:ln w="9525">
            <a:solidFill>
              <a:srgbClr val="DCE2EA"/>
            </a:solidFill>
            <a:prstDash val="solid"/>
          </a:ln>
        </p:spPr>
      </p:sp>
      <p:sp>
        <p:nvSpPr>
          <p:cNvPr id="21" name="Shape 19"/>
          <p:cNvSpPr/>
          <p:nvPr/>
        </p:nvSpPr>
        <p:spPr>
          <a:xfrm>
            <a:off x="4544568" y="3081528"/>
            <a:ext cx="155448" cy="155448"/>
          </a:xfrm>
          <a:prstGeom prst="roundRect">
            <a:avLst>
              <a:gd name="adj" fmla="val 23529"/>
            </a:avLst>
          </a:prstGeom>
          <a:solidFill>
            <a:srgbClr val="2D8CFF"/>
          </a:solidFill>
          <a:ln w="12700">
            <a:solidFill>
              <a:srgbClr val="2D8CFF"/>
            </a:solidFill>
            <a:prstDash val="solid"/>
          </a:ln>
        </p:spPr>
      </p:sp>
      <p:sp>
        <p:nvSpPr>
          <p:cNvPr id="22" name="Text 20"/>
          <p:cNvSpPr/>
          <p:nvPr/>
        </p:nvSpPr>
        <p:spPr>
          <a:xfrm>
            <a:off x="480060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Triggers</a:t>
            </a:r>
            <a:endParaRPr lang="en-US" sz="1300" dirty="0"/>
          </a:p>
        </p:txBody>
      </p:sp>
      <p:sp>
        <p:nvSpPr>
          <p:cNvPr id="23" name="Text 21"/>
          <p:cNvSpPr/>
          <p:nvPr/>
        </p:nvSpPr>
        <p:spPr>
          <a:xfrm>
            <a:off x="454456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Definitions and status</a:t>
            </a:r>
            <a:endParaRPr lang="en-US" sz="1050" dirty="0"/>
          </a:p>
        </p:txBody>
      </p:sp>
      <p:sp>
        <p:nvSpPr>
          <p:cNvPr id="24" name="Shape 22"/>
          <p:cNvSpPr/>
          <p:nvPr/>
        </p:nvSpPr>
        <p:spPr>
          <a:xfrm>
            <a:off x="8138160" y="2880360"/>
            <a:ext cx="3520440" cy="1078992"/>
          </a:xfrm>
          <a:prstGeom prst="roundRect">
            <a:avLst>
              <a:gd name="adj" fmla="val 5085"/>
            </a:avLst>
          </a:prstGeom>
          <a:solidFill>
            <a:srgbClr val="F4F6F8"/>
          </a:solidFill>
          <a:ln w="9525">
            <a:solidFill>
              <a:srgbClr val="DCE2EA"/>
            </a:solidFill>
            <a:prstDash val="solid"/>
          </a:ln>
        </p:spPr>
      </p:sp>
      <p:sp>
        <p:nvSpPr>
          <p:cNvPr id="25" name="Shape 23"/>
          <p:cNvSpPr/>
          <p:nvPr/>
        </p:nvSpPr>
        <p:spPr>
          <a:xfrm>
            <a:off x="8339328" y="308152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859536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Dependencies</a:t>
            </a:r>
            <a:endParaRPr lang="en-US" sz="1300" dirty="0"/>
          </a:p>
        </p:txBody>
      </p:sp>
      <p:sp>
        <p:nvSpPr>
          <p:cNvPr id="27" name="Text 25"/>
          <p:cNvSpPr/>
          <p:nvPr/>
        </p:nvSpPr>
        <p:spPr>
          <a:xfrm>
            <a:off x="833932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What it uses, and what uses it</a:t>
            </a:r>
            <a:endParaRPr lang="en-US" sz="1050" dirty="0"/>
          </a:p>
        </p:txBody>
      </p:sp>
      <p:sp>
        <p:nvSpPr>
          <p:cNvPr id="28" name="Shape 26"/>
          <p:cNvSpPr/>
          <p:nvPr/>
        </p:nvSpPr>
        <p:spPr>
          <a:xfrm>
            <a:off x="548640" y="4160520"/>
            <a:ext cx="3520440" cy="1078992"/>
          </a:xfrm>
          <a:prstGeom prst="roundRect">
            <a:avLst>
              <a:gd name="adj" fmla="val 5085"/>
            </a:avLst>
          </a:prstGeom>
          <a:solidFill>
            <a:srgbClr val="F4F6F8"/>
          </a:solidFill>
          <a:ln w="9525">
            <a:solidFill>
              <a:srgbClr val="DCE2EA"/>
            </a:solidFill>
            <a:prstDash val="solid"/>
          </a:ln>
        </p:spPr>
      </p:sp>
      <p:sp>
        <p:nvSpPr>
          <p:cNvPr id="29" name="Shape 27"/>
          <p:cNvSpPr/>
          <p:nvPr/>
        </p:nvSpPr>
        <p:spPr>
          <a:xfrm>
            <a:off x="749808" y="436168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100584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Grants</a:t>
            </a:r>
            <a:endParaRPr lang="en-US" sz="1300" dirty="0"/>
          </a:p>
        </p:txBody>
      </p:sp>
      <p:sp>
        <p:nvSpPr>
          <p:cNvPr id="31" name="Text 29"/>
          <p:cNvSpPr/>
          <p:nvPr/>
        </p:nvSpPr>
        <p:spPr>
          <a:xfrm>
            <a:off x="74980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Who has been granted what</a:t>
            </a:r>
            <a:endParaRPr lang="en-US" sz="1050" dirty="0"/>
          </a:p>
        </p:txBody>
      </p:sp>
      <p:sp>
        <p:nvSpPr>
          <p:cNvPr id="32" name="Shape 30"/>
          <p:cNvSpPr/>
          <p:nvPr/>
        </p:nvSpPr>
        <p:spPr>
          <a:xfrm>
            <a:off x="4343400" y="4160520"/>
            <a:ext cx="3520440" cy="1078992"/>
          </a:xfrm>
          <a:prstGeom prst="roundRect">
            <a:avLst>
              <a:gd name="adj" fmla="val 5085"/>
            </a:avLst>
          </a:prstGeom>
          <a:solidFill>
            <a:srgbClr val="F4F6F8"/>
          </a:solidFill>
          <a:ln w="9525">
            <a:solidFill>
              <a:srgbClr val="DCE2EA"/>
            </a:solidFill>
            <a:prstDash val="solid"/>
          </a:ln>
        </p:spPr>
      </p:sp>
      <p:sp>
        <p:nvSpPr>
          <p:cNvPr id="33" name="Shape 31"/>
          <p:cNvSpPr/>
          <p:nvPr/>
        </p:nvSpPr>
        <p:spPr>
          <a:xfrm>
            <a:off x="4544568" y="4361688"/>
            <a:ext cx="155448" cy="155448"/>
          </a:xfrm>
          <a:prstGeom prst="roundRect">
            <a:avLst>
              <a:gd name="adj" fmla="val 23529"/>
            </a:avLst>
          </a:prstGeom>
          <a:solidFill>
            <a:srgbClr val="4FD6E6"/>
          </a:solidFill>
          <a:ln w="12700">
            <a:solidFill>
              <a:srgbClr val="4FD6E6"/>
            </a:solidFill>
            <a:prstDash val="solid"/>
          </a:ln>
        </p:spPr>
      </p:sp>
      <p:sp>
        <p:nvSpPr>
          <p:cNvPr id="34" name="Text 32"/>
          <p:cNvSpPr/>
          <p:nvPr/>
        </p:nvSpPr>
        <p:spPr>
          <a:xfrm>
            <a:off x="480060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Statistics</a:t>
            </a:r>
            <a:endParaRPr lang="en-US" sz="1300" dirty="0"/>
          </a:p>
        </p:txBody>
      </p:sp>
      <p:sp>
        <p:nvSpPr>
          <p:cNvPr id="35" name="Text 33"/>
          <p:cNvSpPr/>
          <p:nvPr/>
        </p:nvSpPr>
        <p:spPr>
          <a:xfrm>
            <a:off x="454456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space and timestamps</a:t>
            </a:r>
            <a:endParaRPr lang="en-US" sz="1050" dirty="0"/>
          </a:p>
        </p:txBody>
      </p:sp>
      <p:sp>
        <p:nvSpPr>
          <p:cNvPr id="36" name="Shape 34"/>
          <p:cNvSpPr/>
          <p:nvPr/>
        </p:nvSpPr>
        <p:spPr>
          <a:xfrm>
            <a:off x="8138160" y="4160520"/>
            <a:ext cx="3520440" cy="1078992"/>
          </a:xfrm>
          <a:prstGeom prst="roundRect">
            <a:avLst>
              <a:gd name="adj" fmla="val 5085"/>
            </a:avLst>
          </a:prstGeom>
          <a:solidFill>
            <a:srgbClr val="F4F6F8"/>
          </a:solidFill>
          <a:ln w="9525">
            <a:solidFill>
              <a:srgbClr val="DCE2EA"/>
            </a:solidFill>
            <a:prstDash val="solid"/>
          </a:ln>
        </p:spPr>
      </p:sp>
      <p:sp>
        <p:nvSpPr>
          <p:cNvPr id="37" name="Shape 35"/>
          <p:cNvSpPr/>
          <p:nvPr/>
        </p:nvSpPr>
        <p:spPr>
          <a:xfrm>
            <a:off x="8339328" y="4361688"/>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859536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SQL</a:t>
            </a:r>
            <a:endParaRPr lang="en-US" sz="1300" dirty="0"/>
          </a:p>
        </p:txBody>
      </p:sp>
      <p:sp>
        <p:nvSpPr>
          <p:cNvPr id="39" name="Text 37"/>
          <p:cNvSpPr/>
          <p:nvPr/>
        </p:nvSpPr>
        <p:spPr>
          <a:xfrm>
            <a:off x="833932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generated CREATE TABLE script</a:t>
            </a:r>
            <a:endParaRPr lang="en-US" sz="1050" dirty="0"/>
          </a:p>
        </p:txBody>
      </p:sp>
      <p:sp>
        <p:nvSpPr>
          <p:cNvPr id="40" name="Text 38"/>
          <p:cNvSpPr/>
          <p:nvPr/>
        </p:nvSpPr>
        <p:spPr>
          <a:xfrm>
            <a:off x="548640" y="5623560"/>
            <a:ext cx="10058400" cy="36576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Panes load as you open them, and each one refreshes independently.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DATA EDITING</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Edit rows in the grid — carefully</a:t>
            </a:r>
            <a:endParaRPr lang="en-US" sz="3400" dirty="0"/>
          </a:p>
        </p:txBody>
      </p:sp>
      <p:sp>
        <p:nvSpPr>
          <p:cNvPr id="4" name="Text 2"/>
          <p:cNvSpPr/>
          <p:nvPr/>
        </p:nvSpPr>
        <p:spPr>
          <a:xfrm>
            <a:off x="548640" y="1691640"/>
            <a:ext cx="548640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Click a cell and type to change a value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and delete rows from the toolbar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Revert discards every pending change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Save changes writes your edits to the database</a:t>
            </a:r>
            <a:endParaRPr lang="en-US" sz="1500" dirty="0"/>
          </a:p>
        </p:txBody>
      </p:sp>
      <p:sp>
        <p:nvSpPr>
          <p:cNvPr id="5" name="Shape 3"/>
          <p:cNvSpPr/>
          <p:nvPr/>
        </p:nvSpPr>
        <p:spPr>
          <a:xfrm>
            <a:off x="6400800" y="1645920"/>
            <a:ext cx="5212080" cy="2286000"/>
          </a:xfrm>
          <a:prstGeom prst="roundRect">
            <a:avLst>
              <a:gd name="adj" fmla="val 2400"/>
            </a:avLst>
          </a:prstGeom>
          <a:solidFill>
            <a:srgbClr val="F4F6F8"/>
          </a:solidFill>
          <a:ln w="9525">
            <a:solidFill>
              <a:srgbClr val="DCE2EA"/>
            </a:solidFill>
            <a:prstDash val="solid"/>
          </a:ln>
        </p:spPr>
      </p:sp>
      <p:sp>
        <p:nvSpPr>
          <p:cNvPr id="6" name="Text 4"/>
          <p:cNvSpPr/>
          <p:nvPr/>
        </p:nvSpPr>
        <p:spPr>
          <a:xfrm>
            <a:off x="6675120" y="1828800"/>
            <a:ext cx="475488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Nothing is written until you say so</a:t>
            </a:r>
            <a:endParaRPr lang="en-US" sz="1500" dirty="0"/>
          </a:p>
        </p:txBody>
      </p:sp>
      <p:sp>
        <p:nvSpPr>
          <p:cNvPr id="7" name="Text 5"/>
          <p:cNvSpPr/>
          <p:nvPr/>
        </p:nvSpPr>
        <p:spPr>
          <a:xfrm>
            <a:off x="6675120" y="2212848"/>
            <a:ext cx="4754880" cy="1554480"/>
          </a:xfrm>
          <a:prstGeom prst="rect">
            <a:avLst/>
          </a:prstGeom>
          <a:noFill/>
          <a:ln/>
        </p:spPr>
        <p:txBody>
          <a:bodyPr wrap="square" lIns="0" tIns="0" rIns="0" bIns="0" rtlCol="0" anchor="t"/>
          <a:lstStyle/>
          <a:p>
            <a:pPr indent="0" marL="0">
              <a:buNone/>
            </a:pPr>
            <a:r>
              <a:rPr lang="en-US" sz="1250" dirty="0">
                <a:solidFill>
                  <a:srgbClr val="5A6472"/>
                </a:solidFill>
                <a:latin typeface="Calibri" pitchFamily="34" charset="0"/>
                <a:ea typeface="Calibri" pitchFamily="34" charset="-122"/>
                <a:cs typeface="Calibri" pitchFamily="34" charset="-120"/>
              </a:rPr>
              <a:t>Edits are held locally until you press Save changes, and Qplus then asks you to confirm, telling you exactly how many rows will be affected. Updates are sent as parameterised statements.</a:t>
            </a:r>
            <a:endParaRPr lang="en-US" sz="1250" dirty="0"/>
          </a:p>
        </p:txBody>
      </p:sp>
      <p:sp>
        <p:nvSpPr>
          <p:cNvPr id="8" name="Shape 6"/>
          <p:cNvSpPr/>
          <p:nvPr/>
        </p:nvSpPr>
        <p:spPr>
          <a:xfrm>
            <a:off x="548640" y="4343400"/>
            <a:ext cx="11064240" cy="1371600"/>
          </a:xfrm>
          <a:prstGeom prst="roundRect">
            <a:avLst>
              <a:gd name="adj" fmla="val 4000"/>
            </a:avLst>
          </a:prstGeom>
          <a:solidFill>
            <a:srgbClr val="FFF6E5"/>
          </a:solidFill>
          <a:ln w="9525">
            <a:solidFill>
              <a:srgbClr val="F0D9A8"/>
            </a:solidFill>
            <a:prstDash val="solid"/>
          </a:ln>
        </p:spPr>
      </p:sp>
      <p:sp>
        <p:nvSpPr>
          <p:cNvPr id="9" name="Text 7"/>
          <p:cNvSpPr/>
          <p:nvPr/>
        </p:nvSpPr>
        <p:spPr>
          <a:xfrm>
            <a:off x="868680" y="4498848"/>
            <a:ext cx="731520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Editing requires a primary key</a:t>
            </a:r>
            <a:endParaRPr lang="en-US" sz="1400" dirty="0"/>
          </a:p>
        </p:txBody>
      </p:sp>
      <p:sp>
        <p:nvSpPr>
          <p:cNvPr id="10" name="Text 8"/>
          <p:cNvSpPr/>
          <p:nvPr/>
        </p:nvSpPr>
        <p:spPr>
          <a:xfrm>
            <a:off x="868680" y="4846320"/>
            <a:ext cx="10424160" cy="777240"/>
          </a:xfrm>
          <a:prstGeom prst="rect">
            <a:avLst/>
          </a:prstGeom>
          <a:noFill/>
          <a:ln/>
        </p:spPr>
        <p:txBody>
          <a:bodyPr wrap="square" lIns="0" tIns="0" rIns="0" bIns="0" rtlCol="0" anchor="ctr"/>
          <a:lstStyle/>
          <a:p>
            <a:pPr indent="0" marL="0">
              <a:buNone/>
            </a:pPr>
            <a:r>
              <a:rPr lang="en-US" sz="1250" dirty="0">
                <a:solidFill>
                  <a:srgbClr val="6E4A08"/>
                </a:solidFill>
                <a:latin typeface="Calibri" pitchFamily="34" charset="0"/>
                <a:ea typeface="Calibri" pitchFamily="34" charset="-122"/>
                <a:cs typeface="Calibri" pitchFamily="34" charset="-120"/>
              </a:rPr>
              <a:t>A primary key is what lets Qplus match each grid row to exactly one database row. Tables without one open read-only and say so — use an explicit UPDATE or DELETE in a query tab instead.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SCHEMA AND USERS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Build, copy and administer</a:t>
            </a:r>
            <a:endParaRPr lang="en-US" sz="3400" dirty="0"/>
          </a:p>
        </p:txBody>
      </p:sp>
      <p:sp>
        <p:nvSpPr>
          <p:cNvPr id="4" name="Shape 2"/>
          <p:cNvSpPr/>
          <p:nvPr/>
        </p:nvSpPr>
        <p:spPr>
          <a:xfrm>
            <a:off x="548640" y="1645920"/>
            <a:ext cx="3520440" cy="2103120"/>
          </a:xfrm>
          <a:prstGeom prst="roundRect">
            <a:avLst>
              <a:gd name="adj" fmla="val 2609"/>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designer</a:t>
            </a:r>
            <a:endParaRPr lang="en-US" sz="1300" dirty="0"/>
          </a:p>
        </p:txBody>
      </p:sp>
      <p:sp>
        <p:nvSpPr>
          <p:cNvPr id="7" name="Text 5"/>
          <p:cNvSpPr/>
          <p:nvPr/>
        </p:nvSpPr>
        <p:spPr>
          <a:xfrm>
            <a:off x="74980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Define columns in a grid — name, type, length, nullability, primary key and default — then generate CREATE TABLE, or ALTER TABLE ADD for new columns.</a:t>
            </a:r>
            <a:endParaRPr lang="en-US" sz="1050" dirty="0"/>
          </a:p>
        </p:txBody>
      </p:sp>
      <p:sp>
        <p:nvSpPr>
          <p:cNvPr id="8" name="Shape 6"/>
          <p:cNvSpPr/>
          <p:nvPr/>
        </p:nvSpPr>
        <p:spPr>
          <a:xfrm>
            <a:off x="4343400" y="1645920"/>
            <a:ext cx="3520440" cy="2103120"/>
          </a:xfrm>
          <a:prstGeom prst="roundRect">
            <a:avLst>
              <a:gd name="adj" fmla="val 2609"/>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Clone table</a:t>
            </a:r>
            <a:endParaRPr lang="en-US" sz="1300" dirty="0"/>
          </a:p>
        </p:txBody>
      </p:sp>
      <p:sp>
        <p:nvSpPr>
          <p:cNvPr id="11" name="Text 9"/>
          <p:cNvSpPr/>
          <p:nvPr/>
        </p:nvSpPr>
        <p:spPr>
          <a:xfrm>
            <a:off x="454456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Produces the right script for the engine: SELECT INTO on SQL Server, CREATE TABLE AS SELECT on Oracle, copying structure and data.</a:t>
            </a:r>
            <a:endParaRPr lang="en-US" sz="1050" dirty="0"/>
          </a:p>
        </p:txBody>
      </p:sp>
      <p:sp>
        <p:nvSpPr>
          <p:cNvPr id="12" name="Shape 10"/>
          <p:cNvSpPr/>
          <p:nvPr/>
        </p:nvSpPr>
        <p:spPr>
          <a:xfrm>
            <a:off x="8138160" y="1645920"/>
            <a:ext cx="3520440" cy="2103120"/>
          </a:xfrm>
          <a:prstGeom prst="roundRect">
            <a:avLst>
              <a:gd name="adj" fmla="val 2609"/>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15" name="Text 13"/>
          <p:cNvSpPr/>
          <p:nvPr/>
        </p:nvSpPr>
        <p:spPr>
          <a:xfrm>
            <a:off x="833932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full user editor: account settings, granted roles, system privileges and tablespace quotas, with a live SQL preview.</a:t>
            </a:r>
            <a:endParaRPr lang="en-US" sz="1050" dirty="0"/>
          </a:p>
        </p:txBody>
      </p:sp>
      <p:sp>
        <p:nvSpPr>
          <p:cNvPr id="16" name="Shape 14"/>
          <p:cNvSpPr/>
          <p:nvPr/>
        </p:nvSpPr>
        <p:spPr>
          <a:xfrm>
            <a:off x="548640" y="4114800"/>
            <a:ext cx="11064240" cy="1600200"/>
          </a:xfrm>
          <a:prstGeom prst="roundRect">
            <a:avLst>
              <a:gd name="adj" fmla="val 3429"/>
            </a:avLst>
          </a:prstGeom>
          <a:solidFill>
            <a:srgbClr val="F4F6F8"/>
          </a:solidFill>
          <a:ln w="9525">
            <a:solidFill>
              <a:srgbClr val="DCE2EA"/>
            </a:solidFill>
            <a:prstDash val="solid"/>
          </a:ln>
        </p:spPr>
      </p:sp>
      <p:sp>
        <p:nvSpPr>
          <p:cNvPr id="17" name="Text 15"/>
          <p:cNvSpPr/>
          <p:nvPr/>
        </p:nvSpPr>
        <p:spPr>
          <a:xfrm>
            <a:off x="868680" y="427939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You always see the SQL before it runs</a:t>
            </a:r>
            <a:endParaRPr lang="en-US" sz="1500" dirty="0"/>
          </a:p>
        </p:txBody>
      </p:sp>
      <p:sp>
        <p:nvSpPr>
          <p:cNvPr id="18" name="Text 16"/>
          <p:cNvSpPr/>
          <p:nvPr/>
        </p:nvSpPr>
        <p:spPr>
          <a:xfrm>
            <a:off x="868680" y="4681728"/>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Designer and clone scripts open in a query tab for you to review and run yourself. The user editor generates statements only for what you actually changed, shows the complete script, and asks you to confirm before applying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LIBRARY AND THEMES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Keep your SQL close at hand</a:t>
            </a:r>
            <a:endParaRPr lang="en-US" sz="3400" dirty="0"/>
          </a:p>
        </p:txBody>
      </p:sp>
      <p:sp>
        <p:nvSpPr>
          <p:cNvPr id="4" name="Text 2"/>
          <p:cNvSpPr/>
          <p:nvPr/>
        </p:nvSpPr>
        <p:spPr>
          <a:xfrm>
            <a:off x="548640" y="164592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A searchable query library</a:t>
            </a:r>
            <a:endParaRPr lang="en-US" sz="1600" dirty="0"/>
          </a:p>
        </p:txBody>
      </p:sp>
      <p:sp>
        <p:nvSpPr>
          <p:cNvPr id="5" name="Text 3"/>
          <p:cNvSpPr/>
          <p:nvPr/>
        </p:nvSpPr>
        <p:spPr>
          <a:xfrm>
            <a:off x="548640" y="2057400"/>
            <a:ext cx="53949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Save the current tab with a name and tags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Type any part of a name or tag to filter the list</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Selecting one opens it in a new tab, so nothing is overwritten</a:t>
            </a:r>
            <a:endParaRPr lang="en-US" sz="1400" dirty="0"/>
          </a:p>
        </p:txBody>
      </p:sp>
      <p:sp>
        <p:nvSpPr>
          <p:cNvPr id="6" name="Text 4"/>
          <p:cNvSpPr/>
          <p:nvPr/>
        </p:nvSpPr>
        <p:spPr>
          <a:xfrm>
            <a:off x="548640" y="356616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Dark and light themes</a:t>
            </a:r>
            <a:endParaRPr lang="en-US" sz="1600" dirty="0"/>
          </a:p>
        </p:txBody>
      </p:sp>
      <p:sp>
        <p:nvSpPr>
          <p:cNvPr id="7" name="Text 5"/>
          <p:cNvSpPr/>
          <p:nvPr/>
        </p:nvSpPr>
        <p:spPr>
          <a:xfrm>
            <a:off x="548640" y="3977640"/>
            <a:ext cx="53949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Switch from the View menu. The change applies instantly across the whole application — including SQL syntax colours — and is remembered next time you start.</a:t>
            </a:r>
            <a:endParaRPr lang="en-US" sz="1300" dirty="0"/>
          </a:p>
        </p:txBody>
      </p:sp>
      <p:sp>
        <p:nvSpPr>
          <p:cNvPr id="8" name="Shape 6"/>
          <p:cNvSpPr/>
          <p:nvPr/>
        </p:nvSpPr>
        <p:spPr>
          <a:xfrm>
            <a:off x="6400800" y="1737360"/>
            <a:ext cx="2651760" cy="2286000"/>
          </a:xfrm>
          <a:prstGeom prst="roundRect">
            <a:avLst>
              <a:gd name="adj" fmla="val 2400"/>
            </a:avLst>
          </a:prstGeom>
          <a:solidFill>
            <a:srgbClr val="1B1D22"/>
          </a:solidFill>
          <a:ln w="12700">
            <a:solidFill>
              <a:srgbClr val="39404A"/>
            </a:solidFill>
            <a:prstDash val="solid"/>
          </a:ln>
        </p:spPr>
      </p:sp>
      <p:sp>
        <p:nvSpPr>
          <p:cNvPr id="9" name="Text 7"/>
          <p:cNvSpPr/>
          <p:nvPr/>
        </p:nvSpPr>
        <p:spPr>
          <a:xfrm>
            <a:off x="6583680" y="1874520"/>
            <a:ext cx="2286000" cy="274320"/>
          </a:xfrm>
          <a:prstGeom prst="rect">
            <a:avLst/>
          </a:prstGeom>
          <a:noFill/>
          <a:ln/>
        </p:spPr>
        <p:txBody>
          <a:bodyPr wrap="square" lIns="0" tIns="0" rIns="0" bIns="0" rtlCol="0" anchor="ctr"/>
          <a:lstStyle/>
          <a:p>
            <a:pPr indent="0" marL="0">
              <a:buNone/>
            </a:pPr>
            <a:r>
              <a:rPr lang="en-US" sz="1200" b="1" dirty="0">
                <a:solidFill>
                  <a:srgbClr val="4FD6E6"/>
                </a:solidFill>
                <a:latin typeface="Calibri" pitchFamily="34" charset="0"/>
                <a:ea typeface="Calibri" pitchFamily="34" charset="-122"/>
                <a:cs typeface="Calibri" pitchFamily="34" charset="-120"/>
              </a:rPr>
              <a:t>Dark</a:t>
            </a:r>
            <a:endParaRPr lang="en-US" sz="1200" dirty="0"/>
          </a:p>
        </p:txBody>
      </p:sp>
      <p:sp>
        <p:nvSpPr>
          <p:cNvPr id="10" name="Text 8"/>
          <p:cNvSpPr/>
          <p:nvPr/>
        </p:nvSpPr>
        <p:spPr>
          <a:xfrm>
            <a:off x="6583680" y="2286000"/>
            <a:ext cx="2377440" cy="1463040"/>
          </a:xfrm>
          <a:prstGeom prst="rect">
            <a:avLst/>
          </a:prstGeom>
          <a:noFill/>
          <a:ln/>
        </p:spPr>
        <p:txBody>
          <a:bodyPr wrap="square" lIns="0" tIns="0" rIns="0" bIns="0" rtlCol="0" anchor="t"/>
          <a:lstStyle/>
          <a:p>
            <a:pPr indent="0" marL="0">
              <a:buNone/>
            </a:pPr>
            <a:r>
              <a:rPr lang="en-US" sz="1100" dirty="0">
                <a:solidFill>
                  <a:srgbClr val="4FD6E6"/>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D6DCE4"/>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WHERE  active = 1</a:t>
            </a:r>
            <a:endParaRPr lang="en-US" sz="1100" dirty="0"/>
          </a:p>
        </p:txBody>
      </p:sp>
      <p:sp>
        <p:nvSpPr>
          <p:cNvPr id="11" name="Shape 9"/>
          <p:cNvSpPr/>
          <p:nvPr/>
        </p:nvSpPr>
        <p:spPr>
          <a:xfrm>
            <a:off x="9235440" y="1737360"/>
            <a:ext cx="2377440" cy="2286000"/>
          </a:xfrm>
          <a:prstGeom prst="roundRect">
            <a:avLst>
              <a:gd name="adj" fmla="val 2400"/>
            </a:avLst>
          </a:prstGeom>
          <a:solidFill>
            <a:srgbClr val="FFFFFF"/>
          </a:solidFill>
          <a:ln w="12700">
            <a:solidFill>
              <a:srgbClr val="DCE2EA"/>
            </a:solidFill>
            <a:prstDash val="solid"/>
          </a:ln>
        </p:spPr>
      </p:sp>
      <p:sp>
        <p:nvSpPr>
          <p:cNvPr id="12" name="Text 10"/>
          <p:cNvSpPr/>
          <p:nvPr/>
        </p:nvSpPr>
        <p:spPr>
          <a:xfrm>
            <a:off x="9418320" y="1874520"/>
            <a:ext cx="2011680" cy="274320"/>
          </a:xfrm>
          <a:prstGeom prst="rect">
            <a:avLst/>
          </a:prstGeom>
          <a:noFill/>
          <a:ln/>
        </p:spPr>
        <p:txBody>
          <a:bodyPr wrap="square" lIns="0" tIns="0" rIns="0" bIns="0" rtlCol="0" anchor="ctr"/>
          <a:lstStyle/>
          <a:p>
            <a:pPr indent="0" marL="0">
              <a:buNone/>
            </a:pPr>
            <a:r>
              <a:rPr lang="en-US" sz="1200" b="1" dirty="0">
                <a:solidFill>
                  <a:srgbClr val="2D8CFF"/>
                </a:solidFill>
                <a:latin typeface="Calibri" pitchFamily="34" charset="0"/>
                <a:ea typeface="Calibri" pitchFamily="34" charset="-122"/>
                <a:cs typeface="Calibri" pitchFamily="34" charset="-120"/>
              </a:rPr>
              <a:t>Light</a:t>
            </a:r>
            <a:endParaRPr lang="en-US" sz="1200" dirty="0"/>
          </a:p>
        </p:txBody>
      </p:sp>
      <p:sp>
        <p:nvSpPr>
          <p:cNvPr id="13" name="Text 11"/>
          <p:cNvSpPr/>
          <p:nvPr/>
        </p:nvSpPr>
        <p:spPr>
          <a:xfrm>
            <a:off x="9418320" y="2286000"/>
            <a:ext cx="2103120" cy="1463040"/>
          </a:xfrm>
          <a:prstGeom prst="rect">
            <a:avLst/>
          </a:prstGeom>
          <a:noFill/>
          <a:ln/>
        </p:spPr>
        <p:txBody>
          <a:bodyPr wrap="square" lIns="0" tIns="0" rIns="0" bIns="0" rtlCol="0" anchor="t"/>
          <a:lstStyle/>
          <a:p>
            <a:pPr indent="0" marL="0">
              <a:buNone/>
            </a:pPr>
            <a:r>
              <a:rPr lang="en-US" sz="1100" dirty="0">
                <a:solidFill>
                  <a:srgbClr val="0055AA"/>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1B1D22"/>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WHERE  active = 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SYNC</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One library, every machine</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Press Sync: your new queries go up, everyone else’s come down. File them into folders as you save, and manage the lot from Query ▸ Query library.</a:t>
            </a:r>
            <a:endParaRPr lang="en-US" sz="1500" dirty="0"/>
          </a:p>
        </p:txBody>
      </p:sp>
      <p:sp>
        <p:nvSpPr>
          <p:cNvPr id="5" name="Shape 3"/>
          <p:cNvSpPr/>
          <p:nvPr/>
        </p:nvSpPr>
        <p:spPr>
          <a:xfrm>
            <a:off x="548640" y="2148840"/>
            <a:ext cx="3520440" cy="1783080"/>
          </a:xfrm>
          <a:prstGeom prst="roundRect">
            <a:avLst>
              <a:gd name="adj" fmla="val 3077"/>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Both directions at once</a:t>
            </a:r>
            <a:endParaRPr lang="en-US" sz="1300" dirty="0"/>
          </a:p>
        </p:txBody>
      </p:sp>
      <p:sp>
        <p:nvSpPr>
          <p:cNvPr id="8" name="Text 6"/>
          <p:cNvSpPr/>
          <p:nvPr/>
        </p:nvSpPr>
        <p:spPr>
          <a:xfrm>
            <a:off x="74980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single step uploads what you changed and downloads what the team added. The status bar reports exactly what moved.</a:t>
            </a:r>
            <a:endParaRPr lang="en-US" sz="1050" dirty="0"/>
          </a:p>
        </p:txBody>
      </p:sp>
      <p:sp>
        <p:nvSpPr>
          <p:cNvPr id="9" name="Shape 7"/>
          <p:cNvSpPr/>
          <p:nvPr/>
        </p:nvSpPr>
        <p:spPr>
          <a:xfrm>
            <a:off x="4343400" y="2148840"/>
            <a:ext cx="3520440" cy="1783080"/>
          </a:xfrm>
          <a:prstGeom prst="roundRect">
            <a:avLst>
              <a:gd name="adj" fmla="val 3077"/>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Conflicts and deletions</a:t>
            </a:r>
            <a:endParaRPr lang="en-US" sz="1300" dirty="0"/>
          </a:p>
        </p:txBody>
      </p:sp>
      <p:sp>
        <p:nvSpPr>
          <p:cNvPr id="12" name="Text 10"/>
          <p:cNvSpPr/>
          <p:nvPr/>
        </p:nvSpPr>
        <p:spPr>
          <a:xfrm>
            <a:off x="454456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Edited in two places? The most recent edit wins. Deletions travel too — and because they are tombstones, you can restore one and sync it back.</a:t>
            </a:r>
            <a:endParaRPr lang="en-US" sz="1050" dirty="0"/>
          </a:p>
        </p:txBody>
      </p:sp>
      <p:sp>
        <p:nvSpPr>
          <p:cNvPr id="13" name="Shape 11"/>
          <p:cNvSpPr/>
          <p:nvPr/>
        </p:nvSpPr>
        <p:spPr>
          <a:xfrm>
            <a:off x="8138160" y="2148840"/>
            <a:ext cx="3520440" cy="1783080"/>
          </a:xfrm>
          <a:prstGeom prst="roundRect">
            <a:avLst>
              <a:gd name="adj" fmla="val 3077"/>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Your server or ours</a:t>
            </a:r>
            <a:endParaRPr lang="en-US" sz="1300" dirty="0"/>
          </a:p>
        </p:txBody>
      </p:sp>
      <p:sp>
        <p:nvSpPr>
          <p:cNvPr id="16" name="Text 14"/>
          <p:cNvSpPr/>
          <p:nvPr/>
        </p:nvSpPr>
        <p:spPr>
          <a:xfrm>
            <a:off x="833932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Defaults to oillie.cloud. Point it at your own server, with an optional API key, from Sync settings.</a:t>
            </a:r>
            <a:endParaRPr lang="en-US" sz="1050" dirty="0"/>
          </a:p>
        </p:txBody>
      </p:sp>
      <p:sp>
        <p:nvSpPr>
          <p:cNvPr id="17" name="Shape 15"/>
          <p:cNvSpPr/>
          <p:nvPr/>
        </p:nvSpPr>
        <p:spPr>
          <a:xfrm>
            <a:off x="548640" y="4251960"/>
            <a:ext cx="11064240" cy="1463040"/>
          </a:xfrm>
          <a:prstGeom prst="roundRect">
            <a:avLst>
              <a:gd name="adj" fmla="val 3750"/>
            </a:avLst>
          </a:prstGeom>
          <a:solidFill>
            <a:srgbClr val="F4F6F8"/>
          </a:solidFill>
          <a:ln w="9525">
            <a:solidFill>
              <a:srgbClr val="DCE2EA"/>
            </a:solidFill>
            <a:prstDash val="solid"/>
          </a:ln>
        </p:spPr>
      </p:sp>
      <p:sp>
        <p:nvSpPr>
          <p:cNvPr id="18" name="Text 16"/>
          <p:cNvSpPr/>
          <p:nvPr/>
        </p:nvSpPr>
        <p:spPr>
          <a:xfrm>
            <a:off x="868680" y="441655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Runs on your own Linux box</a:t>
            </a:r>
            <a:endParaRPr lang="en-US" sz="1500" dirty="0"/>
          </a:p>
        </p:txBody>
      </p:sp>
      <p:sp>
        <p:nvSpPr>
          <p:cNvPr id="19" name="Text 17"/>
          <p:cNvSpPr/>
          <p:nvPr/>
        </p:nvSpPr>
        <p:spPr>
          <a:xfrm>
            <a:off x="868680" y="4800600"/>
            <a:ext cx="10424160" cy="82296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A Makefile does the work: make sdk, make publish, sudo make service. The result is one self-contained binary — no .NET install and no database server. Set an API key, put nginx in front, and back the whole library up by copying one file.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ENCRYPTION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Your SQL stays yours</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Queries are encrypted on your machine, before anything is stored or sent.</a:t>
            </a:r>
            <a:endParaRPr lang="en-US" sz="1500" dirty="0"/>
          </a:p>
        </p:txBody>
      </p:sp>
      <p:sp>
        <p:nvSpPr>
          <p:cNvPr id="5" name="Shape 3"/>
          <p:cNvSpPr/>
          <p:nvPr/>
        </p:nvSpPr>
        <p:spPr>
          <a:xfrm>
            <a:off x="548640" y="2148840"/>
            <a:ext cx="3520440" cy="1828800"/>
          </a:xfrm>
          <a:prstGeom prst="roundRect">
            <a:avLst>
              <a:gd name="adj" fmla="val 3000"/>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AES-256 + HMAC</a:t>
            </a:r>
            <a:endParaRPr lang="en-US" sz="1300" dirty="0"/>
          </a:p>
        </p:txBody>
      </p:sp>
      <p:sp>
        <p:nvSpPr>
          <p:cNvPr id="8" name="Text 6"/>
          <p:cNvSpPr/>
          <p:nvPr/>
        </p:nvSpPr>
        <p:spPr>
          <a:xfrm>
            <a:off x="74980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Names, folders, tags and SQL are all encrypted and signed. Tampering is detected and rejected rather than quietly accepted.</a:t>
            </a:r>
            <a:endParaRPr lang="en-US" sz="1050" dirty="0"/>
          </a:p>
        </p:txBody>
      </p:sp>
      <p:sp>
        <p:nvSpPr>
          <p:cNvPr id="9" name="Shape 7"/>
          <p:cNvSpPr/>
          <p:nvPr/>
        </p:nvSpPr>
        <p:spPr>
          <a:xfrm>
            <a:off x="4343400" y="2148840"/>
            <a:ext cx="3520440" cy="1828800"/>
          </a:xfrm>
          <a:prstGeom prst="roundRect">
            <a:avLst>
              <a:gd name="adj" fmla="val 3000"/>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The server cannot read it</a:t>
            </a:r>
            <a:endParaRPr lang="en-US" sz="1300" dirty="0"/>
          </a:p>
        </p:txBody>
      </p:sp>
      <p:sp>
        <p:nvSpPr>
          <p:cNvPr id="12" name="Text 10"/>
          <p:cNvSpPr/>
          <p:nvPr/>
        </p:nvSpPr>
        <p:spPr>
          <a:xfrm>
            <a:off x="454456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Encryption happens on the client, so the central database holds ciphertext only. A server administrator sees nothing usable.</a:t>
            </a:r>
            <a:endParaRPr lang="en-US" sz="1050" dirty="0"/>
          </a:p>
        </p:txBody>
      </p:sp>
      <p:sp>
        <p:nvSpPr>
          <p:cNvPr id="13" name="Shape 11"/>
          <p:cNvSpPr/>
          <p:nvPr/>
        </p:nvSpPr>
        <p:spPr>
          <a:xfrm>
            <a:off x="8138160" y="2148840"/>
            <a:ext cx="3520440" cy="1828800"/>
          </a:xfrm>
          <a:prstGeom prst="roundRect">
            <a:avLst>
              <a:gd name="adj" fmla="val 3000"/>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One passphrase, shared</a:t>
            </a:r>
            <a:endParaRPr lang="en-US" sz="1300" dirty="0"/>
          </a:p>
        </p:txBody>
      </p:sp>
      <p:sp>
        <p:nvSpPr>
          <p:cNvPr id="16" name="Text 14"/>
          <p:cNvSpPr/>
          <p:nvPr/>
        </p:nvSpPr>
        <p:spPr>
          <a:xfrm>
            <a:off x="833932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Anyone with the passphrase reads the library. Anyone without it — including the server — does not. Pair it with a server API key: encryption stops reading, the key stops tampering.</a:t>
            </a:r>
            <a:endParaRPr lang="en-US" sz="1050" dirty="0"/>
          </a:p>
        </p:txBody>
      </p:sp>
      <p:sp>
        <p:nvSpPr>
          <p:cNvPr id="17" name="Shape 15"/>
          <p:cNvSpPr/>
          <p:nvPr/>
        </p:nvSpPr>
        <p:spPr>
          <a:xfrm>
            <a:off x="548640" y="4206240"/>
            <a:ext cx="5394960" cy="1554480"/>
          </a:xfrm>
          <a:prstGeom prst="roundRect">
            <a:avLst>
              <a:gd name="adj" fmla="val 2941"/>
            </a:avLst>
          </a:prstGeom>
          <a:solidFill>
            <a:srgbClr val="11161C"/>
          </a:solidFill>
          <a:ln w="9525">
            <a:solidFill>
              <a:srgbClr val="11161C"/>
            </a:solidFill>
            <a:prstDash val="solid"/>
          </a:ln>
        </p:spPr>
      </p:sp>
      <p:sp>
        <p:nvSpPr>
          <p:cNvPr id="18" name="Text 16"/>
          <p:cNvSpPr/>
          <p:nvPr/>
        </p:nvSpPr>
        <p:spPr>
          <a:xfrm>
            <a:off x="731520" y="4352544"/>
            <a:ext cx="5029200" cy="1261872"/>
          </a:xfrm>
          <a:prstGeom prst="rect">
            <a:avLst/>
          </a:prstGeom>
          <a:noFill/>
          <a:ln/>
        </p:spPr>
        <p:txBody>
          <a:bodyPr wrap="square" lIns="0" tIns="0" rIns="0" bIns="0" rtlCol="0" anchor="t"/>
          <a:lstStyle/>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What the server database holds:</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QP1:2sKT5q0dBCPXJGxam7XRi61I2tXq…</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QP1:IgSzrtgQOcO2rJKNF4Kn2WkG57ui…</a:t>
            </a:r>
            <a:endParaRPr lang="en-US" sz="1150" dirty="0"/>
          </a:p>
        </p:txBody>
      </p:sp>
      <p:sp>
        <p:nvSpPr>
          <p:cNvPr id="19" name="Shape 17"/>
          <p:cNvSpPr/>
          <p:nvPr/>
        </p:nvSpPr>
        <p:spPr>
          <a:xfrm>
            <a:off x="6309360" y="4206240"/>
            <a:ext cx="5303520" cy="1554480"/>
          </a:xfrm>
          <a:prstGeom prst="roundRect">
            <a:avLst>
              <a:gd name="adj" fmla="val 3529"/>
            </a:avLst>
          </a:prstGeom>
          <a:solidFill>
            <a:srgbClr val="FFF6E5"/>
          </a:solidFill>
          <a:ln w="9525">
            <a:solidFill>
              <a:srgbClr val="F0D9A8"/>
            </a:solidFill>
            <a:prstDash val="solid"/>
          </a:ln>
        </p:spPr>
      </p:sp>
      <p:sp>
        <p:nvSpPr>
          <p:cNvPr id="20" name="Text 18"/>
          <p:cNvSpPr/>
          <p:nvPr/>
        </p:nvSpPr>
        <p:spPr>
          <a:xfrm>
            <a:off x="6583680" y="4370832"/>
            <a:ext cx="493776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There is no recovery</a:t>
            </a:r>
            <a:endParaRPr lang="en-US" sz="1400" dirty="0"/>
          </a:p>
        </p:txBody>
      </p:sp>
      <p:sp>
        <p:nvSpPr>
          <p:cNvPr id="21" name="Text 19"/>
          <p:cNvSpPr/>
          <p:nvPr/>
        </p:nvSpPr>
        <p:spPr>
          <a:xfrm>
            <a:off x="6583680" y="4709160"/>
            <a:ext cx="4937760" cy="914400"/>
          </a:xfrm>
          <a:prstGeom prst="rect">
            <a:avLst/>
          </a:prstGeom>
          <a:noFill/>
          <a:ln/>
        </p:spPr>
        <p:txBody>
          <a:bodyPr wrap="square" lIns="0" tIns="0" rIns="0" bIns="0" rtlCol="0" anchor="t"/>
          <a:lstStyle/>
          <a:p>
            <a:pPr indent="0" marL="0">
              <a:buNone/>
            </a:pPr>
            <a:r>
              <a:rPr lang="en-US" sz="1250" dirty="0">
                <a:solidFill>
                  <a:srgbClr val="6E4A08"/>
                </a:solidFill>
                <a:latin typeface="Calibri" pitchFamily="34" charset="0"/>
                <a:ea typeface="Calibri" pitchFamily="34" charset="-122"/>
                <a:cs typeface="Calibri" pitchFamily="34" charset="-120"/>
              </a:rPr>
              <a:t>Lose the passphrase and every encrypted query is unreadable — on every machine and on the server. Record it before turning encryption on.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KEYBOARD SHORTCUTS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Worth committing to memory</a:t>
            </a:r>
            <a:endParaRPr lang="en-US" sz="3400" dirty="0"/>
          </a:p>
        </p:txBody>
      </p:sp>
      <p:sp>
        <p:nvSpPr>
          <p:cNvPr id="4" name="Shape 2"/>
          <p:cNvSpPr/>
          <p:nvPr/>
        </p:nvSpPr>
        <p:spPr>
          <a:xfrm>
            <a:off x="548640" y="1783080"/>
            <a:ext cx="1965960" cy="566928"/>
          </a:xfrm>
          <a:prstGeom prst="roundRect">
            <a:avLst>
              <a:gd name="adj" fmla="val 12903"/>
            </a:avLst>
          </a:prstGeom>
          <a:solidFill>
            <a:srgbClr val="1B1D22"/>
          </a:solidFill>
          <a:ln w="12700">
            <a:solidFill>
              <a:srgbClr val="1B1D22"/>
            </a:solidFill>
            <a:prstDash val="solid"/>
          </a:ln>
        </p:spPr>
      </p:sp>
      <p:sp>
        <p:nvSpPr>
          <p:cNvPr id="5" name="Text 3"/>
          <p:cNvSpPr/>
          <p:nvPr/>
        </p:nvSpPr>
        <p:spPr>
          <a:xfrm>
            <a:off x="54864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F5</a:t>
            </a:r>
            <a:endParaRPr lang="en-US" sz="1400" dirty="0"/>
          </a:p>
        </p:txBody>
      </p:sp>
      <p:sp>
        <p:nvSpPr>
          <p:cNvPr id="6" name="Text 4"/>
          <p:cNvSpPr/>
          <p:nvPr/>
        </p:nvSpPr>
        <p:spPr>
          <a:xfrm>
            <a:off x="274320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everything in the tab</a:t>
            </a:r>
            <a:endParaRPr lang="en-US" sz="1350" dirty="0"/>
          </a:p>
        </p:txBody>
      </p:sp>
      <p:sp>
        <p:nvSpPr>
          <p:cNvPr id="7" name="Shape 5"/>
          <p:cNvSpPr/>
          <p:nvPr/>
        </p:nvSpPr>
        <p:spPr>
          <a:xfrm>
            <a:off x="6217920" y="1783080"/>
            <a:ext cx="1965960" cy="566928"/>
          </a:xfrm>
          <a:prstGeom prst="roundRect">
            <a:avLst>
              <a:gd name="adj" fmla="val 12903"/>
            </a:avLst>
          </a:prstGeom>
          <a:solidFill>
            <a:srgbClr val="1B1D22"/>
          </a:solidFill>
          <a:ln w="12700">
            <a:solidFill>
              <a:srgbClr val="1B1D22"/>
            </a:solidFill>
            <a:prstDash val="solid"/>
          </a:ln>
        </p:spPr>
      </p:sp>
      <p:sp>
        <p:nvSpPr>
          <p:cNvPr id="8" name="Text 6"/>
          <p:cNvSpPr/>
          <p:nvPr/>
        </p:nvSpPr>
        <p:spPr>
          <a:xfrm>
            <a:off x="621792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F5</a:t>
            </a:r>
            <a:endParaRPr lang="en-US" sz="1400" dirty="0"/>
          </a:p>
        </p:txBody>
      </p:sp>
      <p:sp>
        <p:nvSpPr>
          <p:cNvPr id="9" name="Text 7"/>
          <p:cNvSpPr/>
          <p:nvPr/>
        </p:nvSpPr>
        <p:spPr>
          <a:xfrm>
            <a:off x="841248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only the selected text</a:t>
            </a:r>
            <a:endParaRPr lang="en-US" sz="1350" dirty="0"/>
          </a:p>
        </p:txBody>
      </p:sp>
      <p:sp>
        <p:nvSpPr>
          <p:cNvPr id="10" name="Shape 8"/>
          <p:cNvSpPr/>
          <p:nvPr/>
        </p:nvSpPr>
        <p:spPr>
          <a:xfrm>
            <a:off x="548640" y="3017520"/>
            <a:ext cx="1965960" cy="566928"/>
          </a:xfrm>
          <a:prstGeom prst="roundRect">
            <a:avLst>
              <a:gd name="adj" fmla="val 12903"/>
            </a:avLst>
          </a:prstGeom>
          <a:solidFill>
            <a:srgbClr val="1B1D22"/>
          </a:solidFill>
          <a:ln w="12700">
            <a:solidFill>
              <a:srgbClr val="1B1D22"/>
            </a:solidFill>
            <a:prstDash val="solid"/>
          </a:ln>
        </p:spPr>
      </p:sp>
      <p:sp>
        <p:nvSpPr>
          <p:cNvPr id="11" name="Text 9"/>
          <p:cNvSpPr/>
          <p:nvPr/>
        </p:nvSpPr>
        <p:spPr>
          <a:xfrm>
            <a:off x="54864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Space</a:t>
            </a:r>
            <a:endParaRPr lang="en-US" sz="1400" dirty="0"/>
          </a:p>
        </p:txBody>
      </p:sp>
      <p:sp>
        <p:nvSpPr>
          <p:cNvPr id="12" name="Text 10"/>
          <p:cNvSpPr/>
          <p:nvPr/>
        </p:nvSpPr>
        <p:spPr>
          <a:xfrm>
            <a:off x="274320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Show auto-completion</a:t>
            </a:r>
            <a:endParaRPr lang="en-US" sz="1350" dirty="0"/>
          </a:p>
        </p:txBody>
      </p:sp>
      <p:sp>
        <p:nvSpPr>
          <p:cNvPr id="13" name="Shape 11"/>
          <p:cNvSpPr/>
          <p:nvPr/>
        </p:nvSpPr>
        <p:spPr>
          <a:xfrm>
            <a:off x="6217920" y="3017520"/>
            <a:ext cx="1965960" cy="566928"/>
          </a:xfrm>
          <a:prstGeom prst="roundRect">
            <a:avLst>
              <a:gd name="adj" fmla="val 12903"/>
            </a:avLst>
          </a:prstGeom>
          <a:solidFill>
            <a:srgbClr val="1B1D22"/>
          </a:solidFill>
          <a:ln w="12700">
            <a:solidFill>
              <a:srgbClr val="1B1D22"/>
            </a:solidFill>
            <a:prstDash val="solid"/>
          </a:ln>
        </p:spPr>
      </p:sp>
      <p:sp>
        <p:nvSpPr>
          <p:cNvPr id="14" name="Text 12"/>
          <p:cNvSpPr/>
          <p:nvPr/>
        </p:nvSpPr>
        <p:spPr>
          <a:xfrm>
            <a:off x="621792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N</a:t>
            </a:r>
            <a:endParaRPr lang="en-US" sz="1400" dirty="0"/>
          </a:p>
        </p:txBody>
      </p:sp>
      <p:sp>
        <p:nvSpPr>
          <p:cNvPr id="15" name="Text 13"/>
          <p:cNvSpPr/>
          <p:nvPr/>
        </p:nvSpPr>
        <p:spPr>
          <a:xfrm>
            <a:off x="841248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New query tab</a:t>
            </a:r>
            <a:endParaRPr lang="en-US" sz="1350" dirty="0"/>
          </a:p>
        </p:txBody>
      </p:sp>
      <p:sp>
        <p:nvSpPr>
          <p:cNvPr id="16" name="Shape 14"/>
          <p:cNvSpPr/>
          <p:nvPr/>
        </p:nvSpPr>
        <p:spPr>
          <a:xfrm>
            <a:off x="548640" y="4251960"/>
            <a:ext cx="1965960" cy="566928"/>
          </a:xfrm>
          <a:prstGeom prst="roundRect">
            <a:avLst>
              <a:gd name="adj" fmla="val 12903"/>
            </a:avLst>
          </a:prstGeom>
          <a:solidFill>
            <a:srgbClr val="1B1D22"/>
          </a:solidFill>
          <a:ln w="12700">
            <a:solidFill>
              <a:srgbClr val="1B1D22"/>
            </a:solidFill>
            <a:prstDash val="solid"/>
          </a:ln>
        </p:spPr>
      </p:sp>
      <p:sp>
        <p:nvSpPr>
          <p:cNvPr id="17" name="Text 15"/>
          <p:cNvSpPr/>
          <p:nvPr/>
        </p:nvSpPr>
        <p:spPr>
          <a:xfrm>
            <a:off x="54864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W</a:t>
            </a:r>
            <a:endParaRPr lang="en-US" sz="1400" dirty="0"/>
          </a:p>
        </p:txBody>
      </p:sp>
      <p:sp>
        <p:nvSpPr>
          <p:cNvPr id="18" name="Text 16"/>
          <p:cNvSpPr/>
          <p:nvPr/>
        </p:nvSpPr>
        <p:spPr>
          <a:xfrm>
            <a:off x="274320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Close the current tab</a:t>
            </a:r>
            <a:endParaRPr lang="en-US" sz="1350" dirty="0"/>
          </a:p>
        </p:txBody>
      </p:sp>
      <p:sp>
        <p:nvSpPr>
          <p:cNvPr id="19" name="Shape 17"/>
          <p:cNvSpPr/>
          <p:nvPr/>
        </p:nvSpPr>
        <p:spPr>
          <a:xfrm>
            <a:off x="6217920" y="4251960"/>
            <a:ext cx="1965960" cy="566928"/>
          </a:xfrm>
          <a:prstGeom prst="roundRect">
            <a:avLst>
              <a:gd name="adj" fmla="val 12903"/>
            </a:avLst>
          </a:prstGeom>
          <a:solidFill>
            <a:srgbClr val="1B1D22"/>
          </a:solidFill>
          <a:ln w="12700">
            <a:solidFill>
              <a:srgbClr val="1B1D22"/>
            </a:solidFill>
            <a:prstDash val="solid"/>
          </a:ln>
        </p:spPr>
      </p:sp>
      <p:sp>
        <p:nvSpPr>
          <p:cNvPr id="20" name="Text 18"/>
          <p:cNvSpPr/>
          <p:nvPr/>
        </p:nvSpPr>
        <p:spPr>
          <a:xfrm>
            <a:off x="621792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Double-click</a:t>
            </a:r>
            <a:endParaRPr lang="en-US" sz="1400" dirty="0"/>
          </a:p>
        </p:txBody>
      </p:sp>
      <p:sp>
        <p:nvSpPr>
          <p:cNvPr id="21" name="Text 19"/>
          <p:cNvSpPr/>
          <p:nvPr/>
        </p:nvSpPr>
        <p:spPr>
          <a:xfrm>
            <a:off x="841248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Open table details from the explorer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MATRIX</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How Qplus compares</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64240" cy="914400"/>
        </p:xfrm>
        <a:graphic>
          <a:graphicData uri="http://schemas.openxmlformats.org/drawingml/2006/table">
            <a:tbl>
              <a:tblPr/>
              <a:tblGrid>
                <a:gridCol w="5120640"/>
                <a:gridCol w="1828800"/>
                <a:gridCol w="1828800"/>
                <a:gridCol w="2286000"/>
              </a:tblGrid>
              <a:tr h="33375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Feature</a:t>
                      </a:r>
                      <a:endParaRPr lang="en-US" sz="12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1B1D2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Qplus</a:t>
                      </a:r>
                      <a:endParaRPr lang="en-US" sz="12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1B1D2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SSMS</a:t>
                      </a:r>
                      <a:endParaRPr lang="en-US" sz="12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1B1D2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SQL Developer</a:t>
                      </a:r>
                      <a:endParaRPr lang="en-US" sz="12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1B1D22"/>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SQL Server</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600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Oracle</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Both engines in one window</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600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Nothing to install — no client, no runtime</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Editor, completion, grid and text results</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Editable data grid</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B0600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Table details in a single tab</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600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User administration</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Shared, encrypted query library</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Execution plans</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4F6F8"/>
                    </a:solidFill>
                  </a:tcPr>
                </a:tc>
              </a:tr>
              <a:tr h="333756">
                <a:tc>
                  <a:txBody>
                    <a:bodyPr/>
                    <a:lstStyle/>
                    <a:p>
                      <a:pPr indent="0" marL="0">
                        <a:buNone/>
                      </a:pPr>
                      <a:r>
                        <a:rPr lang="en-US" sz="1150" dirty="0">
                          <a:solidFill>
                            <a:srgbClr val="1B1D22"/>
                          </a:solidFill>
                          <a:latin typeface="Calibri" pitchFamily="34" charset="0"/>
                          <a:ea typeface="Calibri" pitchFamily="34" charset="-122"/>
                          <a:cs typeface="Calibri" pitchFamily="34" charset="-120"/>
                        </a:rPr>
                        <a:t>Backups, jobs and BI tooling</a:t>
                      </a:r>
                      <a:endParaRPr lang="en-US" sz="115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AA3A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7B3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600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25400" marB="25400" anchor="ctr">
                    <a:lnL w="6350" cap="flat" cmpd="sng" algn="ctr">
                      <a:solidFill>
                        <a:srgbClr val="DCE2EA"/>
                      </a:solidFill>
                      <a:prstDash val="solid"/>
                      <a:round/>
                      <a:headEnd type="none" w="med" len="med"/>
                      <a:tailEnd type="none" w="med" len="med"/>
                    </a:lnL>
                    <a:lnR w="6350" cap="flat" cmpd="sng" algn="ctr">
                      <a:solidFill>
                        <a:srgbClr val="DCE2EA"/>
                      </a:solidFill>
                      <a:prstDash val="solid"/>
                      <a:round/>
                      <a:headEnd type="none" w="med" len="med"/>
                      <a:tailEnd type="none" w="med" len="med"/>
                    </a:lnR>
                    <a:lnT w="6350" cap="flat" cmpd="sng" algn="ctr">
                      <a:solidFill>
                        <a:srgbClr val="DCE2EA"/>
                      </a:solidFill>
                      <a:prstDash val="solid"/>
                      <a:round/>
                      <a:headEnd type="none" w="med" len="med"/>
                      <a:tailEnd type="none" w="med" len="med"/>
                    </a:lnT>
                    <a:lnB w="6350" cap="flat" cmpd="sng" algn="ctr">
                      <a:solidFill>
                        <a:srgbClr val="DCE2EA"/>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5870448"/>
            <a:ext cx="6400800" cy="274320"/>
          </a:xfrm>
          <a:prstGeom prst="rect">
            <a:avLst/>
          </a:prstGeom>
          <a:noFill/>
          <a:ln/>
        </p:spPr>
        <p:txBody>
          <a:bodyPr wrap="square" lIns="0" tIns="0" rIns="0" bIns="0" rtlCol="0" anchor="ctr"/>
          <a:lstStyle/>
          <a:p>
            <a:pPr indent="0" marL="0">
              <a:buNone/>
            </a:pPr>
            <a:r>
              <a:rPr lang="en-US" sz="1400" b="1" dirty="0">
                <a:solidFill>
                  <a:srgbClr val="1E7B34"/>
                </a:solidFill>
                <a:latin typeface="Calibri" pitchFamily="34" charset="0"/>
                <a:ea typeface="Calibri" pitchFamily="34" charset="-122"/>
                <a:cs typeface="Calibri" pitchFamily="34" charset="-120"/>
              </a:rPr>
              <a:t>●  </a:t>
            </a:r>
            <a:pPr indent="0" marL="0">
              <a:buNone/>
            </a:pPr>
            <a:r>
              <a:rPr lang="en-US" sz="1100" dirty="0">
                <a:solidFill>
                  <a:srgbClr val="5A6472"/>
                </a:solidFill>
                <a:latin typeface="Calibri" pitchFamily="34" charset="0"/>
                <a:ea typeface="Calibri" pitchFamily="34" charset="-122"/>
                <a:cs typeface="Calibri" pitchFamily="34" charset="-120"/>
              </a:rPr>
              <a:t>Full support     </a:t>
            </a:r>
            <a:pPr indent="0" marL="0">
              <a:buNone/>
            </a:pPr>
            <a:r>
              <a:rPr lang="en-US" sz="1400" b="1" dirty="0">
                <a:solidFill>
                  <a:srgbClr val="B06000"/>
                </a:solidFill>
                <a:latin typeface="Calibri" pitchFamily="34" charset="0"/>
                <a:ea typeface="Calibri" pitchFamily="34" charset="-122"/>
                <a:cs typeface="Calibri" pitchFamily="34" charset="-120"/>
              </a:rPr>
              <a:t>◐  </a:t>
            </a:r>
            <a:pPr indent="0" marL="0">
              <a:buNone/>
            </a:pPr>
            <a:r>
              <a:rPr lang="en-US" sz="1100" dirty="0">
                <a:solidFill>
                  <a:srgbClr val="5A6472"/>
                </a:solidFill>
                <a:latin typeface="Calibri" pitchFamily="34" charset="0"/>
                <a:ea typeface="Calibri" pitchFamily="34" charset="-122"/>
                <a:cs typeface="Calibri" pitchFamily="34" charset="-120"/>
              </a:rPr>
              <a:t>Partial     </a:t>
            </a:r>
            <a:pPr indent="0" marL="0">
              <a:buNone/>
            </a:pPr>
            <a:r>
              <a:rPr lang="en-US" sz="1400" b="1" dirty="0">
                <a:solidFill>
                  <a:srgbClr val="9AA3AE"/>
                </a:solidFill>
                <a:latin typeface="Calibri" pitchFamily="34" charset="0"/>
                <a:ea typeface="Calibri" pitchFamily="34" charset="-122"/>
                <a:cs typeface="Calibri" pitchFamily="34" charset="-120"/>
              </a:rPr>
              <a:t>○  </a:t>
            </a:r>
            <a:pPr indent="0" marL="0">
              <a:buNone/>
            </a:pPr>
            <a:r>
              <a:rPr lang="en-US" sz="1100" dirty="0">
                <a:solidFill>
                  <a:srgbClr val="5A6472"/>
                </a:solidFill>
                <a:latin typeface="Calibri" pitchFamily="34" charset="0"/>
                <a:ea typeface="Calibri" pitchFamily="34" charset="-122"/>
                <a:cs typeface="Calibri" pitchFamily="34" charset="-120"/>
              </a:rPr>
              <a:t>Not available</a:t>
            </a:r>
            <a:endParaRPr lang="en-US" sz="1400" dirty="0"/>
          </a:p>
        </p:txBody>
      </p:sp>
      <p:sp>
        <p:nvSpPr>
          <p:cNvPr id="6" name="Text 3"/>
          <p:cNvSpPr/>
          <p:nvPr/>
        </p:nvSpPr>
        <p:spPr>
          <a:xfrm>
            <a:off x="7589520" y="5870448"/>
            <a:ext cx="4023360" cy="27432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Full detail in Qplus Feature Matrix.docx</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MATRIX</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Use the right tool for the job</a:t>
            </a:r>
            <a:endParaRPr lang="en-US" sz="3400" dirty="0"/>
          </a:p>
        </p:txBody>
      </p:sp>
      <p:sp>
        <p:nvSpPr>
          <p:cNvPr id="4" name="Shape 2"/>
          <p:cNvSpPr/>
          <p:nvPr/>
        </p:nvSpPr>
        <p:spPr>
          <a:xfrm>
            <a:off x="548640" y="1691640"/>
            <a:ext cx="3520440" cy="2697480"/>
          </a:xfrm>
          <a:prstGeom prst="roundRect">
            <a:avLst>
              <a:gd name="adj" fmla="val 2034"/>
            </a:avLst>
          </a:prstGeom>
          <a:solidFill>
            <a:srgbClr val="F4F6F8"/>
          </a:solidFill>
          <a:ln w="9525">
            <a:solidFill>
              <a:srgbClr val="DCE2EA"/>
            </a:solidFill>
            <a:prstDash val="solid"/>
          </a:ln>
        </p:spPr>
      </p:sp>
      <p:sp>
        <p:nvSpPr>
          <p:cNvPr id="5" name="Shape 3"/>
          <p:cNvSpPr/>
          <p:nvPr/>
        </p:nvSpPr>
        <p:spPr>
          <a:xfrm>
            <a:off x="749808" y="189280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819656"/>
            <a:ext cx="2880360" cy="292608"/>
          </a:xfrm>
          <a:prstGeom prst="rect">
            <a:avLst/>
          </a:prstGeom>
          <a:noFill/>
          <a:ln/>
        </p:spPr>
        <p:txBody>
          <a:bodyPr wrap="square" lIns="0" tIns="0" rIns="0" bIns="0" rtlCol="0" anchor="ctr"/>
          <a:lstStyle/>
          <a:p>
            <a:pPr indent="0" marL="0">
              <a:buNone/>
            </a:pPr>
            <a:r>
              <a:rPr lang="en-US" sz="1400" b="1" dirty="0">
                <a:solidFill>
                  <a:srgbClr val="1B1D22"/>
                </a:solidFill>
                <a:latin typeface="Calibri" pitchFamily="34" charset="0"/>
                <a:ea typeface="Calibri" pitchFamily="34" charset="-122"/>
                <a:cs typeface="Calibri" pitchFamily="34" charset="-120"/>
              </a:rPr>
              <a:t>Reach for Qplus</a:t>
            </a:r>
            <a:endParaRPr lang="en-US" sz="1400" dirty="0"/>
          </a:p>
        </p:txBody>
      </p:sp>
      <p:sp>
        <p:nvSpPr>
          <p:cNvPr id="7" name="Text 5"/>
          <p:cNvSpPr/>
          <p:nvPr/>
        </p:nvSpPr>
        <p:spPr>
          <a:xfrm>
            <a:off x="804672" y="2157984"/>
            <a:ext cx="3008376" cy="274320"/>
          </a:xfrm>
          <a:prstGeom prst="rect">
            <a:avLst/>
          </a:prstGeom>
          <a:noFill/>
          <a:ln/>
        </p:spPr>
        <p:txBody>
          <a:bodyPr wrap="square" lIns="0" tIns="0" rIns="0" bIns="0" rtlCol="0" anchor="ctr"/>
          <a:lstStyle/>
          <a:p>
            <a:pPr indent="0" marL="0">
              <a:buNone/>
            </a:pPr>
            <a:r>
              <a:rPr lang="en-US" sz="1100" i="1" dirty="0">
                <a:solidFill>
                  <a:srgbClr val="5A6472"/>
                </a:solidFill>
                <a:latin typeface="Calibri" pitchFamily="34" charset="0"/>
                <a:ea typeface="Calibri" pitchFamily="34" charset="-122"/>
                <a:cs typeface="Calibri" pitchFamily="34" charset="-120"/>
              </a:rPr>
              <a:t>The client you keep open all day</a:t>
            </a:r>
            <a:endParaRPr lang="en-US" sz="1100" dirty="0"/>
          </a:p>
        </p:txBody>
      </p:sp>
      <p:sp>
        <p:nvSpPr>
          <p:cNvPr id="8" name="Text 6"/>
          <p:cNvSpPr/>
          <p:nvPr/>
        </p:nvSpPr>
        <p:spPr>
          <a:xfrm>
            <a:off x="804672" y="2542032"/>
            <a:ext cx="3008376"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You work across both engines</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The team shares sensitive SQL</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You cannot install software</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You want it light and portable</a:t>
            </a:r>
            <a:endParaRPr lang="en-US" sz="1200" dirty="0"/>
          </a:p>
        </p:txBody>
      </p:sp>
      <p:sp>
        <p:nvSpPr>
          <p:cNvPr id="9" name="Shape 7"/>
          <p:cNvSpPr/>
          <p:nvPr/>
        </p:nvSpPr>
        <p:spPr>
          <a:xfrm>
            <a:off x="4270248" y="1691640"/>
            <a:ext cx="3520440" cy="2697480"/>
          </a:xfrm>
          <a:prstGeom prst="roundRect">
            <a:avLst>
              <a:gd name="adj" fmla="val 2034"/>
            </a:avLst>
          </a:prstGeom>
          <a:solidFill>
            <a:srgbClr val="F4F6F8"/>
          </a:solidFill>
          <a:ln w="9525">
            <a:solidFill>
              <a:srgbClr val="DCE2EA"/>
            </a:solidFill>
            <a:prstDash val="solid"/>
          </a:ln>
        </p:spPr>
      </p:sp>
      <p:sp>
        <p:nvSpPr>
          <p:cNvPr id="10" name="Shape 8"/>
          <p:cNvSpPr/>
          <p:nvPr/>
        </p:nvSpPr>
        <p:spPr>
          <a:xfrm>
            <a:off x="4471416" y="18928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727448" y="1819656"/>
            <a:ext cx="2880360" cy="292608"/>
          </a:xfrm>
          <a:prstGeom prst="rect">
            <a:avLst/>
          </a:prstGeom>
          <a:noFill/>
          <a:ln/>
        </p:spPr>
        <p:txBody>
          <a:bodyPr wrap="square" lIns="0" tIns="0" rIns="0" bIns="0" rtlCol="0" anchor="ctr"/>
          <a:lstStyle/>
          <a:p>
            <a:pPr indent="0" marL="0">
              <a:buNone/>
            </a:pPr>
            <a:r>
              <a:rPr lang="en-US" sz="1400" b="1" dirty="0">
                <a:solidFill>
                  <a:srgbClr val="1B1D22"/>
                </a:solidFill>
                <a:latin typeface="Calibri" pitchFamily="34" charset="0"/>
                <a:ea typeface="Calibri" pitchFamily="34" charset="-122"/>
                <a:cs typeface="Calibri" pitchFamily="34" charset="-120"/>
              </a:rPr>
              <a:t>Reach for SSMS</a:t>
            </a:r>
            <a:endParaRPr lang="en-US" sz="1400" dirty="0"/>
          </a:p>
        </p:txBody>
      </p:sp>
      <p:sp>
        <p:nvSpPr>
          <p:cNvPr id="12" name="Text 10"/>
          <p:cNvSpPr/>
          <p:nvPr/>
        </p:nvSpPr>
        <p:spPr>
          <a:xfrm>
            <a:off x="4526280" y="2157984"/>
            <a:ext cx="3008376" cy="274320"/>
          </a:xfrm>
          <a:prstGeom prst="rect">
            <a:avLst/>
          </a:prstGeom>
          <a:noFill/>
          <a:ln/>
        </p:spPr>
        <p:txBody>
          <a:bodyPr wrap="square" lIns="0" tIns="0" rIns="0" bIns="0" rtlCol="0" anchor="ctr"/>
          <a:lstStyle/>
          <a:p>
            <a:pPr indent="0" marL="0">
              <a:buNone/>
            </a:pPr>
            <a:r>
              <a:rPr lang="en-US" sz="1100" i="1" dirty="0">
                <a:solidFill>
                  <a:srgbClr val="5A6472"/>
                </a:solidFill>
                <a:latin typeface="Calibri" pitchFamily="34" charset="0"/>
                <a:ea typeface="Calibri" pitchFamily="34" charset="-122"/>
                <a:cs typeface="Calibri" pitchFamily="34" charset="-120"/>
              </a:rPr>
              <a:t>The SQL Server administrator’s console</a:t>
            </a:r>
            <a:endParaRPr lang="en-US" sz="1100" dirty="0"/>
          </a:p>
        </p:txBody>
      </p:sp>
      <p:sp>
        <p:nvSpPr>
          <p:cNvPr id="13" name="Text 11"/>
          <p:cNvSpPr/>
          <p:nvPr/>
        </p:nvSpPr>
        <p:spPr>
          <a:xfrm>
            <a:off x="4526280" y="2542032"/>
            <a:ext cx="3008376"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You need an execution plan</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Backups, Agent jobs, Always On</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Activity Monitor or Query Store</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SSIS, SSAS or SSRS work</a:t>
            </a:r>
            <a:endParaRPr lang="en-US" sz="1200" dirty="0"/>
          </a:p>
        </p:txBody>
      </p:sp>
      <p:sp>
        <p:nvSpPr>
          <p:cNvPr id="14" name="Shape 12"/>
          <p:cNvSpPr/>
          <p:nvPr/>
        </p:nvSpPr>
        <p:spPr>
          <a:xfrm>
            <a:off x="7991856" y="1691640"/>
            <a:ext cx="3520440" cy="2697480"/>
          </a:xfrm>
          <a:prstGeom prst="roundRect">
            <a:avLst>
              <a:gd name="adj" fmla="val 2034"/>
            </a:avLst>
          </a:prstGeom>
          <a:solidFill>
            <a:srgbClr val="F4F6F8"/>
          </a:solidFill>
          <a:ln w="9525">
            <a:solidFill>
              <a:srgbClr val="DCE2EA"/>
            </a:solidFill>
            <a:prstDash val="solid"/>
          </a:ln>
        </p:spPr>
      </p:sp>
      <p:sp>
        <p:nvSpPr>
          <p:cNvPr id="15" name="Shape 13"/>
          <p:cNvSpPr/>
          <p:nvPr/>
        </p:nvSpPr>
        <p:spPr>
          <a:xfrm>
            <a:off x="8193024" y="1892808"/>
            <a:ext cx="155448" cy="155448"/>
          </a:xfrm>
          <a:prstGeom prst="roundRect">
            <a:avLst>
              <a:gd name="adj" fmla="val 23529"/>
            </a:avLst>
          </a:prstGeom>
          <a:solidFill>
            <a:srgbClr val="4FD6E6"/>
          </a:solidFill>
          <a:ln w="12700">
            <a:solidFill>
              <a:srgbClr val="4FD6E6"/>
            </a:solidFill>
            <a:prstDash val="solid"/>
          </a:ln>
        </p:spPr>
      </p:sp>
      <p:sp>
        <p:nvSpPr>
          <p:cNvPr id="16" name="Text 14"/>
          <p:cNvSpPr/>
          <p:nvPr/>
        </p:nvSpPr>
        <p:spPr>
          <a:xfrm>
            <a:off x="8449056" y="1819656"/>
            <a:ext cx="2880360" cy="292608"/>
          </a:xfrm>
          <a:prstGeom prst="rect">
            <a:avLst/>
          </a:prstGeom>
          <a:noFill/>
          <a:ln/>
        </p:spPr>
        <p:txBody>
          <a:bodyPr wrap="square" lIns="0" tIns="0" rIns="0" bIns="0" rtlCol="0" anchor="ctr"/>
          <a:lstStyle/>
          <a:p>
            <a:pPr indent="0" marL="0">
              <a:buNone/>
            </a:pPr>
            <a:r>
              <a:rPr lang="en-US" sz="1400" b="1" dirty="0">
                <a:solidFill>
                  <a:srgbClr val="1B1D22"/>
                </a:solidFill>
                <a:latin typeface="Calibri" pitchFamily="34" charset="0"/>
                <a:ea typeface="Calibri" pitchFamily="34" charset="-122"/>
                <a:cs typeface="Calibri" pitchFamily="34" charset="-120"/>
              </a:rPr>
              <a:t>Reach for SQL Developer</a:t>
            </a:r>
            <a:endParaRPr lang="en-US" sz="1400" dirty="0"/>
          </a:p>
        </p:txBody>
      </p:sp>
      <p:sp>
        <p:nvSpPr>
          <p:cNvPr id="17" name="Text 15"/>
          <p:cNvSpPr/>
          <p:nvPr/>
        </p:nvSpPr>
        <p:spPr>
          <a:xfrm>
            <a:off x="8247888" y="2157984"/>
            <a:ext cx="3008376" cy="274320"/>
          </a:xfrm>
          <a:prstGeom prst="rect">
            <a:avLst/>
          </a:prstGeom>
          <a:noFill/>
          <a:ln/>
        </p:spPr>
        <p:txBody>
          <a:bodyPr wrap="square" lIns="0" tIns="0" rIns="0" bIns="0" rtlCol="0" anchor="ctr"/>
          <a:lstStyle/>
          <a:p>
            <a:pPr indent="0" marL="0">
              <a:buNone/>
            </a:pPr>
            <a:r>
              <a:rPr lang="en-US" sz="1100" i="1" dirty="0">
                <a:solidFill>
                  <a:srgbClr val="5A6472"/>
                </a:solidFill>
                <a:latin typeface="Calibri" pitchFamily="34" charset="0"/>
                <a:ea typeface="Calibri" pitchFamily="34" charset="-122"/>
                <a:cs typeface="Calibri" pitchFamily="34" charset="-120"/>
              </a:rPr>
              <a:t>The Oracle specialist’s toolkit</a:t>
            </a:r>
            <a:endParaRPr lang="en-US" sz="1100" dirty="0"/>
          </a:p>
        </p:txBody>
      </p:sp>
      <p:sp>
        <p:nvSpPr>
          <p:cNvPr id="18" name="Text 16"/>
          <p:cNvSpPr/>
          <p:nvPr/>
        </p:nvSpPr>
        <p:spPr>
          <a:xfrm>
            <a:off x="8247888" y="2542032"/>
            <a:ext cx="3008376"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Debugging or profiling PL/SQL</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Data Modeler or schema diff</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Exports beyond CSV</a:t>
            </a:r>
            <a:endParaRPr lang="en-US" sz="1200" dirty="0"/>
          </a:p>
          <a:p>
            <a:pPr marL="342900" indent="-342900">
              <a:spcAft>
                <a:spcPts val="800"/>
              </a:spcAft>
              <a:buSzPct val="100000"/>
              <a:buChar char="•"/>
            </a:pPr>
            <a:r>
              <a:rPr lang="en-US" sz="1200" dirty="0">
                <a:solidFill>
                  <a:srgbClr val="5A6472"/>
                </a:solidFill>
                <a:latin typeface="Calibri" pitchFamily="34" charset="0"/>
                <a:ea typeface="Calibri" pitchFamily="34" charset="-122"/>
                <a:cs typeface="Calibri" pitchFamily="34" charset="-120"/>
              </a:rPr>
              <a:t>You are not on Windows</a:t>
            </a:r>
            <a:endParaRPr lang="en-US" sz="1200" dirty="0"/>
          </a:p>
        </p:txBody>
      </p:sp>
      <p:sp>
        <p:nvSpPr>
          <p:cNvPr id="19" name="Shape 17"/>
          <p:cNvSpPr/>
          <p:nvPr/>
        </p:nvSpPr>
        <p:spPr>
          <a:xfrm>
            <a:off x="548640" y="4709160"/>
            <a:ext cx="11064240" cy="960120"/>
          </a:xfrm>
          <a:prstGeom prst="roundRect">
            <a:avLst>
              <a:gd name="adj" fmla="val 5714"/>
            </a:avLst>
          </a:prstGeom>
          <a:solidFill>
            <a:srgbClr val="1B1D22"/>
          </a:solidFill>
          <a:ln w="12700">
            <a:solidFill>
              <a:srgbClr val="1B1D22"/>
            </a:solidFill>
            <a:prstDash val="solid"/>
          </a:ln>
        </p:spPr>
      </p:sp>
      <p:sp>
        <p:nvSpPr>
          <p:cNvPr id="20" name="Text 18"/>
          <p:cNvSpPr/>
          <p:nvPr/>
        </p:nvSpPr>
        <p:spPr>
          <a:xfrm>
            <a:off x="914400" y="4709160"/>
            <a:ext cx="10332720" cy="960120"/>
          </a:xfrm>
          <a:prstGeom prst="rect">
            <a:avLst/>
          </a:prstGeom>
          <a:noFill/>
          <a:ln/>
        </p:spPr>
        <p:txBody>
          <a:bodyPr wrap="square" lIns="0" tIns="0" rIns="0" bIns="0" rtlCol="0" anchor="ctr"/>
          <a:lstStyle/>
          <a:p>
            <a:pPr indent="0" marL="0">
              <a:buNone/>
            </a:pPr>
            <a:r>
              <a:rPr lang="en-US" sz="1350" dirty="0">
                <a:solidFill>
                  <a:srgbClr val="D6DCE4"/>
                </a:solidFill>
                <a:latin typeface="Calibri" pitchFamily="34" charset="0"/>
                <a:ea typeface="Calibri" pitchFamily="34" charset="-122"/>
                <a:cs typeface="Calibri" pitchFamily="34" charset="-120"/>
              </a:rPr>
              <a:t>Qplus covers the daily work across both engines in one portable file. It does not replace the deep, engine-specific tooling — it sits alongside it.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71600"/>
            <a:ext cx="1371600" cy="1371600"/>
          </a:xfrm>
          <a:prstGeom prst="rect">
            <a:avLst/>
          </a:prstGeom>
        </p:spPr>
      </p:pic>
      <p:sp>
        <p:nvSpPr>
          <p:cNvPr id="3" name="Text 0"/>
          <p:cNvSpPr/>
          <p:nvPr/>
        </p:nvSpPr>
        <p:spPr>
          <a:xfrm>
            <a:off x="548640" y="2971800"/>
            <a:ext cx="822960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Get started</a:t>
            </a:r>
            <a:endParaRPr lang="en-US" sz="4400" dirty="0"/>
          </a:p>
        </p:txBody>
      </p:sp>
      <p:sp>
        <p:nvSpPr>
          <p:cNvPr id="4" name="Text 1"/>
          <p:cNvSpPr/>
          <p:nvPr/>
        </p:nvSpPr>
        <p:spPr>
          <a:xfrm>
            <a:off x="548640" y="3749040"/>
            <a:ext cx="8229600" cy="411480"/>
          </a:xfrm>
          <a:prstGeom prst="rect">
            <a:avLst/>
          </a:prstGeom>
          <a:noFill/>
          <a:ln/>
        </p:spPr>
        <p:txBody>
          <a:bodyPr wrap="square" lIns="0" tIns="0" rIns="0" bIns="0" rtlCol="0" anchor="ctr"/>
          <a:lstStyle/>
          <a:p>
            <a:pPr indent="0" marL="0">
              <a:buNone/>
            </a:pPr>
            <a:r>
              <a:rPr lang="en-US" sz="1800" dirty="0">
                <a:solidFill>
                  <a:srgbClr val="4FD6E6"/>
                </a:solidFill>
                <a:latin typeface="Calibri" pitchFamily="34" charset="0"/>
                <a:ea typeface="Calibri" pitchFamily="34" charset="-122"/>
                <a:cs typeface="Calibri" pitchFamily="34" charset="-120"/>
              </a:rPr>
              <a:t>Copy Qplus.exe, add a connection, and press F5.</a:t>
            </a:r>
            <a:endParaRPr lang="en-US" sz="1800" dirty="0"/>
          </a:p>
        </p:txBody>
      </p:sp>
      <p:sp>
        <p:nvSpPr>
          <p:cNvPr id="5" name="Text 2"/>
          <p:cNvSpPr/>
          <p:nvPr/>
        </p:nvSpPr>
        <p:spPr>
          <a:xfrm>
            <a:off x="548640" y="4480560"/>
            <a:ext cx="8229600" cy="822960"/>
          </a:xfrm>
          <a:prstGeom prst="rect">
            <a:avLst/>
          </a:prstGeom>
          <a:noFill/>
          <a:ln/>
        </p:spPr>
        <p:txBody>
          <a:bodyPr wrap="square" lIns="0" tIns="0" rIns="0" bIns="0" rtlCol="0" anchor="ctr"/>
          <a:lstStyle/>
          <a:p>
            <a:pPr indent="0" marL="0">
              <a:lnSpc>
                <a:spcPct val="130000"/>
              </a:lnSpc>
              <a:buNone/>
            </a:pPr>
            <a:r>
              <a:rPr lang="en-US" sz="1300" dirty="0">
                <a:solidFill>
                  <a:srgbClr val="9AA3AE"/>
                </a:solidFill>
                <a:latin typeface="Calibri" pitchFamily="34" charset="0"/>
                <a:ea typeface="Calibri" pitchFamily="34" charset="-122"/>
                <a:cs typeface="Calibri" pitchFamily="34" charset="-120"/>
              </a:rPr>
              <a:t>Full documentation:</a:t>
            </a:r>
            <a:endParaRPr lang="en-US" sz="1300" dirty="0"/>
          </a:p>
          <a:p>
            <a:pPr indent="0" marL="0">
              <a:lnSpc>
                <a:spcPct val="130000"/>
              </a:lnSpc>
              <a:buNone/>
            </a:pPr>
            <a:r>
              <a:rPr lang="en-US" sz="1300" dirty="0">
                <a:solidFill>
                  <a:srgbClr val="D6DCE4"/>
                </a:solidFill>
                <a:latin typeface="Calibri" pitchFamily="34" charset="0"/>
                <a:ea typeface="Calibri" pitchFamily="34" charset="-122"/>
                <a:cs typeface="Calibri" pitchFamily="34" charset="-120"/>
              </a:rPr>
              <a:t>Qplus User Guide  ·  Qplus Technical Documentation  ·  Qplus Feature Matrix</a:t>
            </a:r>
            <a:endParaRPr lang="en-US" sz="1300" dirty="0"/>
          </a:p>
        </p:txBody>
      </p:sp>
      <p:sp>
        <p:nvSpPr>
          <p:cNvPr id="6" name="Text 3"/>
          <p:cNvSpPr/>
          <p:nvPr/>
        </p:nvSpPr>
        <p:spPr>
          <a:xfrm>
            <a:off x="548640" y="5943600"/>
            <a:ext cx="54864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0.4.0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Qplus Feature Overview</dc:title>
  <dc:subject>PptxGenJS Presentation</dc:subject>
  <dc:creator>Qplus</dc:creator>
  <cp:lastModifiedBy>Qplus</cp:lastModifiedBy>
  <cp:revision>1</cp:revision>
  <dcterms:created xsi:type="dcterms:W3CDTF">2026-07-22T14:36:16Z</dcterms:created>
  <dcterms:modified xsi:type="dcterms:W3CDTF">2026-07-22T14:36:16Z</dcterms:modified>
</cp:coreProperties>
</file>